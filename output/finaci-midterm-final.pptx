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a1750b2a1c1424e" /><Relationship Type="http://schemas.openxmlformats.org/officeDocument/2006/relationships/extended-properties" Target="/docProps/app.xml" Id="R48970381614b4ad8" /><Relationship Type="http://schemas.openxmlformats.org/officeDocument/2006/relationships/officeDocument" Target="/ppt/presentation.xml" Id="R209e14b683bd40d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42a9fbc15ed4f01"/>
  </p:sldMasterIdLst>
  <p:notesMasterIdLst>
    <p:notesMasterId xmlns:r="http://schemas.openxmlformats.org/officeDocument/2006/relationships" r:id="R8780fc7352d54781"/>
  </p:notesMasterIdLst>
  <p:sldIdLst>
    <p:sldId xmlns:r="http://schemas.openxmlformats.org/officeDocument/2006/relationships" id="256" r:id="R0e07b0a2e2d2484b"/>
    <p:sldId xmlns:r="http://schemas.openxmlformats.org/officeDocument/2006/relationships" id="257" r:id="R6b7b32363ca44e3a"/>
    <p:sldId xmlns:r="http://schemas.openxmlformats.org/officeDocument/2006/relationships" id="258" r:id="R3ad319baa9214647"/>
    <p:sldId xmlns:r="http://schemas.openxmlformats.org/officeDocument/2006/relationships" id="259" r:id="R99234fcc5d9a4487"/>
    <p:sldId xmlns:r="http://schemas.openxmlformats.org/officeDocument/2006/relationships" id="260" r:id="R75a6349ee6de4e21"/>
    <p:sldId xmlns:r="http://schemas.openxmlformats.org/officeDocument/2006/relationships" id="261" r:id="R8ce2b039774a4a3b"/>
    <p:sldId xmlns:r="http://schemas.openxmlformats.org/officeDocument/2006/relationships" id="262" r:id="R97717fc037a541a1"/>
    <p:sldId xmlns:r="http://schemas.openxmlformats.org/officeDocument/2006/relationships" id="263" r:id="R759afea4b2ec4319"/>
    <p:sldId xmlns:r="http://schemas.openxmlformats.org/officeDocument/2006/relationships" id="264" r:id="R2ee71d1d5df549b3"/>
    <p:sldId xmlns:r="http://schemas.openxmlformats.org/officeDocument/2006/relationships" id="265" r:id="Rec34f683f9f6403a"/>
    <p:sldId xmlns:r="http://schemas.openxmlformats.org/officeDocument/2006/relationships" id="266" r:id="Rf9f91b2d9fc341c1"/>
    <p:sldId xmlns:r="http://schemas.openxmlformats.org/officeDocument/2006/relationships" id="267" r:id="R477f8b6882884ad4"/>
    <p:sldId xmlns:r="http://schemas.openxmlformats.org/officeDocument/2006/relationships" id="268" r:id="R84312effb3304f4c"/>
    <p:sldId xmlns:r="http://schemas.openxmlformats.org/officeDocument/2006/relationships" id="269" r:id="R5eb4c61136e34d9d"/>
    <p:sldId xmlns:r="http://schemas.openxmlformats.org/officeDocument/2006/relationships" id="270" r:id="R82bbbbecbd194775"/>
    <p:sldId xmlns:r="http://schemas.openxmlformats.org/officeDocument/2006/relationships" id="271" r:id="R7c01ba83ab8446c2"/>
    <p:sldId xmlns:r="http://schemas.openxmlformats.org/officeDocument/2006/relationships" id="272" r:id="Rdaedde3b337840cb"/>
    <p:sldId xmlns:r="http://schemas.openxmlformats.org/officeDocument/2006/relationships" id="273" r:id="R4fd927249bf445e8"/>
    <p:sldId xmlns:r="http://schemas.openxmlformats.org/officeDocument/2006/relationships" id="274" r:id="R818867d6a72b44ab"/>
    <p:sldId xmlns:r="http://schemas.openxmlformats.org/officeDocument/2006/relationships" id="275" r:id="R85ad79b460444283"/>
    <p:sldId xmlns:r="http://schemas.openxmlformats.org/officeDocument/2006/relationships" id="276" r:id="Rcb42e639e98846cd"/>
    <p:sldId xmlns:r="http://schemas.openxmlformats.org/officeDocument/2006/relationships" id="277" r:id="Rdd27d5829fed4c81"/>
    <p:sldId xmlns:r="http://schemas.openxmlformats.org/officeDocument/2006/relationships" id="278" r:id="R8421138e9c774ac1"/>
    <p:sldId xmlns:r="http://schemas.openxmlformats.org/officeDocument/2006/relationships" id="279" r:id="Red0baaf3209549c5"/>
    <p:sldId xmlns:r="http://schemas.openxmlformats.org/officeDocument/2006/relationships" id="280" r:id="Rb80d8afb6bc84843"/>
    <p:sldId xmlns:r="http://schemas.openxmlformats.org/officeDocument/2006/relationships" id="281" r:id="Rd6ee915587ab4045"/>
    <p:sldId xmlns:r="http://schemas.openxmlformats.org/officeDocument/2006/relationships" id="282" r:id="Rc1fdb430e89e4497"/>
    <p:sldId xmlns:r="http://schemas.openxmlformats.org/officeDocument/2006/relationships" id="283" r:id="Recf03f5ce4e74084"/>
    <p:sldId xmlns:r="http://schemas.openxmlformats.org/officeDocument/2006/relationships" id="284" r:id="Ra784e0ce5482459c"/>
    <p:sldId xmlns:r="http://schemas.openxmlformats.org/officeDocument/2006/relationships" id="285" r:id="R03207f0a99ed40fd"/>
    <p:sldId xmlns:r="http://schemas.openxmlformats.org/officeDocument/2006/relationships" id="286" r:id="Raab152e543704c34"/>
  </p:sldIdLst>
  <p:sldSz cx="9144000" cy="5143500"/>
  <p:notesSz cx="6858000" cy="9144000"/>
  <p:defaultTextStyle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616a162b8ac4492" /><Relationship Type="http://schemas.openxmlformats.org/officeDocument/2006/relationships/slideMaster" Target="/ppt/slideMasters/slideMaster1.xml" Id="R842a9fbc15ed4f01" /><Relationship Type="http://schemas.openxmlformats.org/officeDocument/2006/relationships/notesMaster" Target="/ppt/notesMasters/notesMaster1.xml" Id="R8780fc7352d54781" /><Relationship Type="http://schemas.openxmlformats.org/officeDocument/2006/relationships/presProps" Target="/ppt/presProps.xml" Id="R511f7235a4a14992" /><Relationship Type="http://schemas.openxmlformats.org/officeDocument/2006/relationships/viewProps" Target="/ppt/viewProps.xml" Id="Rf82f006aa5784e50" /><Relationship Type="http://schemas.openxmlformats.org/officeDocument/2006/relationships/tableStyles" Target="/ppt/tableStyles.xml" Id="R37620e6e70fb4d2a" /><Relationship Type="http://schemas.openxmlformats.org/officeDocument/2006/relationships/slide" Target="/ppt/slides/slide1.xml" Id="R0e07b0a2e2d2484b" /><Relationship Type="http://schemas.openxmlformats.org/officeDocument/2006/relationships/slide" Target="/ppt/slides/slide2.xml" Id="R6b7b32363ca44e3a" /><Relationship Type="http://schemas.openxmlformats.org/officeDocument/2006/relationships/slide" Target="/ppt/slides/slide3.xml" Id="R3ad319baa9214647" /><Relationship Type="http://schemas.openxmlformats.org/officeDocument/2006/relationships/slide" Target="/ppt/slides/slide4.xml" Id="R99234fcc5d9a4487" /><Relationship Type="http://schemas.openxmlformats.org/officeDocument/2006/relationships/slide" Target="/ppt/slides/slide5.xml" Id="R75a6349ee6de4e21" /><Relationship Type="http://schemas.openxmlformats.org/officeDocument/2006/relationships/slide" Target="/ppt/slides/slide6.xml" Id="R8ce2b039774a4a3b" /><Relationship Type="http://schemas.openxmlformats.org/officeDocument/2006/relationships/slide" Target="/ppt/slides/slide7.xml" Id="R97717fc037a541a1" /><Relationship Type="http://schemas.openxmlformats.org/officeDocument/2006/relationships/slide" Target="/ppt/slides/slide8.xml" Id="R759afea4b2ec4319" /><Relationship Type="http://schemas.openxmlformats.org/officeDocument/2006/relationships/slide" Target="/ppt/slides/slide9.xml" Id="R2ee71d1d5df549b3" /><Relationship Type="http://schemas.openxmlformats.org/officeDocument/2006/relationships/slide" Target="/ppt/slides/slide10.xml" Id="Rec34f683f9f6403a" /><Relationship Type="http://schemas.openxmlformats.org/officeDocument/2006/relationships/slide" Target="/ppt/slides/slide11.xml" Id="Rf9f91b2d9fc341c1" /><Relationship Type="http://schemas.openxmlformats.org/officeDocument/2006/relationships/slide" Target="/ppt/slides/slide12.xml" Id="R477f8b6882884ad4" /><Relationship Type="http://schemas.openxmlformats.org/officeDocument/2006/relationships/slide" Target="/ppt/slides/slide13.xml" Id="R84312effb3304f4c" /><Relationship Type="http://schemas.openxmlformats.org/officeDocument/2006/relationships/slide" Target="/ppt/slides/slide14.xml" Id="R5eb4c61136e34d9d" /><Relationship Type="http://schemas.openxmlformats.org/officeDocument/2006/relationships/slide" Target="/ppt/slides/slide15.xml" Id="R82bbbbecbd194775" /><Relationship Type="http://schemas.openxmlformats.org/officeDocument/2006/relationships/slide" Target="/ppt/slides/slide16.xml" Id="R7c01ba83ab8446c2" /><Relationship Type="http://schemas.openxmlformats.org/officeDocument/2006/relationships/slide" Target="/ppt/slides/slide17.xml" Id="Rdaedde3b337840cb" /><Relationship Type="http://schemas.openxmlformats.org/officeDocument/2006/relationships/slide" Target="/ppt/slides/slide18.xml" Id="R4fd927249bf445e8" /><Relationship Type="http://schemas.openxmlformats.org/officeDocument/2006/relationships/slide" Target="/ppt/slides/slide19.xml" Id="R818867d6a72b44ab" /><Relationship Type="http://schemas.openxmlformats.org/officeDocument/2006/relationships/slide" Target="/ppt/slides/slide20.xml" Id="R85ad79b460444283" /><Relationship Type="http://schemas.openxmlformats.org/officeDocument/2006/relationships/slide" Target="/ppt/slides/slide21.xml" Id="Rcb42e639e98846cd" /><Relationship Type="http://schemas.openxmlformats.org/officeDocument/2006/relationships/slide" Target="/ppt/slides/slide22.xml" Id="Rdd27d5829fed4c81" /><Relationship Type="http://schemas.openxmlformats.org/officeDocument/2006/relationships/slide" Target="/ppt/slides/slide23.xml" Id="R8421138e9c774ac1" /><Relationship Type="http://schemas.openxmlformats.org/officeDocument/2006/relationships/slide" Target="/ppt/slides/slide24.xml" Id="Red0baaf3209549c5" /><Relationship Type="http://schemas.openxmlformats.org/officeDocument/2006/relationships/slide" Target="/ppt/slides/slide25.xml" Id="Rb80d8afb6bc84843" /><Relationship Type="http://schemas.openxmlformats.org/officeDocument/2006/relationships/slide" Target="/ppt/slides/slide26.xml" Id="Rd6ee915587ab4045" /><Relationship Type="http://schemas.openxmlformats.org/officeDocument/2006/relationships/slide" Target="/ppt/slides/slide27.xml" Id="Rc1fdb430e89e4497" /><Relationship Type="http://schemas.openxmlformats.org/officeDocument/2006/relationships/slide" Target="/ppt/slides/slide28.xml" Id="Recf03f5ce4e74084" /><Relationship Type="http://schemas.openxmlformats.org/officeDocument/2006/relationships/slide" Target="/ppt/slides/slide29.xml" Id="Ra784e0ce5482459c" /><Relationship Type="http://schemas.openxmlformats.org/officeDocument/2006/relationships/slide" Target="/ppt/slides/slide30.xml" Id="R03207f0a99ed40fd" /><Relationship Type="http://schemas.openxmlformats.org/officeDocument/2006/relationships/slide" Target="/ppt/slides/slide31.xml" Id="Raab152e543704c3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ec2b4102510419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K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78128dcf5be42f8" /><Relationship Type="http://schemas.openxmlformats.org/officeDocument/2006/relationships/notesMaster" Target="/ppt/notesMasters/notesMaster1.xml" Id="R9238d2b5e24641c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a23301aff994d3e" /><Relationship Type="http://schemas.openxmlformats.org/officeDocument/2006/relationships/notesMaster" Target="/ppt/notesMasters/notesMaster1.xml" Id="R687011f9ce9d435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e94d7cf54c4413f" /><Relationship Type="http://schemas.openxmlformats.org/officeDocument/2006/relationships/notesMaster" Target="/ppt/notesMasters/notesMaster1.xml" Id="R57cb05a9127e49f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0216172c8184c67" /><Relationship Type="http://schemas.openxmlformats.org/officeDocument/2006/relationships/notesMaster" Target="/ppt/notesMasters/notesMaster1.xml" Id="R98d3fedd52ab4c0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e00e2edb89949b2" /><Relationship Type="http://schemas.openxmlformats.org/officeDocument/2006/relationships/notesMaster" Target="/ppt/notesMasters/notesMaster1.xml" Id="Ra04241bb4e17474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b537da7db4e4796" /><Relationship Type="http://schemas.openxmlformats.org/officeDocument/2006/relationships/notesMaster" Target="/ppt/notesMasters/notesMaster1.xml" Id="R21be8e41085e479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0210526d97441b4" /><Relationship Type="http://schemas.openxmlformats.org/officeDocument/2006/relationships/notesMaster" Target="/ppt/notesMasters/notesMaster1.xml" Id="R1bd1f1f499b64bc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115abf627334108" /><Relationship Type="http://schemas.openxmlformats.org/officeDocument/2006/relationships/notesMaster" Target="/ppt/notesMasters/notesMaster1.xml" Id="Re7610aaf7c1e48f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90746741c4044c1" /><Relationship Type="http://schemas.openxmlformats.org/officeDocument/2006/relationships/notesMaster" Target="/ppt/notesMasters/notesMaster1.xml" Id="Ra101fbaab86b456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1192a7b9a484fd2" /><Relationship Type="http://schemas.openxmlformats.org/officeDocument/2006/relationships/notesMaster" Target="/ppt/notesMasters/notesMaster1.xml" Id="R32b5767b886c4be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51a5e1d60e64013" /><Relationship Type="http://schemas.openxmlformats.org/officeDocument/2006/relationships/notesMaster" Target="/ppt/notesMasters/notesMaster1.xml" Id="R9821b4528ad24f0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246501eeb6e4a2f" /><Relationship Type="http://schemas.openxmlformats.org/officeDocument/2006/relationships/notesMaster" Target="/ppt/notesMasters/notesMaster1.xml" Id="Ra5abe48d2729493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28876aba0424b31" /><Relationship Type="http://schemas.openxmlformats.org/officeDocument/2006/relationships/notesMaster" Target="/ppt/notesMasters/notesMaster1.xml" Id="R05095a381e274cb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92c4c58e6bb462c" /><Relationship Type="http://schemas.openxmlformats.org/officeDocument/2006/relationships/notesMaster" Target="/ppt/notesMasters/notesMaster1.xml" Id="Rc78727a8abaf4e1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6ea794ecec24536" /><Relationship Type="http://schemas.openxmlformats.org/officeDocument/2006/relationships/notesMaster" Target="/ppt/notesMasters/notesMaster1.xml" Id="R8591f7f8d39f4f4a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d79b23dd5fc14e69" /><Relationship Type="http://schemas.openxmlformats.org/officeDocument/2006/relationships/notesMaster" Target="/ppt/notesMasters/notesMaster1.xml" Id="Rc36c405957bf4104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7604bff1057a4308" /><Relationship Type="http://schemas.openxmlformats.org/officeDocument/2006/relationships/notesMaster" Target="/ppt/notesMasters/notesMaster1.xml" Id="Ra144613b361a4280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6fad12cb7fd24b9d" /><Relationship Type="http://schemas.openxmlformats.org/officeDocument/2006/relationships/notesMaster" Target="/ppt/notesMasters/notesMaster1.xml" Id="Rd9df3da3c9cb4be2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66fa53ed34554c82" /><Relationship Type="http://schemas.openxmlformats.org/officeDocument/2006/relationships/notesMaster" Target="/ppt/notesMasters/notesMaster1.xml" Id="Raaab87c7c5874f2d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1ceab1400c2b4fcc" /><Relationship Type="http://schemas.openxmlformats.org/officeDocument/2006/relationships/notesMaster" Target="/ppt/notesMasters/notesMaster1.xml" Id="R4e8e892525384d3c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bdfe8c9f336e4438" /><Relationship Type="http://schemas.openxmlformats.org/officeDocument/2006/relationships/notesMaster" Target="/ppt/notesMasters/notesMaster1.xml" Id="R5f4a3723f02a495f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43a5585c95894570" /><Relationship Type="http://schemas.openxmlformats.org/officeDocument/2006/relationships/notesMaster" Target="/ppt/notesMasters/notesMaster1.xml" Id="R8a3dd2cbfabc49c6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b11620cbdfe0481c" /><Relationship Type="http://schemas.openxmlformats.org/officeDocument/2006/relationships/notesMaster" Target="/ppt/notesMasters/notesMaster1.xml" Id="R1aa236e9af344da5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5d939b48c15e4eb3" /><Relationship Type="http://schemas.openxmlformats.org/officeDocument/2006/relationships/notesMaster" Target="/ppt/notesMasters/notesMaster1.xml" Id="R63cd8fc9a44f41bf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36d6c4f624354b19" /><Relationship Type="http://schemas.openxmlformats.org/officeDocument/2006/relationships/notesMaster" Target="/ppt/notesMasters/notesMaster1.xml" Id="Rc9061e2a75e74a19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4e06bccd38874784" /><Relationship Type="http://schemas.openxmlformats.org/officeDocument/2006/relationships/notesMaster" Target="/ppt/notesMasters/notesMaster1.xml" Id="R067eff705a3a40f5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30ec8f6fdba14766" /><Relationship Type="http://schemas.openxmlformats.org/officeDocument/2006/relationships/notesMaster" Target="/ppt/notesMasters/notesMaster1.xml" Id="Rb5653f6eec644e79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2e23e40b603046ab" /><Relationship Type="http://schemas.openxmlformats.org/officeDocument/2006/relationships/notesMaster" Target="/ppt/notesMasters/notesMaster1.xml" Id="R1e6126ad69544e20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55b986ad4b7642dd" /><Relationship Type="http://schemas.openxmlformats.org/officeDocument/2006/relationships/notesMaster" Target="/ppt/notesMasters/notesMaster1.xml" Id="R76e76d4df50343fa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0002ce2aa4b64649" /><Relationship Type="http://schemas.openxmlformats.org/officeDocument/2006/relationships/notesMaster" Target="/ppt/notesMasters/notesMaster1.xml" Id="Rcce8f334d9e1410f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e9a091534be4495a" /><Relationship Type="http://schemas.openxmlformats.org/officeDocument/2006/relationships/notesMaster" Target="/ppt/notesMasters/notesMaster1.xml" Id="R3255f79427034eb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README.md; docs/디자인가이드.md; docs/셀프논증.md; docs/prompt-log.md; docs/wallet-review-notes.md. Wallet iOS 5.7.5 screenshots are student observations. Finaci images are actual UI prototype captures. No survey dataset was collected. Fixed data only.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README.md; docs/디자인가이드.md; docs/셀프논증.md; docs/prompt-log.md; docs/wallet-review-notes.md. Wallet iOS 5.7.5 screenshots are student observations. Finaci images are actual UI prototype captures. No survey dataset was collected. Fixed data only.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README.md; docs/디자인가이드.md; docs/셀프논증.md; docs/prompt-log.md; docs/wallet-review-notes.md. Wallet iOS 5.7.5 screenshots are student observations. Finaci images are actual UI prototype captures. No survey dataset was collected. Fixed data only.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README.md; docs/디자인가이드.md; docs/셀프논증.md; docs/prompt-log.md; docs/wallet-review-notes.md. Wallet iOS 5.7.5 screenshots are student observations. Finaci images are actual UI prototype captures. No survey dataset was collected. Fixed data only.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README.md; docs/디자인가이드.md; docs/셀프논증.md; docs/prompt-log.md; docs/wallet-review-notes.md. Wallet iOS 5.7.5 screenshots are student observations. Finaci images are actual UI prototype captures. No survey dataset was collected. Fixed data only.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README.md; docs/디자인가이드.md; docs/셀프논증.md; docs/prompt-log.md; docs/wallet-review-notes.md. Wallet iOS 5.7.5 screenshots are student observations. Finaci images are actual UI prototype captures. No survey dataset was collected. Fixed data only.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README.md; docs/디자인가이드.md; docs/셀프논증.md; docs/prompt-log.md; docs/wallet-review-notes.md. Wallet iOS 5.7.5 screenshots are student observations. Finaci images are actual UI prototype captures. No survey dataset was collected. Fixed data only.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README.md; docs/디자인가이드.md; docs/셀프논증.md; docs/prompt-log.md; docs/wallet-review-notes.md. Wallet iOS 5.7.5 screenshots are student observations. Finaci images are actual UI prototype captures. No survey dataset was collected. Fixed data only.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README.md; docs/디자인가이드.md; docs/셀프논증.md; docs/prompt-log.md; docs/wallet-review-notes.md. Wallet iOS 5.7.5 screenshots are student observations. Finaci images are actual UI prototype captures. No survey dataset was collected. Fixed data only.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README.md; docs/디자인가이드.md; docs/셀프논증.md; docs/prompt-log.md; docs/wallet-review-notes.md. Wallet iOS 5.7.5 screenshots are student observations. Finaci images are actual UI prototype captures. No survey dataset was collected. Fixed data only.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README.md; docs/디자인가이드.md; docs/셀프논증.md; docs/prompt-log.md; docs/wallet-review-notes.md. Wallet iOS 5.7.5 screenshots are student observations. Finaci images are actual UI prototype captures. No survey dataset was collected. Fixed data only.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README.md; docs/디자인가이드.md; docs/셀프논증.md; docs/prompt-log.md; docs/wallet-review-notes.md. Wallet iOS 5.7.5 screenshots are student observations. Finaci images are actual UI prototype captures. No survey dataset was collected. Fixed data only.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【시간 · 연결 배점】 본문 6분에는 넘기지 않는다 — Q&amp;A 때만</a:t>
            </a:r>
            <a:br/>
            <a:br/>
            <a:r>
              <a:t>【이 장에서 말할 것】</a:t>
            </a:r>
            <a:br/>
            <a:r>
              <a:t>발표 중에는 말하지 않는다. 질문에 맞는 부록 장으로 바로 간다.</a:t>
            </a:r>
            <a:br/>
            <a:br/>
            <a:r>
              <a:t>【채우는 요령】</a:t>
            </a:r>
            <a:br/>
            <a:r>
              <a:t>- 이 구분 장은 그대로 둔다. 쓰지 않는 부록 장은 지우고, 모자라면 복제한다(B2 원칙 카드는 P0x마다 1장).</a:t>
            </a:r>
            <a:br/>
            <a:r>
              <a:t>- B4 자가평가 요약은 제출 전 점검용 — 발표 때 지워도 된다.</a:t>
            </a:r>
            <a:br/>
            <a:r>
              <a:t>- B5 기획 상세(사업 요약 · 저니 · 피쉬본/5 Why · 화면별 요소 분석표 · 상태관리 포인트)는 지우지 않는다 — 제출물 ② 발표자료에서 기획 40점의 근거가 되는 장이다(기획 문서 PDF를 따로 내지 않는다).</a:t>
            </a:r>
            <a:br/>
            <a:br/>
            <a:r>
              <a:t>【기준】 7주차 덱 부록 A2 · 40장 "발표 두 층".</a:t>
            </a:r>
            <a:b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【시간 · 연결 배점】 Q&amp;A 때만 · UI 구현 25 근거</a:t>
            </a:r>
            <a:br/>
            <a:br/>
            <a:r>
              <a:t>【이 장에서 말할 것】</a:t>
            </a:r>
            <a:br/>
            <a:r>
              <a:t>"다른 화면은요?", "오류가 나면 어떻게 보이나요?"에 이 장을 펼쳐 해당 캡처를 가리킨다.</a:t>
            </a:r>
            <a:br/>
            <a:br/>
            <a:r>
              <a:t>【채우는 요령】</a:t>
            </a:r>
            <a:br/>
            <a:r>
              <a:t>- 위 줄: 본문에 다 못 보인 화면 전체 캡처(요소 번호 표시) — 화면 이름 · 파일은 README 3장 화면 목록과 같게. 넓은 화면 캡처도 하나.</a:t>
            </a:r>
            <a:br/>
            <a:r>
              <a:t>- 아래 줄: 로딩 · 오류 · 빈 상태 캡처 — FutureBuilder 3상태의 증거.</a:t>
            </a:r>
            <a:br/>
            <a:r>
              <a:t>- 영상 · 링크 칸: 데모 1분 · 원칙 클립 p0x.mp4 · 저장소 URL.</a:t>
            </a:r>
            <a:br/>
            <a:r>
              <a:t>- 칸이 모자라면 이 장을 복제한다. 디자인 가이드에 없는 화면은 만들지 않는다(감점).</a:t>
            </a:r>
            <a:br/>
            <a:br/>
            <a:r>
              <a:t>【기준】 안내문 4장 6단계 · 5장 감점 · 6장 제출물 ①.</a:t>
            </a:r>
            <a:b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docs/원칙카드.md; docs/디자인가이드.md; docs/prompt-log.md. P07. Wallet screenshots: student iOS 5.7.5 observation. Finaci screenshot: running UI prototype.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docs/원칙카드.md; docs/디자인가이드.md; docs/prompt-log.md. P06. Wallet screenshots: student iOS 5.7.5 observation. Finaci screenshot: running UI prototype.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docs/원칙카드.md; docs/디자인가이드.md; docs/prompt-log.md. P01. Wallet screenshots: student iOS 5.7.5 observation. Finaci screenshot: running UI prototype.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docs/원칙카드.md; docs/디자인가이드.md; docs/prompt-log.md. P10. Wallet screenshots: student iOS 5.7.5 observation. Finaci screenshot: running UI prototype.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【시간 · 연결 배점】 Q&amp;A 때만 · 셀프 논증 기록 20 증거</a:t>
            </a:r>
            <a:br/>
            <a:br/>
            <a:r>
              <a:t>【이 장에서 말할 것】</a:t>
            </a:r>
            <a:br/>
            <a:r>
              <a:t>"AI를 어떻게 썼나요?"에 한두 행으로 — 요청 → AI 결과 → 내 판단(수용/수정/폐기) → 이유.</a:t>
            </a:r>
            <a:br/>
            <a:br/>
            <a:r>
              <a:t>【채우는 요령】</a:t>
            </a:r>
            <a:br/>
            <a:r>
              <a:t>- AI에게 맡긴 일마다 한 행. 저장소 docs/prompt-log.md와 같은 내용.</a:t>
            </a:r>
            <a:br/>
            <a:r>
              <a:t>- 이유 칸에는 안내문 · 원칙 · 리뷰 근거. 예: AI가 provider를 넣었다 → 상태관리 구현은 감점(안내문 5장) → 지우고 setState만(수정).</a:t>
            </a:r>
            <a:br/>
            <a:r>
              <a:t>- AI가 넣은 실제 동작(저장 · 로그인 등)을 지웠다면 "폐기"로 남긴다(안내문 8장 FAQ).</a:t>
            </a:r>
            <a:br/>
            <a:r>
              <a:t>- 본문 셀프 논증 장에서 인용한 반론 요청(예: "이 화면 설계의 약점을 닐슨 원칙으로 반박해 줘")은 이 표의 몇 번째 행인지 적어 둔다.</a:t>
            </a:r>
            <a:br/>
            <a:br/>
            <a:r>
              <a:t>【기준】 안내문 8장 FAQ · 5장 허용/감점 · 7주차 덱 35장 · 부록 A5.</a:t>
            </a:r>
            <a:b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【시간 · 연결 배점】 발표에서 쓰지 않는다 — 제출 전(10/29(목) 15:00 전) 스스로 채우는 점검 장</a:t>
            </a:r>
            <a:br/>
            <a:br/>
            <a:r>
              <a:t>【채우는 요령】</a:t>
            </a:r>
            <a:br/>
            <a:r>
              <a:t>- 배점은 안내문 7장 그대로다(셀프 논증 기록 20). 줄마다 근거 위치에 이 발표 자료의 장 번호(부록 B5 포함) · 저장소 경로를 적는다.</a:t>
            </a:r>
            <a:br/>
            <a:r>
              <a:t>- 근거 위치가 빈 줄이 제출 전에 채울 일이다.</a:t>
            </a:r>
            <a:br/>
            <a:r>
              <a:t>- 감점 항목이 하나도 없는지 확인한다.</a:t>
            </a:r>
            <a:br/>
            <a:r>
              <a:t>- 자가 점수는 개인 점검용이다. 실제 점수는 강사가 매긴다 — 새 점수 규칙이 아니다.</a:t>
            </a:r>
            <a:br/>
            <a:br/>
            <a:r>
              <a:t>【기준】 안내문 5장 · 7장 · 7주차 덱 41장 · 부록 A3.</a:t>
            </a:r>
            <a:b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【시간 · 연결 배점】 Q&amp;A 때만 · 기획 40(사업 요약 5)</a:t>
            </a:r>
            <a:br/>
            <a:br/>
            <a:r>
              <a:t>【이 장에서 말할 것】</a:t>
            </a:r>
            <a:br/>
            <a:r>
              <a:t>"이 앱을 누구를 위해 왜 고치나요?"라는 질문에 답하는 장. 목표 → 퍼소나 → 해결할 문제 → v2 핵심 가치 순서로 한 문장씩.</a:t>
            </a:r>
            <a:br/>
            <a:br/>
            <a:r>
              <a:t>【채우는 요령】</a:t>
            </a:r>
            <a:br/>
            <a:r>
              <a:t>- 제출물 ② 발표자료가 기획 문서를 대신한다(2026-10-15 변경: 제출물 2종). 기획 1–5단계는 본문 + 부록 B5에 담는다 — 이 장은 지우지 않는다.</a:t>
            </a:r>
            <a:br/>
            <a:r>
              <a:t>- 본문 03장 개요(앱 소개 8칸)와 같은 말을 쓴다. 목표는 숫자로 잴 수 있게(예: 탭 수 · 시간).</a:t>
            </a:r>
            <a:br/>
            <a:r>
              <a:t>- 해결할 문제는 B5-3 근본 원인과 같은 문제여야 한다.</a:t>
            </a:r>
            <a:br/>
            <a:br/>
            <a:r>
              <a:t>【기준】 안내문 4장 2단계 · 7장 기획 "사업 요약 5".</a:t>
            </a:r>
            <a:b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【시간 · 연결 배점】 Q&amp;A 때만 · 기획 40(저니 8)</a:t>
            </a:r>
            <a:br/>
            <a:br/>
            <a:r>
              <a:t>【이 장에서 말할 것】</a:t>
            </a:r>
            <a:br/>
            <a:r>
              <a:t>목표에서 출발해 단계별로 리뷰 근거와 감정을 짚고, 감정 최저점 단계와 그 이유(리뷰 # · 어긴 원칙)를 말한다.</a:t>
            </a:r>
            <a:br/>
            <a:br/>
            <a:r>
              <a:t>【채우는 요령】</a:t>
            </a:r>
            <a:br/>
            <a:r>
              <a:t>- 본문 06장은 요약, 이 장이 저니 전체다. 단계 이름은 사용자 행동으로 쓴다(예: 검색 → 비교 → 주문).</a:t>
            </a:r>
            <a:br/>
            <a:r>
              <a:t>- 주황 줄 4개가 확장 4줄(사용 기기 · AI 활용 기회 · 어긴 원칙 · 필요한 데이터)이다. 필요한 데이터는 json-server GET 필드와 맞춘다.</a:t>
            </a:r>
            <a:br/>
            <a:r>
              <a:t>- 감정 곡선 그림을 쓰려면 이 장을 복제해 그림을 넣고, 표는 지우지 않는다.</a:t>
            </a:r>
            <a:br/>
            <a:br/>
            <a:r>
              <a:t>【기준】 안내문 4장 3단계 · 7장 기획 "저니 8".</a:t>
            </a:r>
            <a:b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docs/wallet-user-journey-board-ko.png; docs/hanh-trinh-nguoi-dung.md; docs/wallet-review-notes.md. Wallet screenshots from student. Review low point Sync and personal Outlook experience distinguished; emotions AI-assisted estimates, not measured user scores.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【시간 · 연결 배점】 Q&amp;A 때만 · 기획 40(피쉬본 · 5 Why 5)</a:t>
            </a:r>
            <a:br/>
            <a:br/>
            <a:r>
              <a:t>【이 장에서 말할 것】</a:t>
            </a:r>
            <a:br/>
            <a:r>
              <a:t>피쉬본 머리(저니 감정 최저점 문제) → 여섯 시각 중 고른 우선순위 1개와 이유 → 5 Why → 근본 원인 → v2에서 고칠 화면 · 요소 번호.</a:t>
            </a:r>
            <a:br/>
            <a:br/>
            <a:r>
              <a:t>【채우는 요령】</a:t>
            </a:r>
            <a:br/>
            <a:r>
              <a:t>- 여섯 시각: 모바일 UX · 사용성 · 데이터 · API · 네트워크 · 프로세스. 칸마다 리뷰 #나 저니 단계를 근거로 단다.</a:t>
            </a:r>
            <a:br/>
            <a:r>
              <a:t>- 5 Why의 마지막은 증상이 아니라 원인이어야 한다. UI로 고칠 수 있는 원인을 고른다(실제 로직 구현은 감점).</a:t>
            </a:r>
            <a:br/>
            <a:r>
              <a:t>- 피쉬본 그림을 쓰면 장을 복제해 넣는다.</a:t>
            </a:r>
            <a:br/>
            <a:br/>
            <a:r>
              <a:t>【기준】 안내문 4장 4단계 · 7장 기획 "피쉬본 · 5 Why 5".</a:t>
            </a:r>
            <a:b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docs/디자인가이드.md screen A; corresponding lib/screens file; runtime screenshot docs/screenshots/finaci-a.png. Table entries are concise forms of same element IDs, not new requirements.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docs/디자인가이드.md screen A; corresponding lib/screens file; runtime screenshot docs/screenshots/finaci-a.png. Table entries are concise forms of same element IDs, not new requirements.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docs/디자인가이드.md screen B; corresponding lib/screens file; runtime screenshot docs/screenshots/finaci-b.png. Table entries are concise forms of same element IDs, not new requirements.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docs/디자인가이드.md screen B; corresponding lib/screens file; runtime screenshot docs/screenshots/finaci-b.png. Table entries are concise forms of same element IDs, not new requirements.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docs/디자인가이드.md screen C; corresponding lib/screens file; runtime screenshot docs/screenshots/finaci-c.png. Table entries are concise forms of same element IDs, not new requirements.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docs/디자인가이드.md screen D; corresponding lib/screens file; runtime screenshot docs/screenshots/finaci-d.png. Table entries are concise forms of same element IDs, not new requirements.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【시간 · 연결 배점】 Q&amp;A 때만 · 기획 40(상태관리 포인트 4)</a:t>
            </a:r>
            <a:br/>
            <a:br/>
            <a:r>
              <a:t>【이 장에서 말할 것】</a:t>
            </a:r>
            <a:br/>
            <a:r>
              <a:t>"어떤 데이터가 바뀌고, 어느 위젯이 그것을 보여 주는가"를 S번호로 짚는다. 구현은 하지 않았다는 것을 분명히 말한다.</a:t>
            </a:r>
            <a:br/>
            <a:br/>
            <a:r>
              <a:t>【채우는 요령】</a:t>
            </a:r>
            <a:br/>
            <a:r>
              <a:t>- 바뀌는 데이터 · 언제 바뀌나(사용자 행동) · 보여질 위젯(요소 번호, B5-4와 같게) · 코드 표시 위치(// STATE: S1).</a:t>
            </a:r>
            <a:br/>
            <a:r>
              <a:t>- Provider · Riverpod · Bloc 등 상태관리 구현, 영구 저장은 감점이다 — 표시만 한다.</a:t>
            </a:r>
            <a:br/>
            <a:r>
              <a:t>- 이 표가 13주 상태관리 수업의 구현 목록이 된다.</a:t>
            </a:r>
            <a:br/>
            <a:br/>
            <a:r>
              <a:t>【기준】 안내문 4장 5단계 · 5장 감점 · 7장 기획 "상태관리 포인트 4".</a:t>
            </a:r>
            <a:b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c7b71da8eb14bb6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22b39fb595b40f2" /><Relationship Type="http://schemas.openxmlformats.org/officeDocument/2006/relationships/slideLayout" Target="/ppt/slideLayouts/slideLayout1.xml" Id="R3135e443b00b44ec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135e443b00b44ec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K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eae0f1e48a434f" /><Relationship Type="http://schemas.openxmlformats.org/officeDocument/2006/relationships/image" Target="/ppt/media/image.png" Id="R9123353c271b4ce3" /><Relationship Type="http://schemas.openxmlformats.org/officeDocument/2006/relationships/notesSlide" Target="/ppt/notesSlides/notesSlide1.xml" Id="Ra8e7306ea324415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8eb3df74284dc1" /><Relationship Type="http://schemas.openxmlformats.org/officeDocument/2006/relationships/notesSlide" Target="/ppt/notesSlides/notesSlide2.xml" Id="Rc7e0a7b125934ef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f7eaa5ab5b46fd" /><Relationship Type="http://schemas.openxmlformats.org/officeDocument/2006/relationships/image" Target="/ppt/media/image2.png" Id="Rccc712b6888f4e68" /><Relationship Type="http://schemas.openxmlformats.org/officeDocument/2006/relationships/notesSlide" Target="/ppt/notesSlides/notesSlide3.xml" Id="R7317ca9622da403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5684812a3840b3" /><Relationship Type="http://schemas.openxmlformats.org/officeDocument/2006/relationships/image" Target="/ppt/media/image.jpeg" Id="Rc969be4ae7cd498a" /><Relationship Type="http://schemas.openxmlformats.org/officeDocument/2006/relationships/image" Target="/ppt/media/image3.png" Id="Rc769c2a9c9914ae6" /><Relationship Type="http://schemas.openxmlformats.org/officeDocument/2006/relationships/image" Target="/ppt/media/image4.png" Id="R14b845cd3661490d" /><Relationship Type="http://schemas.openxmlformats.org/officeDocument/2006/relationships/image" Target="/ppt/media/image5.png" Id="R6448a1ebee9948ec" /><Relationship Type="http://schemas.openxmlformats.org/officeDocument/2006/relationships/image" Target="/ppt/media/image6.png" Id="Rfff75375faf547cc" /><Relationship Type="http://schemas.openxmlformats.org/officeDocument/2006/relationships/notesSlide" Target="/ppt/notesSlides/notesSlide4.xml" Id="Rec757ac1b7934ec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82c8b2f9104751" /><Relationship Type="http://schemas.openxmlformats.org/officeDocument/2006/relationships/image" Target="/ppt/media/image7.png" Id="Rb512436b06214fe6" /><Relationship Type="http://schemas.openxmlformats.org/officeDocument/2006/relationships/notesSlide" Target="/ppt/notesSlides/notesSlide5.xml" Id="R8611fdfac03d49f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a9d063c134422f" /><Relationship Type="http://schemas.openxmlformats.org/officeDocument/2006/relationships/image" Target="/ppt/media/image8.png" Id="R658fe9e769724acf" /><Relationship Type="http://schemas.openxmlformats.org/officeDocument/2006/relationships/notesSlide" Target="/ppt/notesSlides/notesSlide6.xml" Id="R418b905949214bf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acd32c3d8f466a" /><Relationship Type="http://schemas.openxmlformats.org/officeDocument/2006/relationships/image" Target="/ppt/media/image3.png" Id="Re3a373496a6e4bc2" /><Relationship Type="http://schemas.openxmlformats.org/officeDocument/2006/relationships/notesSlide" Target="/ppt/notesSlides/notesSlide7.xml" Id="R7883a894386d495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d1d83f87204b11" /><Relationship Type="http://schemas.openxmlformats.org/officeDocument/2006/relationships/image" Target="/ppt/media/image2.jpeg" Id="R38474289b1af4bff" /><Relationship Type="http://schemas.openxmlformats.org/officeDocument/2006/relationships/image" Target="/ppt/media/image4.png" Id="R3147bfbc5c614a9c" /><Relationship Type="http://schemas.openxmlformats.org/officeDocument/2006/relationships/notesSlide" Target="/ppt/notesSlides/notesSlide8.xml" Id="R8dea2ac46115481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ea168418034aba" /><Relationship Type="http://schemas.openxmlformats.org/officeDocument/2006/relationships/image" Target="/ppt/media/image4.png" Id="R9554d2f936904d3f" /><Relationship Type="http://schemas.openxmlformats.org/officeDocument/2006/relationships/notesSlide" Target="/ppt/notesSlides/notesSlide9.xml" Id="R8c3b07c7338d449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a96ffb3ed44294" /><Relationship Type="http://schemas.openxmlformats.org/officeDocument/2006/relationships/image" Target="/ppt/media/image3.png" Id="R19ba45124c68434d" /><Relationship Type="http://schemas.openxmlformats.org/officeDocument/2006/relationships/image" Target="/ppt/media/image4.png" Id="R6dbdf02700164898" /><Relationship Type="http://schemas.openxmlformats.org/officeDocument/2006/relationships/image" Target="/ppt/media/image5.png" Id="R3a22fb8f8bfb4ec9" /><Relationship Type="http://schemas.openxmlformats.org/officeDocument/2006/relationships/image" Target="/ppt/media/image6.png" Id="Rf6f4671c122045e6" /><Relationship Type="http://schemas.openxmlformats.org/officeDocument/2006/relationships/hyperlink" Target="https://flying-fjord-n1xr8rj.tmp.now/" TargetMode="External" Id="R245e868a00fd49fa" /><Relationship Type="http://schemas.openxmlformats.org/officeDocument/2006/relationships/notesSlide" Target="/ppt/notesSlides/notesSlide10.xml" Id="Ra126e91877cd4e9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822f8907d74003" /><Relationship Type="http://schemas.openxmlformats.org/officeDocument/2006/relationships/notesSlide" Target="/ppt/notesSlides/notesSlide11.xml" Id="Rdaf7a99de251410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b0d56e75ed4f9b" /><Relationship Type="http://schemas.openxmlformats.org/officeDocument/2006/relationships/notesSlide" Target="/ppt/notesSlides/notesSlide12.xml" Id="R0198ab82e4ce4b7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08c31e29734605" /><Relationship Type="http://schemas.openxmlformats.org/officeDocument/2006/relationships/notesSlide" Target="/ppt/notesSlides/notesSlide13.xml" Id="Re92ee5b0cfe34ca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130ecee0f4476e" /><Relationship Type="http://schemas.openxmlformats.org/officeDocument/2006/relationships/image" Target="/ppt/media/image3.png" Id="R0231dce19cb94286" /><Relationship Type="http://schemas.openxmlformats.org/officeDocument/2006/relationships/image" Target="/ppt/media/image4.png" Id="Re7b77e2b3e2344cb" /><Relationship Type="http://schemas.openxmlformats.org/officeDocument/2006/relationships/image" Target="/ppt/media/image5.png" Id="R52da910b467147af" /><Relationship Type="http://schemas.openxmlformats.org/officeDocument/2006/relationships/image" Target="/ppt/media/image6.png" Id="Rb975e59736d34b91" /><Relationship Type="http://schemas.openxmlformats.org/officeDocument/2006/relationships/image" Target="/ppt/media/image9.png" Id="R2b9395ea156f4235" /><Relationship Type="http://schemas.openxmlformats.org/officeDocument/2006/relationships/image" Target="/ppt/media/image10.png" Id="R3a3e32b14ab9407d" /><Relationship Type="http://schemas.openxmlformats.org/officeDocument/2006/relationships/image" Target="/ppt/media/image11.png" Id="R53848c34288c4035" /><Relationship Type="http://schemas.openxmlformats.org/officeDocument/2006/relationships/image" Target="/ppt/media/image12.png" Id="Rbcd616bfb87b4eea" /><Relationship Type="http://schemas.openxmlformats.org/officeDocument/2006/relationships/hyperlink" Target="https://flying-fjord-n1xr8rj.tmp.now/" TargetMode="External" Id="R7d9a39c1d7714289" /><Relationship Type="http://schemas.openxmlformats.org/officeDocument/2006/relationships/hyperlink" Target="https://github.com/thanhdvu/finaci-midterm" TargetMode="External" Id="R9b5b6980a91c4402" /><Relationship Type="http://schemas.openxmlformats.org/officeDocument/2006/relationships/hyperlink" Target="https://github.com/thanhdvu/finaci-midterm/blob/main/docs/video/finaci-demo-1min.mp4" TargetMode="External" Id="R75a7b7f1daf144cb" /><Relationship Type="http://schemas.openxmlformats.org/officeDocument/2006/relationships/notesSlide" Target="/ppt/notesSlides/notesSlide14.xml" Id="Reb0c651931a44b0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0cee835c694909" /><Relationship Type="http://schemas.openxmlformats.org/officeDocument/2006/relationships/image" Target="/ppt/media/image2.jpeg" Id="Re8ea1985826f490d" /><Relationship Type="http://schemas.openxmlformats.org/officeDocument/2006/relationships/image" Target="/ppt/media/image4.png" Id="R8637aca1171a458f" /><Relationship Type="http://schemas.openxmlformats.org/officeDocument/2006/relationships/notesSlide" Target="/ppt/notesSlides/notesSlide15.xml" Id="R72ed97e2e444446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073b6b2057404c" /><Relationship Type="http://schemas.openxmlformats.org/officeDocument/2006/relationships/image" Target="/ppt/media/image2.jpeg" Id="Ra2c9830be9b4432f" /><Relationship Type="http://schemas.openxmlformats.org/officeDocument/2006/relationships/image" Target="/ppt/media/image4.png" Id="Rd4982ba4c9a14b73" /><Relationship Type="http://schemas.openxmlformats.org/officeDocument/2006/relationships/notesSlide" Target="/ppt/notesSlides/notesSlide16.xml" Id="R8d590f3b5c4d46e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47569f89ae4482" /><Relationship Type="http://schemas.openxmlformats.org/officeDocument/2006/relationships/image" Target="/ppt/media/image3.png" Id="R42b870ab6c66487f" /><Relationship Type="http://schemas.openxmlformats.org/officeDocument/2006/relationships/notesSlide" Target="/ppt/notesSlides/notesSlide17.xml" Id="Rff3c10364aed4a6e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76b765754e482e" /><Relationship Type="http://schemas.openxmlformats.org/officeDocument/2006/relationships/image" Target="/ppt/media/image5.png" Id="R1494115c25a44cfc" /><Relationship Type="http://schemas.openxmlformats.org/officeDocument/2006/relationships/notesSlide" Target="/ppt/notesSlides/notesSlide18.xml" Id="R0e92e3e6c5dd47af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a81d339b5d4581" /><Relationship Type="http://schemas.openxmlformats.org/officeDocument/2006/relationships/notesSlide" Target="/ppt/notesSlides/notesSlide19.xml" Id="R383bfb998da14db2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dc301796754813" /><Relationship Type="http://schemas.openxmlformats.org/officeDocument/2006/relationships/notesSlide" Target="/ppt/notesSlides/notesSlide20.xml" Id="R4c5d0686598340bf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b8e34aa590475a" /><Relationship Type="http://schemas.openxmlformats.org/officeDocument/2006/relationships/notesSlide" Target="/ppt/notesSlides/notesSlide21.xml" Id="R6a50a819edbf43d4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61de496c794824" /><Relationship Type="http://schemas.openxmlformats.org/officeDocument/2006/relationships/notesSlide" Target="/ppt/notesSlides/notesSlide22.xml" Id="Rc4323c6603104132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b0ad16c6034808" /><Relationship Type="http://schemas.openxmlformats.org/officeDocument/2006/relationships/image" Target="/ppt/media/image8.png" Id="R0d634ecf2a1f4cd0" /><Relationship Type="http://schemas.openxmlformats.org/officeDocument/2006/relationships/notesSlide" Target="/ppt/notesSlides/notesSlide23.xml" Id="R1c81475e85f44c38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5963c7b32147eb" /><Relationship Type="http://schemas.openxmlformats.org/officeDocument/2006/relationships/image" Target="/ppt/media/image13.png" Id="Rd536fe540d264310" /><Relationship Type="http://schemas.openxmlformats.org/officeDocument/2006/relationships/notesSlide" Target="/ppt/notesSlides/notesSlide24.xml" Id="R20806f4766844de0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22b34816eb4adc" /><Relationship Type="http://schemas.openxmlformats.org/officeDocument/2006/relationships/image" Target="/ppt/media/image3.png" Id="R7b493001cd254a92" /><Relationship Type="http://schemas.openxmlformats.org/officeDocument/2006/relationships/notesSlide" Target="/ppt/notesSlides/notesSlide25.xml" Id="Rcc64ca28cee44a2b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c86673e6334485" /><Relationship Type="http://schemas.openxmlformats.org/officeDocument/2006/relationships/image" Target="/ppt/media/image14.png" Id="R6a7eed722e1341c1" /><Relationship Type="http://schemas.openxmlformats.org/officeDocument/2006/relationships/notesSlide" Target="/ppt/notesSlides/notesSlide26.xml" Id="Rc78016fe87ab431e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45a0b78b2440db" /><Relationship Type="http://schemas.openxmlformats.org/officeDocument/2006/relationships/image" Target="/ppt/media/image4.png" Id="R2db9d8f570a74391" /><Relationship Type="http://schemas.openxmlformats.org/officeDocument/2006/relationships/notesSlide" Target="/ppt/notesSlides/notesSlide27.xml" Id="R2a183dac91a54acc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7ba50bdd2a4e6d" /><Relationship Type="http://schemas.openxmlformats.org/officeDocument/2006/relationships/image" Target="/ppt/media/image15.png" Id="R3b44c90368b84859" /><Relationship Type="http://schemas.openxmlformats.org/officeDocument/2006/relationships/notesSlide" Target="/ppt/notesSlides/notesSlide28.xml" Id="R7204928a7c5f4860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4e4a826d444b58" /><Relationship Type="http://schemas.openxmlformats.org/officeDocument/2006/relationships/image" Target="/ppt/media/image5.png" Id="R93e92be014784dca" /><Relationship Type="http://schemas.openxmlformats.org/officeDocument/2006/relationships/notesSlide" Target="/ppt/notesSlides/notesSlide29.xml" Id="Rb19b0bf17b584463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ae35737bfb4dda" /><Relationship Type="http://schemas.openxmlformats.org/officeDocument/2006/relationships/image" Target="/ppt/media/image6.png" Id="Rceadf30ff3c74c2a" /><Relationship Type="http://schemas.openxmlformats.org/officeDocument/2006/relationships/notesSlide" Target="/ppt/notesSlides/notesSlide30.xml" Id="R4f5be898091b4195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c677b29c6b42c4" /><Relationship Type="http://schemas.openxmlformats.org/officeDocument/2006/relationships/notesSlide" Target="/ppt/notesSlides/notesSlide31.xml" Id="R682c23280c1f4c3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4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1B861E-64A9-41A9-93B7-98B977F45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85750"/>
            <a:ext cx="485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>
              <a:defRPr sz="825" b="1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825" b="1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825" b="1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825" b="1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825" b="1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825" b="1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825" b="1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825" b="1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825" b="1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825" b="1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825" b="1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pPr>
            <a:r>
              <a:rPr sz="825" b="1">
                <a:solidFill>
                  <a:srgbClr val="4F5B3A"/>
                </a:solidFill>
                <a:latin typeface="Noto Sans KR"/>
                <a:ea typeface="Noto Sans KR"/>
                <a:cs typeface="Noto Sans KR"/>
              </a:rPr>
              <a:t>GAI3008 · 응용모바일프로그래밍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CE8643-8275-4B7A-9AA4-3BAED33AA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85750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>
              <a:defRPr sz="825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825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825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825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825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825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825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825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825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825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825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pPr>
            <a:r>
              <a:rPr sz="825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2026.10.29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BE4470-4956-4F40-9E76-2B2653D40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952500"/>
            <a:ext cx="3810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>
              <a:defRPr sz="4350" b="1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4350" b="1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4350" b="1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4350" b="1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4350" b="1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4350" b="1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4350" b="1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4350" b="1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4350" b="1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4350" b="1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4350" b="1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pPr>
            <a:r>
              <a:rPr sz="4350" b="1">
                <a:solidFill>
                  <a:srgbClr val="4F5B3A"/>
                </a:solidFill>
                <a:latin typeface="Noto Sans KR"/>
                <a:ea typeface="Noto Sans KR"/>
                <a:cs typeface="Noto Sans KR"/>
              </a:rPr>
              <a:t>finaci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01DF1E-BD86-4955-B42E-F847FFEC6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" y="1771650"/>
            <a:ext cx="419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>
              <a:defRPr sz="1200" b="0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1200" b="0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1200" b="0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1200" b="0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1200" b="0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1200" b="0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1200" b="0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1200" b="0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1200" b="0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1200" b="0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4F5B3A"/>
                </a:solidFill>
                <a:latin typeface="Noto Sans KR"/>
                <a:ea typeface="Noto Sans KR"/>
                <a:cs typeface="Noto Sans KR"/>
              </a:rPr>
              <a:t>피나시 · 다중 통화 생활비 흐름 도우미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B35C27-62E6-4334-918E-41A8D237B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257425"/>
            <a:ext cx="3905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>
              <a:defRPr sz="2025" b="1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2025" b="1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2025" b="1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2025" b="1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2025" b="1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2025" b="1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2025" b="1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2025" b="1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2025" b="1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2025" b="1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pPr>
            <a:r>
              <a:rPr sz="2025" b="1">
                <a:solidFill>
                  <a:srgbClr val="292D27"/>
                </a:solidFill>
                <a:latin typeface="Noto Sans KR"/>
                <a:ea typeface="Noto Sans KR"/>
                <a:cs typeface="Noto Sans KR"/>
              </a:rPr>
              <a:t>기록한 돈을</a:t>
            </a:r>
          </a:p>
          <a:p xmlns:a="http://schemas.openxmlformats.org/drawingml/2006/main">
            <a:pPr>
              <a:defRPr sz="2025" b="1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pPr>
            <a:r>
              <a:rPr sz="2025" b="1">
                <a:solidFill>
                  <a:srgbClr val="292D27"/>
                </a:solidFill>
                <a:latin typeface="Noto Sans KR"/>
                <a:ea typeface="Noto Sans KR"/>
                <a:cs typeface="Noto Sans KR"/>
              </a:rPr>
              <a:t>앞으로의 계획으로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1FD617-6343-4010-9194-C00D2B6AE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" y="3248025"/>
            <a:ext cx="404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>
              <a:defRPr sz="975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975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975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975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975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975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975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975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975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975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Wallet의 예정 항목 재입력 경험에서 출발한</a:t>
            </a:r>
          </a:p>
          <a:p xmlns:a="http://schemas.openxmlformats.org/drawingml/2006/main">
            <a:pPr>
              <a:defRPr sz="975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다중 통화 현금흐름 UI 제안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414A97-1819-4EBD-891B-917287CB5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" y="4162425"/>
            <a:ext cx="476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>
              <a:defRPr sz="975" b="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975" b="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975" b="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975" b="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975" b="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975" b="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975" b="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975" b="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975" b="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975" b="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292D27"/>
                </a:solidFill>
                <a:latin typeface="Noto Sans KR"/>
                <a:ea typeface="Noto Sans KR"/>
                <a:cs typeface="Noto Sans KR"/>
              </a:rPr>
              <a:t>Dinh Vu Thuy Anh  ·  2024106125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835FEB-B417-419B-890D-7F7C05E82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" y="4648200"/>
            <a:ext cx="571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>
              <a:defRPr sz="75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75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75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75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75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75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75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75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75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75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75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pPr>
            <a:r>
              <a:rPr sz="75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Wallet 현행 분석 → finaci v2 UX/UI 프로토타입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0DBF7E-5FEE-4728-93E8-B611C090654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23353c271b4ce3"/>
          <a:stretch xmlns:a="http://schemas.openxmlformats.org/drawingml/2006/main"/>
        </p:blipFill>
        <p:spPr>
          <a:xfrm xmlns:a="http://schemas.openxmlformats.org/drawingml/2006/main">
            <a:off x="6267450" y="1666875"/>
            <a:ext cx="2381250" cy="23812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854248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9BAB4C4C-F2A1-473F-B8AA-3F128F04A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721" y="304800"/>
            <a:ext cx="1482328" cy="200025"/>
          </a:xfrm>
          <a:prstGeom xmlns:a="http://schemas.openxmlformats.org/drawingml/2006/main" prst="roundRect">
            <a:avLst>
              <a:gd name="adj" fmla="val 63492"/>
            </a:avLst>
          </a:prstGeom>
          <a:solidFill xmlns:a="http://schemas.openxmlformats.org/drawingml/2006/main">
            <a:srgbClr val="2E332C"/>
          </a:solidFill>
        </p:spPr>
        <p:txBody>
          <a:bodyPr xmlns:a="http://schemas.openxmlformats.org/drawingml/2006/main" wrap="square" anchor="ctr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ED17F37-6577-4329-9D0C-A7E97536E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0672" y="342900"/>
            <a:ext cx="1252996" cy="123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— · 발표 15 (6분 준수)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14F4F0E8-6AE8-4C7D-8FC6-DD8E3628C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330101"/>
            <a:ext cx="8290661" cy="1428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1 · 목차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EC255ADA-6B1E-4579-9E7B-98D74EFE6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536377"/>
            <a:ext cx="8290661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1498597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 xmlns:a="http://schemas.openxmlformats.org/drawingml/2006/main"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발표 순서와 시간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198" name="Text 196">
            <a:extLst xmlns:a="http://schemas.openxmlformats.org/drawingml/2006/main">
              <a:ext uri="{FF2B5EF4-FFF2-40B4-BE49-F238E27FC236}">
                <a16:creationId xmlns:a16="http://schemas.microsoft.com/office/drawing/2014/main" id="{69371000-D6B6-4E39-A7B3-79712240C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4810125"/>
            <a:ext cx="4641732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8단계(발표 6분 + 질의 2분) · 7장 평가(배점 그대로)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199" name="Text 197">
            <a:extLst xmlns:a="http://schemas.openxmlformats.org/drawingml/2006/main">
              <a:ext uri="{FF2B5EF4-FFF2-40B4-BE49-F238E27FC236}">
                <a16:creationId xmlns:a16="http://schemas.microsoft.com/office/drawing/2014/main" id="{AABF0692-C478-4F73-BD84-37C46B45D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0055" y="4810125"/>
            <a:ext cx="97914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02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graphicFrame>
        <p:nvGraphicFramePr>
          <p:cNvPr id="200" name="Table 199">
            <a:extLst xmlns:a="http://schemas.openxmlformats.org/drawingml/2006/main">
              <a:ext uri="{FF2B5EF4-FFF2-40B4-BE49-F238E27FC236}">
                <a16:creationId xmlns:a16="http://schemas.microsoft.com/office/drawing/2014/main" id="{599AB6E7-2F62-43BD-8EFE-CC6E439C3E24}"/>
              </a:ext>
            </a:extLst>
          </p:cNvPr>
          <p:cNvGraphicFramePr/>
          <p:nvPr/>
        </p:nvGraphicFramePr>
        <p:xfrm>
          <a:off xmlns:a="http://schemas.openxmlformats.org/drawingml/2006/main" x="502920" y="1133856"/>
          <a:ext xmlns:a="http://schemas.openxmlformats.org/drawingml/2006/main" cx="5943600" cy="3346704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4360"/>
                <a:gridCol w="1737360"/>
                <a:gridCol w="3017520"/>
                <a:gridCol w="594360"/>
              </a:tblGrid>
              <a:tr h="237744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장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순서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보여 줄 것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시간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01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표지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앱과 발표자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—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02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목차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진행 순서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—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03–04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프로젝트 개요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대상·가치·현행 대비 개선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0:45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05–06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문제 정의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리뷰·저니·근본 원인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1:00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07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UX/UI 기획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요소·위젯·정보·STATE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1:00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08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셀프 논증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AI 반론과 수정 결정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1:00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09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Flutter 설명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GET·전환·3상태·적응형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0:45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데모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A/B/C/D와 예시 범위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1:15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배움과 다음 단계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판단에서 배운 점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0:15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Q&amp;A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부록 근거로 응답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2:00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1" name="TextBox 200">
            <a:extLst xmlns:a="http://schemas.openxmlformats.org/drawingml/2006/main">
              <a:ext uri="{FF2B5EF4-FFF2-40B4-BE49-F238E27FC236}">
                <a16:creationId xmlns:a16="http://schemas.microsoft.com/office/drawing/2014/main" id="{8C2250C3-182E-47E9-848C-C6F8DB902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572000"/>
            <a:ext cx="5486400" cy="137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85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본문 합계 6:00 · Q&amp;A 2:00</a:t>
            </a:r>
          </a:p>
        </p:txBody>
      </p:sp>
      <p:sp>
        <p:nvSpPr>
          <p:cNvPr id="202" name="TextBox 201">
            <a:extLst xmlns:a="http://schemas.openxmlformats.org/drawingml/2006/main">
              <a:ext uri="{FF2B5EF4-FFF2-40B4-BE49-F238E27FC236}">
                <a16:creationId xmlns:a16="http://schemas.microsoft.com/office/drawing/2014/main" id="{62804C68-AEEA-4EF9-80E4-5F49E03AE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6832" y="1133856"/>
            <a:ext cx="3200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B1</a:t>
            </a:r>
          </a:p>
        </p:txBody>
      </p:sp>
      <p:sp>
        <p:nvSpPr>
          <p:cNvPr id="203" name="Rounded Rectangle 202">
            <a:extLst xmlns:a="http://schemas.openxmlformats.org/drawingml/2006/main">
              <a:ext uri="{FF2B5EF4-FFF2-40B4-BE49-F238E27FC236}">
                <a16:creationId xmlns:a16="http://schemas.microsoft.com/office/drawing/2014/main" id="{AD4D0F50-A4E9-4B62-83D2-94F8D9F10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1133856"/>
            <a:ext cx="1554480" cy="5029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7F0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36576" tIns="36576" rIns="36576" bIns="36576" anchor="ctr"/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전체 화면·3상태·URL</a:t>
            </a:r>
          </a:p>
        </p:txBody>
      </p:sp>
      <p:sp>
        <p:nvSpPr>
          <p:cNvPr id="204" name="TextBox 203">
            <a:extLst xmlns:a="http://schemas.openxmlformats.org/drawingml/2006/main">
              <a:ext uri="{FF2B5EF4-FFF2-40B4-BE49-F238E27FC236}">
                <a16:creationId xmlns:a16="http://schemas.microsoft.com/office/drawing/2014/main" id="{872B2877-1593-48F5-879D-4FCEC0667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6832" y="1764792"/>
            <a:ext cx="3200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B2</a:t>
            </a:r>
          </a:p>
        </p:txBody>
      </p:sp>
      <p:sp>
        <p:nvSpPr>
          <p:cNvPr id="205" name="Rounded Rectangle 204">
            <a:extLst xmlns:a="http://schemas.openxmlformats.org/drawingml/2006/main">
              <a:ext uri="{FF2B5EF4-FFF2-40B4-BE49-F238E27FC236}">
                <a16:creationId xmlns:a16="http://schemas.microsoft.com/office/drawing/2014/main" id="{EE03BCAD-5114-40A9-BA3C-BABFED780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1764792"/>
            <a:ext cx="1554480" cy="5029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7F0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36576" tIns="36576" rIns="36576" bIns="36576" anchor="ctr"/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P07 / P06 / P01 / P10</a:t>
            </a:r>
          </a:p>
        </p:txBody>
      </p:sp>
      <p:sp>
        <p:nvSpPr>
          <p:cNvPr id="206" name="TextBox 205">
            <a:extLst xmlns:a="http://schemas.openxmlformats.org/drawingml/2006/main">
              <a:ext uri="{FF2B5EF4-FFF2-40B4-BE49-F238E27FC236}">
                <a16:creationId xmlns:a16="http://schemas.microsoft.com/office/drawing/2014/main" id="{1BC62A93-204F-4E38-BB3C-9CB8B7A32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6832" y="2395728"/>
            <a:ext cx="3200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B3</a:t>
            </a:r>
          </a:p>
        </p:txBody>
      </p:sp>
      <p:sp>
        <p:nvSpPr>
          <p:cNvPr id="207" name="Rounded Rectangle 206">
            <a:extLst xmlns:a="http://schemas.openxmlformats.org/drawingml/2006/main">
              <a:ext uri="{FF2B5EF4-FFF2-40B4-BE49-F238E27FC236}">
                <a16:creationId xmlns:a16="http://schemas.microsoft.com/office/drawing/2014/main" id="{1DB45C50-07C3-4E60-A8FB-21A1FE73D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2395728"/>
            <a:ext cx="1554480" cy="5029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7F0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36576" tIns="36576" rIns="36576" bIns="36576" anchor="ctr"/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실제 대화와 추가 논증 기록</a:t>
            </a:r>
          </a:p>
        </p:txBody>
      </p:sp>
      <p:sp>
        <p:nvSpPr>
          <p:cNvPr id="208" name="TextBox 207">
            <a:extLst xmlns:a="http://schemas.openxmlformats.org/drawingml/2006/main">
              <a:ext uri="{FF2B5EF4-FFF2-40B4-BE49-F238E27FC236}">
                <a16:creationId xmlns:a16="http://schemas.microsoft.com/office/drawing/2014/main" id="{C0391B1B-C852-4BEA-831A-5793DBDB0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6832" y="3026663"/>
            <a:ext cx="3200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B4</a:t>
            </a:r>
          </a:p>
        </p:txBody>
      </p:sp>
      <p:sp>
        <p:nvSpPr>
          <p:cNvPr id="209" name="Rounded Rectangle 208">
            <a:extLst xmlns:a="http://schemas.openxmlformats.org/drawingml/2006/main">
              <a:ext uri="{FF2B5EF4-FFF2-40B4-BE49-F238E27FC236}">
                <a16:creationId xmlns:a16="http://schemas.microsoft.com/office/drawing/2014/main" id="{2BE99102-AC4A-4CFD-96DB-4051189A2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3026663"/>
            <a:ext cx="1554480" cy="5029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7F0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36576" tIns="36576" rIns="36576" bIns="36576" anchor="ctr"/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rubric별 자가평가</a:t>
            </a:r>
          </a:p>
        </p:txBody>
      </p:sp>
      <p:sp>
        <p:nvSpPr>
          <p:cNvPr id="210" name="TextBox 209">
            <a:extLst xmlns:a="http://schemas.openxmlformats.org/drawingml/2006/main">
              <a:ext uri="{FF2B5EF4-FFF2-40B4-BE49-F238E27FC236}">
                <a16:creationId xmlns:a16="http://schemas.microsoft.com/office/drawing/2014/main" id="{2868DD1F-6F67-444D-8193-ADEACB33A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6832" y="3657600"/>
            <a:ext cx="3200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B5</a:t>
            </a:r>
          </a:p>
        </p:txBody>
      </p:sp>
      <p:sp>
        <p:nvSpPr>
          <p:cNvPr id="211" name="Rounded Rectangle 210">
            <a:extLst xmlns:a="http://schemas.openxmlformats.org/drawingml/2006/main">
              <a:ext uri="{FF2B5EF4-FFF2-40B4-BE49-F238E27FC236}">
                <a16:creationId xmlns:a16="http://schemas.microsoft.com/office/drawing/2014/main" id="{EC8BC500-6AE3-4B21-BD18-17C74BE17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3657600"/>
            <a:ext cx="1554480" cy="5029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7F0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36576" tIns="36576" rIns="36576" bIns="36576" anchor="ctr"/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사업·저니·원인·A/B/C/D 요소</a:t>
            </a:r>
          </a:p>
        </p:txBody>
      </p:sp>
    </p:spTree>
    <p:extLst>
      <p:ext uri="{BB962C8B-B14F-4D97-AF65-F5344CB8AC3E}">
        <p14:creationId xmlns:p14="http://schemas.microsoft.com/office/powerpoint/2010/main" val="62448927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23E98496-5BA6-490D-BFFC-DB3382A31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3538" y="304800"/>
            <a:ext cx="1522512" cy="200025"/>
          </a:xfrm>
          <a:prstGeom xmlns:a="http://schemas.openxmlformats.org/drawingml/2006/main" prst="roundRect">
            <a:avLst>
              <a:gd name="adj" fmla="val 63492"/>
            </a:avLst>
          </a:prstGeom>
          <a:solidFill xmlns:a="http://schemas.openxmlformats.org/drawingml/2006/main">
            <a:srgbClr val="2E332C"/>
          </a:solidFill>
        </p:spPr>
        <p:txBody>
          <a:bodyPr xmlns:a="http://schemas.openxmlformats.org/drawingml/2006/main" wrap="square" anchor="ctr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CA7F58E-892E-48C4-87D1-AFD7BBA32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0488" y="342900"/>
            <a:ext cx="1293983" cy="123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0:45 (2장 합) · 기획 40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C4F4E3FE-8FEB-458D-B9E5-8E472327E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330101"/>
            <a:ext cx="8290661" cy="1428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2 · 프로젝트 개요 1/2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DBAC0E01-AF6B-445D-A8E4-7D4379583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536377"/>
            <a:ext cx="8290661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1498597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 xmlns:a="http://schemas.openxmlformats.org/drawingml/2006/main"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누구를 위한 앱이며, 어떤 결정을 돕는가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EED38F0F-831F-4112-9FAC-E3C48714E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4810125"/>
            <a:ext cx="6540809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칸 이름: README "앱 소개" · 요소 이름 · 글자 제한: Apple "App Store product page" 문서 · 안내문 4장 1 · 2단계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316EFF25-96A2-48AA-A7A5-F3CE21F66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0055" y="4810125"/>
            <a:ext cx="97914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03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pic>
        <p:nvPicPr>
          <p:cNvPr id="40" name="Picture 39">
            <a:extLst xmlns:a="http://schemas.openxmlformats.org/drawingml/2006/main">
              <a:ext uri="{FF2B5EF4-FFF2-40B4-BE49-F238E27FC236}">
                <a16:creationId xmlns:a16="http://schemas.microsoft.com/office/drawing/2014/main" id="{1805D4A8-F20C-4757-AF8E-52541329F0A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c712b6888f4e6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1280160"/>
            <a:ext cx="896112" cy="896112"/>
          </a:xfrm>
          <a:prstGeom xmlns:a="http://schemas.openxmlformats.org/drawingml/2006/main" prst="rect">
            <a:avLst/>
          </a:prstGeom>
        </p:spPr>
      </p:pic>
      <p:sp>
        <p:nvSpPr>
          <p:cNvPr id="41" name="TextBox 40">
            <a:extLst xmlns:a="http://schemas.openxmlformats.org/drawingml/2006/main">
              <a:ext uri="{FF2B5EF4-FFF2-40B4-BE49-F238E27FC236}">
                <a16:creationId xmlns:a16="http://schemas.microsoft.com/office/drawing/2014/main" id="{8C844F9B-8EFA-406C-8FAB-5A9AFC7AE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7632" y="1115568"/>
            <a:ext cx="34290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000" b="1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앱 이름</a:t>
            </a:r>
          </a:p>
        </p:txBody>
      </p:sp>
      <p:sp>
        <p:nvSpPr>
          <p:cNvPr id="42" name="Rounded Rectangle 41">
            <a:extLst xmlns:a="http://schemas.openxmlformats.org/drawingml/2006/main">
              <a:ext uri="{FF2B5EF4-FFF2-40B4-BE49-F238E27FC236}">
                <a16:creationId xmlns:a16="http://schemas.microsoft.com/office/drawing/2014/main" id="{8855A0DC-21AF-4B37-B8A1-68465D4C3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7632" y="1362456"/>
            <a:ext cx="3401568" cy="32918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7F0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36576" tIns="36576" rIns="36576" bIns="36576" anchor="ctr"/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5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finaci (피나시)</a:t>
            </a:r>
          </a:p>
        </p:txBody>
      </p:sp>
      <p:sp>
        <p:nvSpPr>
          <p:cNvPr id="43" name="TextBox 42">
            <a:extLst xmlns:a="http://schemas.openxmlformats.org/drawingml/2006/main">
              <a:ext uri="{FF2B5EF4-FFF2-40B4-BE49-F238E27FC236}">
                <a16:creationId xmlns:a16="http://schemas.microsoft.com/office/drawing/2014/main" id="{87D58413-D4F8-47F4-B47E-9AB487AD7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7632" y="1792224"/>
            <a:ext cx="34290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000" b="1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부제</a:t>
            </a:r>
          </a:p>
        </p:txBody>
      </p:sp>
      <p:sp>
        <p:nvSpPr>
          <p:cNvPr id="44" name="Rounded Rectangle 43">
            <a:extLst xmlns:a="http://schemas.openxmlformats.org/drawingml/2006/main">
              <a:ext uri="{FF2B5EF4-FFF2-40B4-BE49-F238E27FC236}">
                <a16:creationId xmlns:a16="http://schemas.microsoft.com/office/drawing/2014/main" id="{5F8C39DB-5D3C-4EA3-B19F-447A92EE6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7632" y="2029968"/>
            <a:ext cx="3401568" cy="3657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7F0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36576" tIns="36576" rIns="36576" bIns="36576" anchor="ctr"/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다중 통화 생활비 흐름 도우미</a:t>
            </a:r>
          </a:p>
        </p:txBody>
      </p:sp>
      <p:sp>
        <p:nvSpPr>
          <p:cNvPr id="45" name="TextBox 44">
            <a:extLst xmlns:a="http://schemas.openxmlformats.org/drawingml/2006/main">
              <a:ext uri="{FF2B5EF4-FFF2-40B4-BE49-F238E27FC236}">
                <a16:creationId xmlns:a16="http://schemas.microsoft.com/office/drawing/2014/main" id="{05050861-9A02-43C6-9B40-848667E18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542032"/>
            <a:ext cx="11430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000" b="1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카테고리</a:t>
            </a:r>
          </a:p>
        </p:txBody>
      </p:sp>
      <p:sp>
        <p:nvSpPr>
          <p:cNvPr id="46" name="Rounded Rectangle 45">
            <a:extLst xmlns:a="http://schemas.openxmlformats.org/drawingml/2006/main">
              <a:ext uri="{FF2B5EF4-FFF2-40B4-BE49-F238E27FC236}">
                <a16:creationId xmlns:a16="http://schemas.microsoft.com/office/drawing/2014/main" id="{00F34CC7-CC7F-4B89-91E0-2F5AB3094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779776"/>
            <a:ext cx="1143000" cy="3474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7F0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36576" tIns="36576" rIns="36576" bIns="36576" anchor="ctr"/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금융</a:t>
            </a:r>
          </a:p>
        </p:txBody>
      </p:sp>
      <p:sp>
        <p:nvSpPr>
          <p:cNvPr id="47" name="TextBox 46">
            <a:extLst xmlns:a="http://schemas.openxmlformats.org/drawingml/2006/main">
              <a:ext uri="{FF2B5EF4-FFF2-40B4-BE49-F238E27FC236}">
                <a16:creationId xmlns:a16="http://schemas.microsoft.com/office/drawing/2014/main" id="{8F8F7293-6112-4E18-A523-6B6D95048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3080" y="2542032"/>
            <a:ext cx="32461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000" b="1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대상 사용자 / 사용 상황</a:t>
            </a:r>
          </a:p>
        </p:txBody>
      </p:sp>
      <p:sp>
        <p:nvSpPr>
          <p:cNvPr id="48" name="Rounded Rectangle 47">
            <a:extLst xmlns:a="http://schemas.openxmlformats.org/drawingml/2006/main">
              <a:ext uri="{FF2B5EF4-FFF2-40B4-BE49-F238E27FC236}">
                <a16:creationId xmlns:a16="http://schemas.microsoft.com/office/drawing/2014/main" id="{2EA61374-695E-4883-8BA0-0AD3F6C74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3080" y="2779776"/>
            <a:ext cx="324612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7F0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36576" tIns="36576" rIns="36576" bIns="36576" anchor="ctr"/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2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제품 대상: 여러 나라·통화의 돈을 관리하는 사람</a:t>
            </a:r>
          </a:p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2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이번 사례: 한국 거주 베트남 유학생</a:t>
            </a:r>
          </a:p>
        </p:txBody>
      </p:sp>
      <p:sp>
        <p:nvSpPr>
          <p:cNvPr id="49" name="TextBox 48">
            <a:extLst xmlns:a="http://schemas.openxmlformats.org/drawingml/2006/main">
              <a:ext uri="{FF2B5EF4-FFF2-40B4-BE49-F238E27FC236}">
                <a16:creationId xmlns:a16="http://schemas.microsoft.com/office/drawing/2014/main" id="{9DA90823-BC63-45E1-85A0-B8B1156A3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520440"/>
            <a:ext cx="45262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000" b="1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설명</a:t>
            </a:r>
          </a:p>
        </p:txBody>
      </p:sp>
      <p:sp>
        <p:nvSpPr>
          <p:cNvPr id="50" name="Rounded Rectangle 49">
            <a:extLst xmlns:a="http://schemas.openxmlformats.org/drawingml/2006/main">
              <a:ext uri="{FF2B5EF4-FFF2-40B4-BE49-F238E27FC236}">
                <a16:creationId xmlns:a16="http://schemas.microsoft.com/office/drawing/2014/main" id="{663F6438-E67B-464B-9B84-2C7B76AD4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767328"/>
            <a:ext cx="4526280" cy="85953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7F0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36576" tIns="36576" rIns="36576" bIns="36576" anchor="ctr"/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4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VND 원격 급여와 KRW 아르바이트 급여가 서로 다른 날 들어온다. 사용자는 등록한 예정 항목을 다시 입력하지 않고 목표일까지의 흐름을 확인한다. 금액은 수업용 고정 예시다.</a:t>
            </a:r>
          </a:p>
        </p:txBody>
      </p:sp>
      <p:sp>
        <p:nvSpPr>
          <p:cNvPr id="51" name="TextBox 50">
            <a:extLst xmlns:a="http://schemas.openxmlformats.org/drawingml/2006/main">
              <a:ext uri="{FF2B5EF4-FFF2-40B4-BE49-F238E27FC236}">
                <a16:creationId xmlns:a16="http://schemas.microsoft.com/office/drawing/2014/main" id="{3AB3C702-0034-4BEC-BF36-1EA1790FA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6944" y="1124712"/>
            <a:ext cx="3364992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현행 Wallet 평가 및 리뷰</a:t>
            </a:r>
          </a:p>
        </p:txBody>
      </p:sp>
      <p:graphicFrame>
        <p:nvGraphicFramePr>
          <p:cNvPr id="52" name="Table 51">
            <a:extLst xmlns:a="http://schemas.openxmlformats.org/drawingml/2006/main">
              <a:ext uri="{FF2B5EF4-FFF2-40B4-BE49-F238E27FC236}">
                <a16:creationId xmlns:a16="http://schemas.microsoft.com/office/drawing/2014/main" id="{47BA38A6-8CBC-4E39-9779-BD7CC22EFD83}"/>
              </a:ext>
            </a:extLst>
          </p:cNvPr>
          <p:cNvGraphicFramePr/>
          <p:nvPr/>
        </p:nvGraphicFramePr>
        <p:xfrm>
          <a:off xmlns:a="http://schemas.openxmlformats.org/drawingml/2006/main" x="5266944" y="1472184"/>
          <a:ext xmlns:a="http://schemas.openxmlformats.org/drawingml/2006/main" cx="3364991" cy="118872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2415"/>
                <a:gridCol w="2322576"/>
              </a:tblGrid>
              <a:tr h="256032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스토어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별점 / 평가 수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KR iOS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4.8 / 38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US iOS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4.6 / 5.9K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UK iOS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4.5 / 889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3" name="TextBox 52">
            <a:extLst xmlns:a="http://schemas.openxmlformats.org/drawingml/2006/main">
              <a:ext uri="{FF2B5EF4-FFF2-40B4-BE49-F238E27FC236}">
                <a16:creationId xmlns:a16="http://schemas.microsoft.com/office/drawing/2014/main" id="{2CDA14D3-E39A-4ED5-B6CB-D4938F44C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6944" y="2779776"/>
            <a:ext cx="3364992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000" b="1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대표 리뷰 R13 · 1★ · 2026-08-29</a:t>
            </a:r>
          </a:p>
        </p:txBody>
      </p:sp>
      <p:sp>
        <p:nvSpPr>
          <p:cNvPr id="54" name="Rounded Rectangle 53">
            <a:extLst xmlns:a="http://schemas.openxmlformats.org/drawingml/2006/main">
              <a:ext uri="{FF2B5EF4-FFF2-40B4-BE49-F238E27FC236}">
                <a16:creationId xmlns:a16="http://schemas.microsoft.com/office/drawing/2014/main" id="{D5CBBDF0-62AA-4D40-BBB6-5AE241823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6944" y="3090672"/>
            <a:ext cx="3364992" cy="93268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7F0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36576" tIns="36576" rIns="36576" bIns="36576" anchor="ctr"/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4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“UI is clunky, illogical.”</a:t>
            </a:r>
          </a:p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4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미국 Google Play Android 리뷰다. 한국 iOS의 현행 문제로 일반화하지 않는다.</a:t>
            </a:r>
          </a:p>
        </p:txBody>
      </p:sp>
      <p:sp>
        <p:nvSpPr>
          <p:cNvPr id="55" name="TextBox 54">
            <a:extLst xmlns:a="http://schemas.openxmlformats.org/drawingml/2006/main">
              <a:ext uri="{FF2B5EF4-FFF2-40B4-BE49-F238E27FC236}">
                <a16:creationId xmlns:a16="http://schemas.microsoft.com/office/drawing/2014/main" id="{33FB776A-C8A3-44A2-83BF-91DDD69E8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6944" y="4178808"/>
            <a:ext cx="3364992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0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리뷰 표본 20개 · KR/US/UK iOS, US Android</a:t>
            </a:r>
          </a:p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0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출처: App Store / Google Play · 2026-10-28 수집</a:t>
            </a:r>
          </a:p>
        </p:txBody>
      </p:sp>
    </p:spTree>
    <p:extLst>
      <p:ext uri="{BB962C8B-B14F-4D97-AF65-F5344CB8AC3E}">
        <p14:creationId xmlns:p14="http://schemas.microsoft.com/office/powerpoint/2010/main" val="6356905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0036D32-4FE7-43E5-AAF5-250F4E868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3538" y="304800"/>
            <a:ext cx="1522512" cy="200025"/>
          </a:xfrm>
          <a:prstGeom xmlns:a="http://schemas.openxmlformats.org/drawingml/2006/main" prst="roundRect">
            <a:avLst>
              <a:gd name="adj" fmla="val 63492"/>
            </a:avLst>
          </a:prstGeom>
          <a:solidFill xmlns:a="http://schemas.openxmlformats.org/drawingml/2006/main">
            <a:srgbClr val="2E332C"/>
          </a:solidFill>
        </p:spPr>
        <p:txBody>
          <a:bodyPr xmlns:a="http://schemas.openxmlformats.org/drawingml/2006/main" wrap="square" anchor="ctr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C258697-C319-4C63-89EB-5467705A5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0488" y="342900"/>
            <a:ext cx="1293983" cy="123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0:45 (2장 합) · 기획 40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5766EAE-3E5D-4C05-BFE3-D6F8E98CA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330101"/>
            <a:ext cx="8290661" cy="1428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2 · 프로젝트 개요 2/2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8AB5226C-9CE0-4A39-8897-D0E0AA6B7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536377"/>
            <a:ext cx="8290661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1498597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 xmlns:a="http://schemas.openxmlformats.org/drawingml/2006/main"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Wallet에서 유지할 강점과 바꿀 흐름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62" name="Text 60">
            <a:extLst xmlns:a="http://schemas.openxmlformats.org/drawingml/2006/main">
              <a:ext uri="{FF2B5EF4-FFF2-40B4-BE49-F238E27FC236}">
                <a16:creationId xmlns:a16="http://schemas.microsoft.com/office/drawing/2014/main" id="{9172E63C-7161-4742-AFF2-8F8EC8FB8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4810125"/>
            <a:ext cx="6405095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Screenshots · What's New: Apple "App Store product page" 문서 · README "앱 소개" · 안내문 4장 5단계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63" name="Text 61">
            <a:extLst xmlns:a="http://schemas.openxmlformats.org/drawingml/2006/main">
              <a:ext uri="{FF2B5EF4-FFF2-40B4-BE49-F238E27FC236}">
                <a16:creationId xmlns:a16="http://schemas.microsoft.com/office/drawing/2014/main" id="{4B72E963-03B1-4EF5-AC89-5FC1EBB38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0055" y="4810125"/>
            <a:ext cx="97914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04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64" name="Rounded Rectangle 63">
            <a:extLst xmlns:a="http://schemas.openxmlformats.org/drawingml/2006/main">
              <a:ext uri="{FF2B5EF4-FFF2-40B4-BE49-F238E27FC236}">
                <a16:creationId xmlns:a16="http://schemas.microsoft.com/office/drawing/2014/main" id="{634E4381-8434-4B3A-9682-8D7179ECB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124712"/>
            <a:ext cx="914400" cy="21031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5C7457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" tIns="13716" rIns="13716" bIns="13716" anchor="ctr"/>
          <a:lstStyle xmlns:a="http://schemas.openxmlformats.org/drawingml/2006/main"/>
          <a:p xmlns:a="http://schemas.openxmlformats.org/drawingml/2006/main">
            <a:pPr algn="ctr">
              <a:spcAft>
                <a:spcPts val="200"/>
              </a:spcAft>
              <a:buNone/>
            </a:pPr>
            <a:r>
              <a:rPr sz="88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v1 Wallet</a:t>
            </a:r>
          </a:p>
        </p:txBody>
      </p:sp>
      <p:pic>
        <p:nvPicPr>
          <p:cNvPr id="65" name="Picture 64">
            <a:extLst xmlns:a="http://schemas.openxmlformats.org/drawingml/2006/main">
              <a:ext uri="{FF2B5EF4-FFF2-40B4-BE49-F238E27FC236}">
                <a16:creationId xmlns:a16="http://schemas.microsoft.com/office/drawing/2014/main" id="{1A93B059-F2BB-434E-8FEA-F8DB3662634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69be4ae7cd498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2920" y="1559994"/>
            <a:ext cx="914400" cy="1982363"/>
          </a:xfrm>
          <a:prstGeom xmlns:a="http://schemas.openxmlformats.org/drawingml/2006/main" prst="rect">
            <a:avLst/>
          </a:prstGeom>
        </p:spPr>
      </p:pic>
      <p:sp>
        <p:nvSpPr>
          <p:cNvPr id="66" name="Rounded Rectangle 65">
            <a:extLst xmlns:a="http://schemas.openxmlformats.org/drawingml/2006/main">
              <a:ext uri="{FF2B5EF4-FFF2-40B4-BE49-F238E27FC236}">
                <a16:creationId xmlns:a16="http://schemas.microsoft.com/office/drawing/2014/main" id="{35A8F86C-B6CB-458B-9554-DC2BB0B47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2184" y="1124712"/>
            <a:ext cx="914400" cy="21031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5C7457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" tIns="13716" rIns="13716" bIns="13716" anchor="ctr"/>
          <a:lstStyle xmlns:a="http://schemas.openxmlformats.org/drawingml/2006/main"/>
          <a:p xmlns:a="http://schemas.openxmlformats.org/drawingml/2006/main">
            <a:pPr algn="ctr">
              <a:spcAft>
                <a:spcPts val="200"/>
              </a:spcAft>
              <a:buNone/>
            </a:pPr>
            <a:r>
              <a:rPr sz="88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v2 A · 현금흐름</a:t>
            </a:r>
          </a:p>
        </p:txBody>
      </p:sp>
      <p:pic>
        <p:nvPicPr>
          <p:cNvPr id="67" name="Picture 66">
            <a:extLst xmlns:a="http://schemas.openxmlformats.org/drawingml/2006/main">
              <a:ext uri="{FF2B5EF4-FFF2-40B4-BE49-F238E27FC236}">
                <a16:creationId xmlns:a16="http://schemas.microsoft.com/office/drawing/2014/main" id="{B3998DE6-3321-47A7-83E2-DBA0FA3D84C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69c2a9c9914ae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472184" y="1560221"/>
            <a:ext cx="914400" cy="1981908"/>
          </a:xfrm>
          <a:prstGeom xmlns:a="http://schemas.openxmlformats.org/drawingml/2006/main" prst="rect">
            <a:avLst/>
          </a:prstGeom>
        </p:spPr>
      </p:pic>
      <p:sp>
        <p:nvSpPr>
          <p:cNvPr id="68" name="Rounded Rectangle 67">
            <a:extLst xmlns:a="http://schemas.openxmlformats.org/drawingml/2006/main">
              <a:ext uri="{FF2B5EF4-FFF2-40B4-BE49-F238E27FC236}">
                <a16:creationId xmlns:a16="http://schemas.microsoft.com/office/drawing/2014/main" id="{AA5E2D49-CDB9-40C7-80BF-C2C0F05CA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1448" y="1124712"/>
            <a:ext cx="914400" cy="21031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5C7457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" tIns="13716" rIns="13716" bIns="13716" anchor="ctr"/>
          <a:lstStyle xmlns:a="http://schemas.openxmlformats.org/drawingml/2006/main"/>
          <a:p xmlns:a="http://schemas.openxmlformats.org/drawingml/2006/main">
            <a:pPr algn="ctr">
              <a:spcAft>
                <a:spcPts val="200"/>
              </a:spcAft>
              <a:buNone/>
            </a:pPr>
            <a:r>
              <a:rPr sz="88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v2 B · 일정</a:t>
            </a:r>
          </a:p>
        </p:txBody>
      </p:sp>
      <p:pic>
        <p:nvPicPr>
          <p:cNvPr id="69" name="Picture 68">
            <a:extLst xmlns:a="http://schemas.openxmlformats.org/drawingml/2006/main">
              <a:ext uri="{FF2B5EF4-FFF2-40B4-BE49-F238E27FC236}">
                <a16:creationId xmlns:a16="http://schemas.microsoft.com/office/drawing/2014/main" id="{F61FAF5E-8C41-45A6-9102-7D8BF5B7753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b845cd3661490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41448" y="1560221"/>
            <a:ext cx="914400" cy="1981908"/>
          </a:xfrm>
          <a:prstGeom xmlns:a="http://schemas.openxmlformats.org/drawingml/2006/main" prst="rect">
            <a:avLst/>
          </a:prstGeom>
        </p:spPr>
      </p:pic>
      <p:sp>
        <p:nvSpPr>
          <p:cNvPr id="70" name="Rounded Rectangle 69">
            <a:extLst xmlns:a="http://schemas.openxmlformats.org/drawingml/2006/main">
              <a:ext uri="{FF2B5EF4-FFF2-40B4-BE49-F238E27FC236}">
                <a16:creationId xmlns:a16="http://schemas.microsoft.com/office/drawing/2014/main" id="{442F19DA-AE06-4493-A8ED-A265F7BED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0712" y="1124712"/>
            <a:ext cx="914400" cy="21031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5C7457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" tIns="13716" rIns="13716" bIns="13716" anchor="ctr"/>
          <a:lstStyle xmlns:a="http://schemas.openxmlformats.org/drawingml/2006/main"/>
          <a:p xmlns:a="http://schemas.openxmlformats.org/drawingml/2006/main">
            <a:pPr algn="ctr">
              <a:spcAft>
                <a:spcPts val="200"/>
              </a:spcAft>
              <a:buNone/>
            </a:pPr>
            <a:r>
              <a:rPr sz="88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v2 C · 시나리오</a:t>
            </a:r>
          </a:p>
        </p:txBody>
      </p:sp>
      <p:pic>
        <p:nvPicPr>
          <p:cNvPr id="71" name="Picture 70">
            <a:extLst xmlns:a="http://schemas.openxmlformats.org/drawingml/2006/main">
              <a:ext uri="{FF2B5EF4-FFF2-40B4-BE49-F238E27FC236}">
                <a16:creationId xmlns:a16="http://schemas.microsoft.com/office/drawing/2014/main" id="{121C334D-F8D3-4F3B-8978-A082F47077E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48a1ebee9948e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410712" y="1560221"/>
            <a:ext cx="914400" cy="1981908"/>
          </a:xfrm>
          <a:prstGeom xmlns:a="http://schemas.openxmlformats.org/drawingml/2006/main" prst="rect">
            <a:avLst/>
          </a:prstGeom>
        </p:spPr>
      </p:pic>
      <p:sp>
        <p:nvSpPr>
          <p:cNvPr id="72" name="Rounded Rectangle 71">
            <a:extLst xmlns:a="http://schemas.openxmlformats.org/drawingml/2006/main">
              <a:ext uri="{FF2B5EF4-FFF2-40B4-BE49-F238E27FC236}">
                <a16:creationId xmlns:a16="http://schemas.microsoft.com/office/drawing/2014/main" id="{4C028F55-CA3B-4FAC-B320-7AAEF3CF0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9976" y="1124712"/>
            <a:ext cx="914400" cy="21031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5C7457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" tIns="13716" rIns="13716" bIns="13716" anchor="ctr"/>
          <a:lstStyle xmlns:a="http://schemas.openxmlformats.org/drawingml/2006/main"/>
          <a:p xmlns:a="http://schemas.openxmlformats.org/drawingml/2006/main">
            <a:pPr algn="ctr">
              <a:spcAft>
                <a:spcPts val="200"/>
              </a:spcAft>
              <a:buNone/>
            </a:pPr>
            <a:r>
              <a:rPr sz="88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v2 D · 빠른 기록</a:t>
            </a:r>
          </a:p>
        </p:txBody>
      </p:sp>
      <p:pic>
        <p:nvPicPr>
          <p:cNvPr id="73" name="Picture 72">
            <a:extLst xmlns:a="http://schemas.openxmlformats.org/drawingml/2006/main">
              <a:ext uri="{FF2B5EF4-FFF2-40B4-BE49-F238E27FC236}">
                <a16:creationId xmlns:a16="http://schemas.microsoft.com/office/drawing/2014/main" id="{C4787423-6BC0-4234-9724-54D586632DC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f75375faf547c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379976" y="1560221"/>
            <a:ext cx="914400" cy="1981908"/>
          </a:xfrm>
          <a:prstGeom xmlns:a="http://schemas.openxmlformats.org/drawingml/2006/main" prst="rect">
            <a:avLst/>
          </a:prstGeom>
        </p:spPr>
      </p:pic>
      <p:sp>
        <p:nvSpPr>
          <p:cNvPr id="74" name="TextBox 73">
            <a:extLst xmlns:a="http://schemas.openxmlformats.org/drawingml/2006/main">
              <a:ext uri="{FF2B5EF4-FFF2-40B4-BE49-F238E27FC236}">
                <a16:creationId xmlns:a16="http://schemas.microsoft.com/office/drawing/2014/main" id="{28C62A09-A7BC-4D70-8AF4-1CD50347E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8112" y="1124712"/>
            <a:ext cx="3163824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새로운 기능</a:t>
            </a:r>
          </a:p>
        </p:txBody>
      </p:sp>
      <p:graphicFrame>
        <p:nvGraphicFramePr>
          <p:cNvPr id="75" name="Table 74">
            <a:extLst xmlns:a="http://schemas.openxmlformats.org/drawingml/2006/main">
              <a:ext uri="{FF2B5EF4-FFF2-40B4-BE49-F238E27FC236}">
                <a16:creationId xmlns:a16="http://schemas.microsoft.com/office/drawing/2014/main" id="{23257BC9-900A-4E66-B146-53241075E96C}"/>
              </a:ext>
            </a:extLst>
          </p:cNvPr>
          <p:cNvGraphicFramePr/>
          <p:nvPr/>
        </p:nvGraphicFramePr>
        <p:xfrm>
          <a:off xmlns:a="http://schemas.openxmlformats.org/drawingml/2006/main" x="5468112" y="1453896"/>
          <a:ext xmlns:a="http://schemas.openxmlformats.org/drawingml/2006/main" cx="3163824" cy="2907792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1508760"/>
                <a:gridCol w="1197864"/>
              </a:tblGrid>
              <a:tr h="274320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원칙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바뀐 점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근거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</a:tr>
              <a:tr h="877824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A-2/A-3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통화별 계좌와 실제·전망을 구분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Wallet 계좌 카드의 장점 유지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7824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P07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P06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A-5/B-3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등록한 예정 항목 재사용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Outlook 재입력: 개인 관찰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7824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P10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A-4/B-5/C-5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고정 예시·포함/제외·기간 표시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미래 잔액의 불확실성에 대한 설계 판단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6" name="TextBox 75">
            <a:extLst xmlns:a="http://schemas.openxmlformats.org/drawingml/2006/main">
              <a:ext uri="{FF2B5EF4-FFF2-40B4-BE49-F238E27FC236}">
                <a16:creationId xmlns:a16="http://schemas.microsoft.com/office/drawing/2014/main" id="{C3787D17-4AF8-45F6-B0F1-2E3DD912C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931920"/>
            <a:ext cx="48463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2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이어받은 강점: 통화별 계좌 카드와 중앙 + 빠른 입력</a:t>
            </a:r>
          </a:p>
        </p:txBody>
      </p:sp>
      <p:sp>
        <p:nvSpPr>
          <p:cNvPr id="77" name="TextBox 76">
            <a:extLst xmlns:a="http://schemas.openxmlformats.org/drawingml/2006/main">
              <a:ext uri="{FF2B5EF4-FFF2-40B4-BE49-F238E27FC236}">
                <a16:creationId xmlns:a16="http://schemas.microsoft.com/office/drawing/2014/main" id="{EFE44448-9211-491F-8836-899FF9412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471416"/>
            <a:ext cx="813816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현행 Wallet 캡처는 수업 분석용 인용. 금융 값은 가림 처리.</a:t>
            </a:r>
          </a:p>
        </p:txBody>
      </p:sp>
    </p:spTree>
    <p:extLst>
      <p:ext uri="{BB962C8B-B14F-4D97-AF65-F5344CB8AC3E}">
        <p14:creationId xmlns:p14="http://schemas.microsoft.com/office/powerpoint/2010/main" val="51095716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CF575A6-9B74-4B5C-8905-D351D0268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3538" y="304800"/>
            <a:ext cx="1522512" cy="200025"/>
          </a:xfrm>
          <a:prstGeom xmlns:a="http://schemas.openxmlformats.org/drawingml/2006/main" prst="roundRect">
            <a:avLst>
              <a:gd name="adj" fmla="val 63492"/>
            </a:avLst>
          </a:prstGeom>
          <a:solidFill xmlns:a="http://schemas.openxmlformats.org/drawingml/2006/main">
            <a:srgbClr val="2E332C"/>
          </a:solidFill>
        </p:spPr>
        <p:txBody>
          <a:bodyPr xmlns:a="http://schemas.openxmlformats.org/drawingml/2006/main" wrap="square" anchor="ctr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D848639-C18A-4611-9397-B2830415F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0488" y="342900"/>
            <a:ext cx="1293983" cy="123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1:00 (2장 합) · 기획 40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C3A8624F-24D9-4CED-85BA-0EED940FB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330101"/>
            <a:ext cx="8290661" cy="1428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3 · 문제 정의 1/2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03E4C44B-EEF5-484A-A1E8-99500D96E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536377"/>
            <a:ext cx="8290661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1498597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 xmlns:a="http://schemas.openxmlformats.org/drawingml/2006/main"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20개 리뷰에서 찾은 신호, 직접 확인한 문제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72" name="Text 70">
            <a:extLst xmlns:a="http://schemas.openxmlformats.org/drawingml/2006/main">
              <a:ext uri="{FF2B5EF4-FFF2-40B4-BE49-F238E27FC236}">
                <a16:creationId xmlns:a16="http://schemas.microsoft.com/office/drawing/2014/main" id="{86935709-93DF-427E-8AF1-4E679AF1F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4810125"/>
            <a:ext cx="5152403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1단계 · 8장 FAQ(리뷰 인용) · 7장 기획 "현행 분석 · 리뷰 근거 10"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73" name="Text 71">
            <a:extLst xmlns:a="http://schemas.openxmlformats.org/drawingml/2006/main">
              <a:ext uri="{FF2B5EF4-FFF2-40B4-BE49-F238E27FC236}">
                <a16:creationId xmlns:a16="http://schemas.microsoft.com/office/drawing/2014/main" id="{36EA5E31-9D02-44D7-8628-994EAB713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0055" y="4810125"/>
            <a:ext cx="97914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05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74" name="TextBox 73">
            <a:extLst xmlns:a="http://schemas.openxmlformats.org/drawingml/2006/main">
              <a:ext uri="{FF2B5EF4-FFF2-40B4-BE49-F238E27FC236}">
                <a16:creationId xmlns:a16="http://schemas.microsoft.com/office/drawing/2014/main" id="{916F04AD-61DE-4AD3-90DF-860B5EB45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124712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0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별점 분포 · Google Play US Phone</a:t>
            </a:r>
          </a:p>
        </p:txBody>
      </p:sp>
      <p:pic>
        <p:nvPicPr>
          <p:cNvPr id="75" name="Picture 74">
            <a:extLst xmlns:a="http://schemas.openxmlformats.org/drawingml/2006/main">
              <a:ext uri="{FF2B5EF4-FFF2-40B4-BE49-F238E27FC236}">
                <a16:creationId xmlns:a16="http://schemas.microsoft.com/office/drawing/2014/main" id="{CA387F84-C21F-4F44-9103-A1669FE0526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12436b06214fe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2920" y="1495697"/>
            <a:ext cx="2286000" cy="849085"/>
          </a:xfrm>
          <a:prstGeom xmlns:a="http://schemas.openxmlformats.org/drawingml/2006/main" prst="rect">
            <a:avLst/>
          </a:prstGeom>
        </p:spPr>
      </p:pic>
      <p:graphicFrame>
        <p:nvGraphicFramePr>
          <p:cNvPr id="76" name="Table 75">
            <a:extLst xmlns:a="http://schemas.openxmlformats.org/drawingml/2006/main">
              <a:ext uri="{FF2B5EF4-FFF2-40B4-BE49-F238E27FC236}">
                <a16:creationId xmlns:a16="http://schemas.microsoft.com/office/drawing/2014/main" id="{7EE3377D-E870-4ED0-BC74-82E0615AC4D3}"/>
              </a:ext>
            </a:extLst>
          </p:cNvPr>
          <p:cNvGraphicFramePr/>
          <p:nvPr/>
        </p:nvGraphicFramePr>
        <p:xfrm>
          <a:off xmlns:a="http://schemas.openxmlformats.org/drawingml/2006/main" x="502920" y="2523744"/>
          <a:ext xmlns:a="http://schemas.openxmlformats.org/drawingml/2006/main" cx="2286000" cy="1664208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1645920"/>
              </a:tblGrid>
              <a:tr h="246888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별점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건수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5★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317,051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4★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27,451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3★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8,845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2★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7,079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1★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19,472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7" name="TextBox 76">
            <a:extLst xmlns:a="http://schemas.openxmlformats.org/drawingml/2006/main">
              <a:ext uri="{FF2B5EF4-FFF2-40B4-BE49-F238E27FC236}">
                <a16:creationId xmlns:a16="http://schemas.microsoft.com/office/drawing/2014/main" id="{153DE9F3-2ECC-4605-92C1-11065A17A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315968"/>
            <a:ext cx="22860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US Phone · 2026-10-29 · n=379,898</a:t>
            </a:r>
          </a:p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표시 380K. 앱 상단 전체 388K와 구분.</a:t>
            </a:r>
          </a:p>
        </p:txBody>
      </p:sp>
      <p:sp>
        <p:nvSpPr>
          <p:cNvPr id="78" name="TextBox 77">
            <a:extLst xmlns:a="http://schemas.openxmlformats.org/drawingml/2006/main">
              <a:ext uri="{FF2B5EF4-FFF2-40B4-BE49-F238E27FC236}">
                <a16:creationId xmlns:a16="http://schemas.microsoft.com/office/drawing/2014/main" id="{E85F82B5-7983-4AA8-BE3C-31C433145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3512" y="1124712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0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리뷰 인용 · 원문/날짜/별점</a:t>
            </a:r>
          </a:p>
        </p:txBody>
      </p:sp>
      <p:sp>
        <p:nvSpPr>
          <p:cNvPr id="79" name="Rounded Rectangle 78">
            <a:extLst xmlns:a="http://schemas.openxmlformats.org/drawingml/2006/main">
              <a:ext uri="{FF2B5EF4-FFF2-40B4-BE49-F238E27FC236}">
                <a16:creationId xmlns:a16="http://schemas.microsoft.com/office/drawing/2014/main" id="{544B43F9-41C8-4C3B-A4F4-F3572CE57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3512" y="1472184"/>
            <a:ext cx="2971800" cy="9418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7F0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36576" tIns="36576" rIns="36576" bIns="36576" anchor="ctr"/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5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R13 · 1★ · 2026-08-29</a:t>
            </a:r>
          </a:p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5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“UI is clunky, illogical.”</a:t>
            </a:r>
          </a:p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5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US Android. 현행 iOS 문제로 단정하지 않음.</a:t>
            </a:r>
          </a:p>
        </p:txBody>
      </p:sp>
      <p:sp>
        <p:nvSpPr>
          <p:cNvPr id="80" name="Rounded Rectangle 79">
            <a:extLst xmlns:a="http://schemas.openxmlformats.org/drawingml/2006/main">
              <a:ext uri="{FF2B5EF4-FFF2-40B4-BE49-F238E27FC236}">
                <a16:creationId xmlns:a16="http://schemas.microsoft.com/office/drawing/2014/main" id="{FA0648F0-056A-43B0-B6C6-CEBADFCA5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3512" y="2532888"/>
            <a:ext cx="2971800" cy="9418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7F0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36576" tIns="36576" rIns="36576" bIns="36576" anchor="ctr"/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5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R15 · 5★ · 2026-04-01</a:t>
            </a:r>
          </a:p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5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“too many options.”</a:t>
            </a:r>
          </a:p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5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US iOS. 기능 복잡도에 대한 개별 의견.</a:t>
            </a:r>
          </a:p>
        </p:txBody>
      </p:sp>
      <p:sp>
        <p:nvSpPr>
          <p:cNvPr id="81" name="Rounded Rectangle 80">
            <a:extLst xmlns:a="http://schemas.openxmlformats.org/drawingml/2006/main">
              <a:ext uri="{FF2B5EF4-FFF2-40B4-BE49-F238E27FC236}">
                <a16:creationId xmlns:a16="http://schemas.microsoft.com/office/drawing/2014/main" id="{9EEA2099-CE28-4F4F-A84F-703414B95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3512" y="3593591"/>
            <a:ext cx="2971800" cy="9418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7F0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36576" tIns="36576" rIns="36576" bIns="36576" anchor="ctr"/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5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R03 · 5★ · 2026-06-29</a:t>
            </a:r>
          </a:p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5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“how much money we are starting the month with.”</a:t>
            </a:r>
          </a:p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5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US iOS. 시작 잔액 표시 요청.</a:t>
            </a:r>
          </a:p>
        </p:txBody>
      </p:sp>
      <p:sp>
        <p:nvSpPr>
          <p:cNvPr id="82" name="TextBox 81">
            <a:extLst xmlns:a="http://schemas.openxmlformats.org/drawingml/2006/main">
              <a:ext uri="{FF2B5EF4-FFF2-40B4-BE49-F238E27FC236}">
                <a16:creationId xmlns:a16="http://schemas.microsoft.com/office/drawing/2014/main" id="{B1AF8A5D-060E-4195-B8FC-B9C579070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8192" y="1124712"/>
            <a:ext cx="252374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0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20개 리뷰 · 주제 중복 분류</a:t>
            </a:r>
          </a:p>
        </p:txBody>
      </p:sp>
      <p:graphicFrame>
        <p:nvGraphicFramePr>
          <p:cNvPr id="83" name="Table 82">
            <a:extLst xmlns:a="http://schemas.openxmlformats.org/drawingml/2006/main">
              <a:ext uri="{FF2B5EF4-FFF2-40B4-BE49-F238E27FC236}">
                <a16:creationId xmlns:a16="http://schemas.microsoft.com/office/drawing/2014/main" id="{220B9B61-2911-4187-80FD-6F0D1E167DCE}"/>
              </a:ext>
            </a:extLst>
          </p:cNvPr>
          <p:cNvGraphicFramePr/>
          <p:nvPr/>
        </p:nvGraphicFramePr>
        <p:xfrm>
          <a:off xmlns:a="http://schemas.openxmlformats.org/drawingml/2006/main" x="6108192" y="1472184"/>
          <a:ext xmlns:a="http://schemas.openxmlformats.org/drawingml/2006/main" cx="2523744" cy="2002536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3312"/>
                <a:gridCol w="365760"/>
                <a:gridCol w="804672"/>
              </a:tblGrid>
              <a:tr h="246888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유형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건수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신뢰·동기화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R06/R09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조작·입력 효율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R13/R15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표시·기능 요청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R03/R05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강점·기능 요청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R07/R11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4" name="TextBox 83">
            <a:extLst xmlns:a="http://schemas.openxmlformats.org/drawingml/2006/main">
              <a:ext uri="{FF2B5EF4-FFF2-40B4-BE49-F238E27FC236}">
                <a16:creationId xmlns:a16="http://schemas.microsoft.com/office/drawing/2014/main" id="{838F3B21-0FA0-4948-9828-9A2D2BD07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8192" y="3675887"/>
            <a:ext cx="252374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0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Wallet의 강점 · 개선 기준</a:t>
            </a:r>
          </a:p>
        </p:txBody>
      </p:sp>
      <p:sp>
        <p:nvSpPr>
          <p:cNvPr id="85" name="Rounded Rectangle 84">
            <a:extLst xmlns:a="http://schemas.openxmlformats.org/drawingml/2006/main">
              <a:ext uri="{FF2B5EF4-FFF2-40B4-BE49-F238E27FC236}">
                <a16:creationId xmlns:a16="http://schemas.microsoft.com/office/drawing/2014/main" id="{EE2738FC-E008-4616-94B5-39995F849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8192" y="4005072"/>
            <a:ext cx="2523744" cy="63093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DF1E9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36576" tIns="36576" rIns="36576" bIns="36576" anchor="ctr"/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5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P02: 통화별 계좌와 익숙한 분류</a:t>
            </a:r>
          </a:p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5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P07/P06: 개인 관찰인 예정 항목 재입력을 개선</a:t>
            </a:r>
          </a:p>
        </p:txBody>
      </p:sp>
    </p:spTree>
    <p:extLst>
      <p:ext uri="{BB962C8B-B14F-4D97-AF65-F5344CB8AC3E}">
        <p14:creationId xmlns:p14="http://schemas.microsoft.com/office/powerpoint/2010/main" val="9607300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A759341-5D09-4EC0-BB82-F36A44AFF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3538" y="304800"/>
            <a:ext cx="1522512" cy="200025"/>
          </a:xfrm>
          <a:prstGeom xmlns:a="http://schemas.openxmlformats.org/drawingml/2006/main" prst="roundRect">
            <a:avLst>
              <a:gd name="adj" fmla="val 63492"/>
            </a:avLst>
          </a:prstGeom>
          <a:solidFill xmlns:a="http://schemas.openxmlformats.org/drawingml/2006/main">
            <a:srgbClr val="2E332C"/>
          </a:solidFill>
        </p:spPr>
        <p:txBody>
          <a:bodyPr xmlns:a="http://schemas.openxmlformats.org/drawingml/2006/main" wrap="square" anchor="ctr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A42B24C-E489-4AF9-987D-15FFF36B5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0488" y="342900"/>
            <a:ext cx="1293983" cy="123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1:00 (2장 합) · 기획 40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5E096B03-BCEB-48F8-9BBA-2BF3EC440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330101"/>
            <a:ext cx="8290661" cy="1428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3 · 문제 정의 2/2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BAD907DE-0F46-49BA-A082-8FA5179B1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536377"/>
            <a:ext cx="8290661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1498597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 xmlns:a="http://schemas.openxmlformats.org/drawingml/2006/main"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Sync 불만보다 재입력 문제를 먼저 고른 이유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83DDBCC5-AA34-4541-B4D7-DC2F9048A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4810125"/>
            <a:ext cx="4562793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3 · 4단계 · 7장 기획 "저니 8 · 피쉬본 · 5 Why 5"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151734A9-1289-4B6B-A46B-06E2D5C0E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0055" y="4810125"/>
            <a:ext cx="97914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06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pic>
        <p:nvPicPr>
          <p:cNvPr id="36" name="Picture 35">
            <a:extLst xmlns:a="http://schemas.openxmlformats.org/drawingml/2006/main">
              <a:ext uri="{FF2B5EF4-FFF2-40B4-BE49-F238E27FC236}">
                <a16:creationId xmlns:a16="http://schemas.microsoft.com/office/drawing/2014/main" id="{01EF463F-E47C-4B67-A3CE-946DE96C0CC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8fe9e769724acf"/>
          <a:srcRect xmlns:a="http://schemas.openxmlformats.org/drawingml/2006/main" l="0" t="0" r="0" b="475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2920" y="1137433"/>
            <a:ext cx="8138160" cy="2406860"/>
          </a:xfrm>
          <a:prstGeom xmlns:a="http://schemas.openxmlformats.org/drawingml/2006/main" prst="rect">
            <a:avLst/>
          </a:prstGeom>
        </p:spPr>
      </p:pic>
      <p:sp>
        <p:nvSpPr>
          <p:cNvPr id="37" name="TextBox 36">
            <a:extLst xmlns:a="http://schemas.openxmlformats.org/drawingml/2006/main">
              <a:ext uri="{FF2B5EF4-FFF2-40B4-BE49-F238E27FC236}">
                <a16:creationId xmlns:a16="http://schemas.microsoft.com/office/drawing/2014/main" id="{A45DD837-71F8-4A0F-AB90-19989E65B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675887"/>
            <a:ext cx="39319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개인 경험의 최저점: Outlook 재입력</a:t>
            </a:r>
          </a:p>
        </p:txBody>
      </p:sp>
      <p:sp>
        <p:nvSpPr>
          <p:cNvPr id="38" name="Rounded Rectangle 37">
            <a:extLst xmlns:a="http://schemas.openxmlformats.org/drawingml/2006/main">
              <a:ext uri="{FF2B5EF4-FFF2-40B4-BE49-F238E27FC236}">
                <a16:creationId xmlns:a16="http://schemas.microsoft.com/office/drawing/2014/main" id="{4A53ECC6-8000-452D-9ED9-BCF76F6F2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968496"/>
            <a:ext cx="393192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7F0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36576" tIns="36576" rIns="36576" bIns="36576" anchor="ctr"/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5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내가 확인하려던 예정 항목을 Outlook에서 다시 입력해야 했다. 이 과업의 불편은 직접 경험이며, 공개 리뷰의 최저점인 Sync와 다른 근거다.</a:t>
            </a:r>
          </a:p>
        </p:txBody>
      </p:sp>
      <p:sp>
        <p:nvSpPr>
          <p:cNvPr id="39" name="TextBox 38">
            <a:extLst xmlns:a="http://schemas.openxmlformats.org/drawingml/2006/main">
              <a:ext uri="{FF2B5EF4-FFF2-40B4-BE49-F238E27FC236}">
                <a16:creationId xmlns:a16="http://schemas.microsoft.com/office/drawing/2014/main" id="{52B5C532-5C49-4BD2-9546-3AB3E0C6A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1728" y="3675887"/>
            <a:ext cx="3950208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UX 근본 원인과 v2</a:t>
            </a:r>
          </a:p>
        </p:txBody>
      </p:sp>
      <p:sp>
        <p:nvSpPr>
          <p:cNvPr id="40" name="Rounded Rectangle 39">
            <a:extLst xmlns:a="http://schemas.openxmlformats.org/drawingml/2006/main">
              <a:ext uri="{FF2B5EF4-FFF2-40B4-BE49-F238E27FC236}">
                <a16:creationId xmlns:a16="http://schemas.microsoft.com/office/drawing/2014/main" id="{4F2FAB2C-6216-44C4-8330-54D5B3272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1728" y="3968496"/>
            <a:ext cx="3950208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DF1E9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36576" tIns="36576" rIns="36576" bIns="36576" anchor="ctr"/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5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Sync는 은행 제휴와 서비스 범위에 좌우된다. 이번 과제에서는 화면으로 개선 가능한 재입력을 우선했다. 내부 원인은 단정하지 않고 UX 연결 부족을 가설로 둔다.</a:t>
            </a:r>
          </a:p>
        </p:txBody>
      </p:sp>
    </p:spTree>
    <p:extLst>
      <p:ext uri="{BB962C8B-B14F-4D97-AF65-F5344CB8AC3E}">
        <p14:creationId xmlns:p14="http://schemas.microsoft.com/office/powerpoint/2010/main" val="37473538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2FA0424-CC32-4871-84E3-FC950189C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007" y="304800"/>
            <a:ext cx="1055043" cy="200025"/>
          </a:xfrm>
          <a:prstGeom xmlns:a="http://schemas.openxmlformats.org/drawingml/2006/main" prst="roundRect">
            <a:avLst>
              <a:gd name="adj" fmla="val 63492"/>
            </a:avLst>
          </a:prstGeom>
          <a:solidFill xmlns:a="http://schemas.openxmlformats.org/drawingml/2006/main">
            <a:srgbClr val="2E332C"/>
          </a:solidFill>
        </p:spPr>
        <p:txBody>
          <a:bodyPr xmlns:a="http://schemas.openxmlformats.org/drawingml/2006/main" wrap="square" anchor="ctr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61DF141-910F-425D-AE00-5B6FF7C30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7957" y="342900"/>
            <a:ext cx="817165" cy="123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1:00 · 기획 40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BEBADD5-2762-4E63-9F1B-2FF64585E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330101"/>
            <a:ext cx="8290661" cy="1428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4 · 해결 방법 — UX/UI 기획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2B192CA3-048B-4918-92C8-01F4FC1DA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536377"/>
            <a:ext cx="8290661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1498597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 xmlns:a="http://schemas.openxmlformats.org/drawingml/2006/main"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A에서 전망을 읽고 B에서 근거를 확인한다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60" name="Text 58">
            <a:extLst xmlns:a="http://schemas.openxmlformats.org/drawingml/2006/main">
              <a:ext uri="{FF2B5EF4-FFF2-40B4-BE49-F238E27FC236}">
                <a16:creationId xmlns:a16="http://schemas.microsoft.com/office/drawing/2014/main" id="{99D7EA73-B179-4BC0-A7A3-D72472B58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4810125"/>
            <a:ext cx="5071491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5단계 · 5장 감점(상태관리 구현 · 가이드에 없는 화면) · 7장 기획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61" name="Text 59">
            <a:extLst xmlns:a="http://schemas.openxmlformats.org/drawingml/2006/main">
              <a:ext uri="{FF2B5EF4-FFF2-40B4-BE49-F238E27FC236}">
                <a16:creationId xmlns:a16="http://schemas.microsoft.com/office/drawing/2014/main" id="{6199DEBD-4394-4A6A-AD3E-1CB9495F5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0055" y="4810125"/>
            <a:ext cx="97914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07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62" name="TextBox 61">
            <a:extLst xmlns:a="http://schemas.openxmlformats.org/drawingml/2006/main">
              <a:ext uri="{FF2B5EF4-FFF2-40B4-BE49-F238E27FC236}">
                <a16:creationId xmlns:a16="http://schemas.microsoft.com/office/drawing/2014/main" id="{AB5903A3-80E7-458C-9B38-2E8103065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124712"/>
            <a:ext cx="2862072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화면 흐름</a:t>
            </a:r>
          </a:p>
        </p:txBody>
      </p:sp>
      <p:sp>
        <p:nvSpPr>
          <p:cNvPr id="63" name="Rounded Rectangle 62">
            <a:extLst xmlns:a="http://schemas.openxmlformats.org/drawingml/2006/main">
              <a:ext uri="{FF2B5EF4-FFF2-40B4-BE49-F238E27FC236}">
                <a16:creationId xmlns:a16="http://schemas.microsoft.com/office/drawing/2014/main" id="{22E444C3-DB2B-4B7D-982F-35C3C97E1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426464"/>
            <a:ext cx="2862072" cy="70408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7F0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36576" tIns="36576" rIns="36576" bIns="36576" anchor="ctr"/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2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A → B: Navigator.push</a:t>
            </a:r>
          </a:p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2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B 기간: TabBar / TabBarView</a:t>
            </a:r>
          </a:p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2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A/B → C/D: BottomSheet</a:t>
            </a:r>
          </a:p>
        </p:txBody>
      </p:sp>
      <p:pic>
        <p:nvPicPr>
          <p:cNvPr id="64" name="Picture 63">
            <a:extLst xmlns:a="http://schemas.openxmlformats.org/drawingml/2006/main">
              <a:ext uri="{FF2B5EF4-FFF2-40B4-BE49-F238E27FC236}">
                <a16:creationId xmlns:a16="http://schemas.microsoft.com/office/drawing/2014/main" id="{B10E7EEA-4096-42F5-9538-301B62D1C66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a373496a6e4bc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381293" y="2221991"/>
            <a:ext cx="1105325" cy="2395728"/>
          </a:xfrm>
          <a:prstGeom xmlns:a="http://schemas.openxmlformats.org/drawingml/2006/main" prst="rect">
            <a:avLst/>
          </a:prstGeom>
        </p:spPr>
      </p:pic>
      <p:graphicFrame>
        <p:nvGraphicFramePr>
          <p:cNvPr id="65" name="Table 64">
            <a:extLst xmlns:a="http://schemas.openxmlformats.org/drawingml/2006/main">
              <a:ext uri="{FF2B5EF4-FFF2-40B4-BE49-F238E27FC236}">
                <a16:creationId xmlns:a16="http://schemas.microsoft.com/office/drawing/2014/main" id="{02DBBCBD-AA1F-4730-B841-BD6F9C0371D0}"/>
              </a:ext>
            </a:extLst>
          </p:cNvPr>
          <p:cNvGraphicFramePr/>
          <p:nvPr/>
        </p:nvGraphicFramePr>
        <p:xfrm>
          <a:off xmlns:a="http://schemas.openxmlformats.org/drawingml/2006/main" x="3611880" y="1133856"/>
          <a:ext xmlns:a="http://schemas.openxmlformats.org/drawingml/2006/main" cx="4983480" cy="2176272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1737360"/>
                <a:gridCol w="2148840"/>
                <a:gridCol w="685800"/>
              </a:tblGrid>
              <a:tr h="256032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번호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Flutter 위젯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비즈니스 명칭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원칙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A-1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Scaffold / AppBar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현금흐름 홈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P04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A-2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Wrap / Card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통화별 계좌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P02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A-3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SegmentedButton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실제 / 전망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A-4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Row / Container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날짜별 잔액 예시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A-5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ListTile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등록 예정 항목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P07/P06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6" name="TextBox 65">
            <a:extLst xmlns:a="http://schemas.openxmlformats.org/drawingml/2006/main">
              <a:ext uri="{FF2B5EF4-FFF2-40B4-BE49-F238E27FC236}">
                <a16:creationId xmlns:a16="http://schemas.microsoft.com/office/drawing/2014/main" id="{DBFF205C-4CDE-450D-BAE4-30DBDD7D6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1880" y="3447288"/>
            <a:ext cx="24231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05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정보 전달 기준</a:t>
            </a:r>
          </a:p>
        </p:txBody>
      </p:sp>
      <p:sp>
        <p:nvSpPr>
          <p:cNvPr id="67" name="Rounded Rectangle 66">
            <a:extLst xmlns:a="http://schemas.openxmlformats.org/drawingml/2006/main">
              <a:ext uri="{FF2B5EF4-FFF2-40B4-BE49-F238E27FC236}">
                <a16:creationId xmlns:a16="http://schemas.microsoft.com/office/drawing/2014/main" id="{3A50D64D-C9EE-402A-ABC6-71DEF69D1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1880" y="3712463"/>
            <a:ext cx="2423160" cy="6126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7F0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36576" tIns="36576" rIns="36576" bIns="36576" anchor="ctr"/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3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A: 통화별 잔액과 목표일까지의 전망을 본다.</a:t>
            </a:r>
          </a:p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3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B: 어떤 예정 항목이 반영됐는지 확인한다.</a:t>
            </a:r>
          </a:p>
        </p:txBody>
      </p:sp>
      <p:sp>
        <p:nvSpPr>
          <p:cNvPr id="68" name="TextBox 67">
            <a:extLst xmlns:a="http://schemas.openxmlformats.org/drawingml/2006/main">
              <a:ext uri="{FF2B5EF4-FFF2-40B4-BE49-F238E27FC236}">
                <a16:creationId xmlns:a16="http://schemas.microsoft.com/office/drawing/2014/main" id="{72AC4360-6A1F-499B-8898-9509AC0BD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0488" y="3447288"/>
            <a:ext cx="2441448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05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디자인 가이드 / STATE</a:t>
            </a:r>
          </a:p>
        </p:txBody>
      </p:sp>
      <p:sp>
        <p:nvSpPr>
          <p:cNvPr id="69" name="Rounded Rectangle 68">
            <a:extLst xmlns:a="http://schemas.openxmlformats.org/drawingml/2006/main">
              <a:ext uri="{FF2B5EF4-FFF2-40B4-BE49-F238E27FC236}">
                <a16:creationId xmlns:a16="http://schemas.microsoft.com/office/drawing/2014/main" id="{671EE1DA-9153-4042-86A2-CE0240AA0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0488" y="3712463"/>
            <a:ext cx="2441448" cy="8869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7F0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36576" tIns="36576" rIns="36576" bIns="36576" anchor="ctr"/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3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실제·전망을 분명히 구분한다. 선택값은 화면 표시만 바꾼다.</a:t>
            </a:r>
          </a:p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3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STATE: 보기 A-3/A-4, 기간 B-2/B-3/B-6</a:t>
            </a:r>
          </a:p>
        </p:txBody>
      </p:sp>
    </p:spTree>
    <p:extLst>
      <p:ext uri="{BB962C8B-B14F-4D97-AF65-F5344CB8AC3E}">
        <p14:creationId xmlns:p14="http://schemas.microsoft.com/office/powerpoint/2010/main" val="93862842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DB0BA97-79D8-47B7-97CA-F0F729BB8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1568" y="304800"/>
            <a:ext cx="1564481" cy="200025"/>
          </a:xfrm>
          <a:prstGeom xmlns:a="http://schemas.openxmlformats.org/drawingml/2006/main" prst="roundRect">
            <a:avLst>
              <a:gd name="adj" fmla="val 63492"/>
            </a:avLst>
          </a:prstGeom>
          <a:solidFill xmlns:a="http://schemas.openxmlformats.org/drawingml/2006/main">
            <a:srgbClr val="2E332C"/>
          </a:solidFill>
        </p:spPr>
        <p:txBody>
          <a:bodyPr xmlns:a="http://schemas.openxmlformats.org/drawingml/2006/main" wrap="square" anchor="ctr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2064D8E-0A6D-416B-BE1B-85D6E83D8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8519" y="342900"/>
            <a:ext cx="1336792" cy="123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1:00 · 셀프 논증 기록 20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58442326-283C-47CC-92F9-49D58DC3B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330101"/>
            <a:ext cx="8290661" cy="1428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5 · 셀프 논증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82141256-33F0-4353-B0F7-EB6F3CF0E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536377"/>
            <a:ext cx="8290661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1498597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 xmlns:a="http://schemas.openxmlformats.org/drawingml/2006/main"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AI 반론 뒤 무엇을 유지하고 수정했는가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55" name="Text 53">
            <a:extLst xmlns:a="http://schemas.openxmlformats.org/drawingml/2006/main">
              <a:ext uri="{FF2B5EF4-FFF2-40B4-BE49-F238E27FC236}">
                <a16:creationId xmlns:a16="http://schemas.microsoft.com/office/drawing/2014/main" id="{00494819-07A8-44E7-8EEE-99B555918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4810125"/>
            <a:ext cx="5119309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7단계 · 7장 셀프 논증 기록 20 · 8장 FAQ(AI 반론은 어떻게 받나)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6" name="Text 54">
            <a:extLst xmlns:a="http://schemas.openxmlformats.org/drawingml/2006/main">
              <a:ext uri="{FF2B5EF4-FFF2-40B4-BE49-F238E27FC236}">
                <a16:creationId xmlns:a16="http://schemas.microsoft.com/office/drawing/2014/main" id="{3ACDF5E5-5C8F-4DE5-9E9E-B80F145C4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0055" y="4810125"/>
            <a:ext cx="97914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08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graphicFrame>
        <p:nvGraphicFramePr>
          <p:cNvPr id="57" name="Table 56">
            <a:extLst xmlns:a="http://schemas.openxmlformats.org/drawingml/2006/main">
              <a:ext uri="{FF2B5EF4-FFF2-40B4-BE49-F238E27FC236}">
                <a16:creationId xmlns:a16="http://schemas.microsoft.com/office/drawing/2014/main" id="{5BE48E08-2F47-4A3B-BF99-5D62E1D29885}"/>
              </a:ext>
            </a:extLst>
          </p:cNvPr>
          <p:cNvGraphicFramePr/>
          <p:nvPr/>
        </p:nvGraphicFramePr>
        <p:xfrm>
          <a:off xmlns:a="http://schemas.openxmlformats.org/drawingml/2006/main" x="502920" y="1124712"/>
          <a:ext xmlns:a="http://schemas.openxmlformats.org/drawingml/2006/main" cx="8138159" cy="1801368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1874519"/>
                <a:gridCol w="1965960"/>
                <a:gridCol w="2331720"/>
                <a:gridCol w="1097280"/>
              </a:tblGrid>
              <a:tr h="256032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쟁점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내 주장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반론 (AI·나)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수정 / 재반론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결론·근거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반복 항목 재입력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등록한 Planned Payment를 전망에서 재사용한다.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AI: Sync가 더 넓은 문제 아닌가?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나: 제휴 범위에 좌우된다.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직접 겪은 재입력 경험을 우선하고 Sync는 보조 발견으로 남긴다.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유지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P07/P06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개인 관찰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32104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예상 잔액의 오해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“예상” 안내로 한계를 알 수 있다.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AI: 사용자가 보장 잔액으로 읽을 수 있다.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나: 숫자가 경고보다 먼저 보인다.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고정 예시 전망·기준일·기간·포함/제외를 함께 표시하고 실제/예상을 구분한다.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수정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P01/P10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추가 논증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8" name="TextBox 57">
            <a:extLst xmlns:a="http://schemas.openxmlformats.org/drawingml/2006/main">
              <a:ext uri="{FF2B5EF4-FFF2-40B4-BE49-F238E27FC236}">
                <a16:creationId xmlns:a16="http://schemas.microsoft.com/office/drawing/2014/main" id="{6551AA22-8D14-44AE-B2C5-3FDE969E1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136392"/>
            <a:ext cx="30632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추가 논증 질문과 판단 · 10/29</a:t>
            </a:r>
          </a:p>
        </p:txBody>
      </p:sp>
      <p:sp>
        <p:nvSpPr>
          <p:cNvPr id="59" name="Rounded Rectangle 58">
            <a:extLst xmlns:a="http://schemas.openxmlformats.org/drawingml/2006/main">
              <a:ext uri="{FF2B5EF4-FFF2-40B4-BE49-F238E27FC236}">
                <a16:creationId xmlns:a16="http://schemas.microsoft.com/office/drawing/2014/main" id="{791B0AE6-0ACE-46B7-9855-5D756C56E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47288"/>
            <a:ext cx="3063240" cy="11704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6EDE5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36576" tIns="36576" rIns="36576" bIns="36576" anchor="ctr"/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3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“예정 항목을 재사용하면 어떤 위험이 남을까?”</a:t>
            </a:r>
          </a:p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3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반론: 재사용만으로 전망의 신뢰성이 보장되지는 않는다.</a:t>
            </a:r>
          </a:p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3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판단: 범위는 유지하고 예시·가정을 함께 표시한다.</a:t>
            </a:r>
          </a:p>
        </p:txBody>
      </p:sp>
      <p:sp>
        <p:nvSpPr>
          <p:cNvPr id="60" name="Rounded Rectangle 59">
            <a:extLst xmlns:a="http://schemas.openxmlformats.org/drawingml/2006/main">
              <a:ext uri="{FF2B5EF4-FFF2-40B4-BE49-F238E27FC236}">
                <a16:creationId xmlns:a16="http://schemas.microsoft.com/office/drawing/2014/main" id="{54DC1EBD-7953-42B2-AF1A-C2A678BC6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9896" y="3136392"/>
            <a:ext cx="2377440" cy="21031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5C7457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" tIns="13716" rIns="13716" bIns="13716" anchor="ctr"/>
          <a:lstStyle xmlns:a="http://schemas.openxmlformats.org/drawingml/2006/main"/>
          <a:p xmlns:a="http://schemas.openxmlformats.org/drawingml/2006/main">
            <a:pPr algn="ctr">
              <a:spcAft>
                <a:spcPts val="200"/>
              </a:spcAft>
              <a:buNone/>
            </a:pPr>
            <a:r>
              <a:rPr sz="10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전 · Wallet 예정 항목</a:t>
            </a:r>
          </a:p>
        </p:txBody>
      </p:sp>
      <p:sp>
        <p:nvSpPr>
          <p:cNvPr id="61" name="Rounded Rectangle 60">
            <a:extLst xmlns:a="http://schemas.openxmlformats.org/drawingml/2006/main">
              <a:ext uri="{FF2B5EF4-FFF2-40B4-BE49-F238E27FC236}">
                <a16:creationId xmlns:a16="http://schemas.microsoft.com/office/drawing/2014/main" id="{9BDB97CF-B471-4BEA-B0DB-27C8AB832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4496" y="3136392"/>
            <a:ext cx="2377440" cy="21031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5C7457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" tIns="13716" rIns="13716" bIns="13716" anchor="ctr"/>
          <a:lstStyle xmlns:a="http://schemas.openxmlformats.org/drawingml/2006/main"/>
          <a:p xmlns:a="http://schemas.openxmlformats.org/drawingml/2006/main">
            <a:pPr algn="ctr">
              <a:spcAft>
                <a:spcPts val="200"/>
              </a:spcAft>
              <a:buNone/>
            </a:pPr>
            <a:r>
              <a:rPr sz="10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후 · finaci A/B 재사용</a:t>
            </a:r>
          </a:p>
        </p:txBody>
      </p:sp>
      <p:pic>
        <p:nvPicPr>
          <p:cNvPr id="62" name="Picture 61">
            <a:extLst xmlns:a="http://schemas.openxmlformats.org/drawingml/2006/main">
              <a:ext uri="{FF2B5EF4-FFF2-40B4-BE49-F238E27FC236}">
                <a16:creationId xmlns:a16="http://schemas.microsoft.com/office/drawing/2014/main" id="{8255D8CE-088D-4517-A9BD-E5808FDA058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474289b1af4bff"/>
          <a:srcRect xmlns:a="http://schemas.openxmlformats.org/drawingml/2006/main" l="0" t="20000" r="0" b="250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437813" y="3438144"/>
            <a:ext cx="981604" cy="1170432"/>
          </a:xfrm>
          <a:prstGeom xmlns:a="http://schemas.openxmlformats.org/drawingml/2006/main" prst="rect">
            <a:avLst/>
          </a:prstGeom>
        </p:spPr>
      </p:pic>
      <p:pic>
        <p:nvPicPr>
          <p:cNvPr id="63" name="Picture 62">
            <a:extLst xmlns:a="http://schemas.openxmlformats.org/drawingml/2006/main">
              <a:ext uri="{FF2B5EF4-FFF2-40B4-BE49-F238E27FC236}">
                <a16:creationId xmlns:a16="http://schemas.microsoft.com/office/drawing/2014/main" id="{7B934D84-F2CE-4DC6-B83C-974A497F8E1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47bfbc5c614a9c"/>
          <a:srcRect xmlns:a="http://schemas.openxmlformats.org/drawingml/2006/main" l="0" t="15000" r="0" b="250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993210" y="3438144"/>
            <a:ext cx="900010" cy="117043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2529341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2FA0424-CC32-4871-84E3-FC950189C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007" y="304800"/>
            <a:ext cx="1055043" cy="200025"/>
          </a:xfrm>
          <a:prstGeom xmlns:a="http://schemas.openxmlformats.org/drawingml/2006/main" prst="roundRect">
            <a:avLst>
              <a:gd name="adj" fmla="val 63492"/>
            </a:avLst>
          </a:prstGeom>
          <a:solidFill xmlns:a="http://schemas.openxmlformats.org/drawingml/2006/main">
            <a:srgbClr val="2E332C"/>
          </a:solidFill>
        </p:spPr>
        <p:txBody>
          <a:bodyPr xmlns:a="http://schemas.openxmlformats.org/drawingml/2006/main" wrap="square" anchor="ctr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61DF141-910F-425D-AE00-5B6FF7C30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7957" y="342900"/>
            <a:ext cx="817165" cy="123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0:45 · UI 25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BEBADD5-2762-4E63-9F1B-2FF64585E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330101"/>
            <a:ext cx="8290661" cy="1428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6 · Flutter 기술을 활용한 기능 설명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2B192CA3-048B-4918-92C8-01F4FC1DA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536377"/>
            <a:ext cx="8290661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1498597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 xmlns:a="http://schemas.openxmlformats.org/drawingml/2006/main"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수업에서 배운 위젯으로 구현한 네 화면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60" name="Text 58">
            <a:extLst xmlns:a="http://schemas.openxmlformats.org/drawingml/2006/main">
              <a:ext uri="{FF2B5EF4-FFF2-40B4-BE49-F238E27FC236}">
                <a16:creationId xmlns:a16="http://schemas.microsoft.com/office/drawing/2014/main" id="{99D7EA73-B179-4BC0-A7A3-D72472B58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4810125"/>
            <a:ext cx="5071491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5단계 · 5장 감점(상태관리 구현 · 가이드에 없는 화면) · 7장 기획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61" name="Text 59">
            <a:extLst xmlns:a="http://schemas.openxmlformats.org/drawingml/2006/main">
              <a:ext uri="{FF2B5EF4-FFF2-40B4-BE49-F238E27FC236}">
                <a16:creationId xmlns:a16="http://schemas.microsoft.com/office/drawing/2014/main" id="{6199DEBD-4394-4A6A-AD3E-1CB9495F5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10125"/>
            <a:ext cx="411480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09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pic>
        <p:nvPicPr>
          <p:cNvPr id="62" name="Picture 61">
            <a:extLst xmlns:a="http://schemas.openxmlformats.org/drawingml/2006/main">
              <a:ext uri="{FF2B5EF4-FFF2-40B4-BE49-F238E27FC236}">
                <a16:creationId xmlns:a16="http://schemas.microsoft.com/office/drawing/2014/main" id="{7D3F38F5-D4D9-45E3-9EA1-69F54176BF7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54d2f936904d3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42949" y="1143000"/>
            <a:ext cx="1611580" cy="3493008"/>
          </a:xfrm>
          <a:prstGeom xmlns:a="http://schemas.openxmlformats.org/drawingml/2006/main" prst="rect">
            <a:avLst/>
          </a:prstGeom>
        </p:spPr>
      </p:pic>
      <p:graphicFrame>
        <p:nvGraphicFramePr>
          <p:cNvPr id="63" name="Table 62">
            <a:extLst xmlns:a="http://schemas.openxmlformats.org/drawingml/2006/main">
              <a:ext uri="{FF2B5EF4-FFF2-40B4-BE49-F238E27FC236}">
                <a16:creationId xmlns:a16="http://schemas.microsoft.com/office/drawing/2014/main" id="{19566EB8-0E5E-41D8-82EC-0CB666432382}"/>
              </a:ext>
            </a:extLst>
          </p:cNvPr>
          <p:cNvGraphicFramePr/>
          <p:nvPr/>
        </p:nvGraphicFramePr>
        <p:xfrm>
          <a:off xmlns:a="http://schemas.openxmlformats.org/drawingml/2006/main" x="2414016" y="1143000"/>
          <a:ext xmlns:a="http://schemas.openxmlformats.org/drawingml/2006/main" cx="6217920" cy="2276856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1832"/>
                <a:gridCol w="2468880"/>
                <a:gridCol w="2807208"/>
              </a:tblGrid>
              <a:tr h="265176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목적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사용한 Flutter 구성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보여 주는 동작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기본 구조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Scaffold / AppBar / Card / ListTile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목록과 금융 정보를 묶음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화면 이동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Navigator / TabBar / BottomSheet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쌓기·옆으로·덮기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데이터 상태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FutureBuilder + 상태 위젯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로딩·오류·빈 상태 / 목록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적응형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LayoutBuilder / Row / Column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창 너비로 1열/2열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표시 선택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StatefulWidget + setState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탭·필터·보기만 변경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>
            <a:extLst xmlns:a="http://schemas.openxmlformats.org/drawingml/2006/main">
              <a:ext uri="{FF2B5EF4-FFF2-40B4-BE49-F238E27FC236}">
                <a16:creationId xmlns:a16="http://schemas.microsoft.com/office/drawing/2014/main" id="{36689FEB-2992-420D-B98C-CD0E3BAB5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4016" y="3575304"/>
            <a:ext cx="62179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GET 요청은 lib/api.dart 한곳에 둔다</a:t>
            </a:r>
          </a:p>
        </p:txBody>
      </p:sp>
      <p:sp>
        <p:nvSpPr>
          <p:cNvPr id="65" name="Rounded Rectangle 64">
            <a:extLst xmlns:a="http://schemas.openxmlformats.org/drawingml/2006/main">
              <a:ext uri="{FF2B5EF4-FFF2-40B4-BE49-F238E27FC236}">
                <a16:creationId xmlns:a16="http://schemas.microsoft.com/office/drawing/2014/main" id="{5B903853-9FFC-4E4F-AEC4-E8BB03400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4016" y="3867912"/>
            <a:ext cx="6217920" cy="46634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7F0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36576" tIns="36576" rIns="36576" bIns="36576" anchor="ctr"/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2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res = await http.get(Uri.parse(url))</a:t>
            </a:r>
          </a:p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2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    .timeout(const Duration(seconds: 5));</a:t>
            </a:r>
          </a:p>
        </p:txBody>
      </p:sp>
      <p:sp>
        <p:nvSpPr>
          <p:cNvPr id="66" name="TextBox 65">
            <a:extLst xmlns:a="http://schemas.openxmlformats.org/drawingml/2006/main">
              <a:ext uri="{FF2B5EF4-FFF2-40B4-BE49-F238E27FC236}">
                <a16:creationId xmlns:a16="http://schemas.microsoft.com/office/drawing/2014/main" id="{6DD6A565-43BF-4B0E-862E-9682F19A0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4016" y="4453128"/>
            <a:ext cx="62179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05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고정 JSON 표시 · 실제 금융 계산 / 저장 / AI 호출 없음</a:t>
            </a:r>
          </a:p>
        </p:txBody>
      </p:sp>
    </p:spTree>
    <p:extLst>
      <p:ext uri="{BB962C8B-B14F-4D97-AF65-F5344CB8AC3E}">
        <p14:creationId xmlns:p14="http://schemas.microsoft.com/office/powerpoint/2010/main" val="213581183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20B31EC6-22AD-494D-998D-D9817923A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9886" y="304800"/>
            <a:ext cx="976164" cy="190500"/>
          </a:xfrm>
          <a:prstGeom xmlns:a="http://schemas.openxmlformats.org/drawingml/2006/main" prst="roundRect">
            <a:avLst>
              <a:gd name="adj" fmla="val 66667"/>
            </a:avLst>
          </a:prstGeom>
          <a:solidFill xmlns:a="http://schemas.openxmlformats.org/drawingml/2006/main">
            <a:srgbClr val="2E332C"/>
          </a:solidFill>
        </p:spPr>
        <p:txBody>
          <a:bodyPr xmlns:a="http://schemas.openxmlformats.org/drawingml/2006/main" wrap="square" anchor="ctr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496F875-825C-4822-B1F1-37674F19B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6836" y="342900"/>
            <a:ext cx="736708" cy="114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1:15 · UI 25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3F20C7CF-A034-44E4-8D78-60276D17F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330101"/>
            <a:ext cx="8290661" cy="1428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7 · 데모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D3ACE691-2996-481C-A713-30A71B8ED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536377"/>
            <a:ext cx="8290661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1498597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 xmlns:a="http://schemas.openxmlformats.org/drawingml/2006/main"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시연: 전망 확인 → 일정 확인 → 상황 비교 → 빠른 기록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51" name="Text 49">
            <a:extLst xmlns:a="http://schemas.openxmlformats.org/drawingml/2006/main">
              <a:ext uri="{FF2B5EF4-FFF2-40B4-BE49-F238E27FC236}">
                <a16:creationId xmlns:a16="http://schemas.microsoft.com/office/drawing/2014/main" id="{31B89F05-B39D-45BF-A389-AA587068D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4810125"/>
            <a:ext cx="6339060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6단계 · 6장 제출물 ①(README의 데모 영상 1분 또는 배포 URL) · 7장 UI 구현 25 · 발표 15(데모)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2" name="Text 50">
            <a:extLst xmlns:a="http://schemas.openxmlformats.org/drawingml/2006/main">
              <a:ext uri="{FF2B5EF4-FFF2-40B4-BE49-F238E27FC236}">
                <a16:creationId xmlns:a16="http://schemas.microsoft.com/office/drawing/2014/main" id="{CD91A2B6-7F37-4F57-8952-BD820096D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10125"/>
            <a:ext cx="411480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10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3" name="Rounded Rectangle 52">
            <a:extLst xmlns:a="http://schemas.openxmlformats.org/drawingml/2006/main">
              <a:ext uri="{FF2B5EF4-FFF2-40B4-BE49-F238E27FC236}">
                <a16:creationId xmlns:a16="http://schemas.microsoft.com/office/drawing/2014/main" id="{EBF0FFCB-2BE0-4C09-8A18-3FA4244F6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143000"/>
            <a:ext cx="1024128" cy="21031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5C7457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" tIns="13716" rIns="13716" bIns="13716" anchor="ctr"/>
          <a:lstStyle xmlns:a="http://schemas.openxmlformats.org/drawingml/2006/main"/>
          <a:p xmlns:a="http://schemas.openxmlformats.org/drawingml/2006/main">
            <a:pPr algn="ctr">
              <a:spcAft>
                <a:spcPts val="200"/>
              </a:spcAft>
              <a:buNone/>
            </a:pPr>
            <a:r>
              <a:rPr sz="9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A · 홈</a:t>
            </a:r>
          </a:p>
        </p:txBody>
      </p:sp>
      <p:pic>
        <p:nvPicPr>
          <p:cNvPr id="54" name="Picture 53">
            <a:extLst xmlns:a="http://schemas.openxmlformats.org/drawingml/2006/main">
              <a:ext uri="{FF2B5EF4-FFF2-40B4-BE49-F238E27FC236}">
                <a16:creationId xmlns:a16="http://schemas.microsoft.com/office/drawing/2014/main" id="{0177F906-0FB4-4F26-8823-0DEC42A9BA0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ba45124c68434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2920" y="1903079"/>
            <a:ext cx="1024128" cy="2219737"/>
          </a:xfrm>
          <a:prstGeom xmlns:a="http://schemas.openxmlformats.org/drawingml/2006/main" prst="rect">
            <a:avLst/>
          </a:prstGeom>
        </p:spPr>
      </p:pic>
      <p:sp>
        <p:nvSpPr>
          <p:cNvPr id="55" name="Rounded Rectangle 54">
            <a:extLst xmlns:a="http://schemas.openxmlformats.org/drawingml/2006/main">
              <a:ext uri="{FF2B5EF4-FFF2-40B4-BE49-F238E27FC236}">
                <a16:creationId xmlns:a16="http://schemas.microsoft.com/office/drawing/2014/main" id="{AFD5FDED-3001-46E1-A5CA-861CFBC97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6776" y="1143000"/>
            <a:ext cx="1024128" cy="21031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5C7457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" tIns="13716" rIns="13716" bIns="13716" anchor="ctr"/>
          <a:lstStyle xmlns:a="http://schemas.openxmlformats.org/drawingml/2006/main"/>
          <a:p xmlns:a="http://schemas.openxmlformats.org/drawingml/2006/main">
            <a:pPr algn="ctr">
              <a:spcAft>
                <a:spcPts val="200"/>
              </a:spcAft>
              <a:buNone/>
            </a:pPr>
            <a:r>
              <a:rPr sz="9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 · 일정</a:t>
            </a:r>
          </a:p>
        </p:txBody>
      </p:sp>
      <p:pic>
        <p:nvPicPr>
          <p:cNvPr id="56" name="Picture 55">
            <a:extLst xmlns:a="http://schemas.openxmlformats.org/drawingml/2006/main">
              <a:ext uri="{FF2B5EF4-FFF2-40B4-BE49-F238E27FC236}">
                <a16:creationId xmlns:a16="http://schemas.microsoft.com/office/drawing/2014/main" id="{EA0DACD2-B406-4F78-8AA1-0E6B0D03D5B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bdf0270016489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636776" y="1903079"/>
            <a:ext cx="1024128" cy="2219737"/>
          </a:xfrm>
          <a:prstGeom xmlns:a="http://schemas.openxmlformats.org/drawingml/2006/main" prst="rect">
            <a:avLst/>
          </a:prstGeom>
        </p:spPr>
      </p:pic>
      <p:sp>
        <p:nvSpPr>
          <p:cNvPr id="57" name="Rounded Rectangle 56">
            <a:extLst xmlns:a="http://schemas.openxmlformats.org/drawingml/2006/main">
              <a:ext uri="{FF2B5EF4-FFF2-40B4-BE49-F238E27FC236}">
                <a16:creationId xmlns:a16="http://schemas.microsoft.com/office/drawing/2014/main" id="{3C03D10E-E667-498E-8037-4E098657A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0632" y="1143000"/>
            <a:ext cx="1024128" cy="21031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5C7457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" tIns="13716" rIns="13716" bIns="13716" anchor="ctr"/>
          <a:lstStyle xmlns:a="http://schemas.openxmlformats.org/drawingml/2006/main"/>
          <a:p xmlns:a="http://schemas.openxmlformats.org/drawingml/2006/main">
            <a:pPr algn="ctr">
              <a:spcAft>
                <a:spcPts val="200"/>
              </a:spcAft>
              <a:buNone/>
            </a:pPr>
            <a:r>
              <a:rPr sz="9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C · 비교</a:t>
            </a:r>
          </a:p>
        </p:txBody>
      </p:sp>
      <p:pic>
        <p:nvPicPr>
          <p:cNvPr id="58" name="Picture 57">
            <a:extLst xmlns:a="http://schemas.openxmlformats.org/drawingml/2006/main">
              <a:ext uri="{FF2B5EF4-FFF2-40B4-BE49-F238E27FC236}">
                <a16:creationId xmlns:a16="http://schemas.microsoft.com/office/drawing/2014/main" id="{E43F5BCD-1B0D-4AE3-B6A6-58CC6EABB80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22fb8f8bfb4ec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70632" y="1903079"/>
            <a:ext cx="1024128" cy="2219737"/>
          </a:xfrm>
          <a:prstGeom xmlns:a="http://schemas.openxmlformats.org/drawingml/2006/main" prst="rect">
            <a:avLst/>
          </a:prstGeom>
        </p:spPr>
      </p:pic>
      <p:sp>
        <p:nvSpPr>
          <p:cNvPr id="59" name="Rounded Rectangle 58">
            <a:extLst xmlns:a="http://schemas.openxmlformats.org/drawingml/2006/main">
              <a:ext uri="{FF2B5EF4-FFF2-40B4-BE49-F238E27FC236}">
                <a16:creationId xmlns:a16="http://schemas.microsoft.com/office/drawing/2014/main" id="{F26EA75F-96FD-42EB-BFCB-E244462B1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4487" y="1143000"/>
            <a:ext cx="1024128" cy="21031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5C7457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" tIns="13716" rIns="13716" bIns="13716" anchor="ctr"/>
          <a:lstStyle xmlns:a="http://schemas.openxmlformats.org/drawingml/2006/main"/>
          <a:p xmlns:a="http://schemas.openxmlformats.org/drawingml/2006/main">
            <a:pPr algn="ctr">
              <a:spcAft>
                <a:spcPts val="200"/>
              </a:spcAft>
              <a:buNone/>
            </a:pPr>
            <a:r>
              <a:rPr sz="9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D · 기록</a:t>
            </a:r>
          </a:p>
        </p:txBody>
      </p:sp>
      <p:pic>
        <p:nvPicPr>
          <p:cNvPr id="60" name="Picture 59">
            <a:extLst xmlns:a="http://schemas.openxmlformats.org/drawingml/2006/main">
              <a:ext uri="{FF2B5EF4-FFF2-40B4-BE49-F238E27FC236}">
                <a16:creationId xmlns:a16="http://schemas.microsoft.com/office/drawing/2014/main" id="{5D7B33EB-513B-4025-8E04-38D9E7E5464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f4671c122045e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904487" y="1903079"/>
            <a:ext cx="1024128" cy="2219737"/>
          </a:xfrm>
          <a:prstGeom xmlns:a="http://schemas.openxmlformats.org/drawingml/2006/main" prst="rect">
            <a:avLst/>
          </a:prstGeom>
        </p:spPr>
      </p:pic>
      <p:sp>
        <p:nvSpPr>
          <p:cNvPr id="61" name="TextBox 60">
            <a:extLst xmlns:a="http://schemas.openxmlformats.org/drawingml/2006/main">
              <a:ext uri="{FF2B5EF4-FFF2-40B4-BE49-F238E27FC236}">
                <a16:creationId xmlns:a16="http://schemas.microsoft.com/office/drawing/2014/main" id="{53BD5DBE-AFA6-4B57-8047-40D639CF7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5504" y="1124712"/>
            <a:ext cx="3456432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05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웹 데모 · Vercel</a:t>
            </a:r>
          </a:p>
        </p:txBody>
      </p:sp>
      <p:sp>
        <p:nvSpPr>
          <p:cNvPr id="62" name="Rounded Rectangle 61">
            <a:extLst xmlns:a="http://schemas.openxmlformats.org/drawingml/2006/main">
              <a:ext uri="{FF2B5EF4-FFF2-40B4-BE49-F238E27FC236}">
                <a16:creationId xmlns:a16="http://schemas.microsoft.com/office/drawing/2014/main" id="{B373F4F1-3149-49C1-838C-4622E036F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5504" y="1417320"/>
            <a:ext cx="3456432" cy="3840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7F0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36576" tIns="36576" rIns="36576" bIns="36576" anchor="ctr"/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00" b="0">
                <a:solidFill>
                  <a:srgbClr val="2E332C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245e868a00fd49fa"/>
              </a:rPr>
              <a:t>https://flying-fjord-n1xr8rj.tmp.now</a:t>
            </a:r>
          </a:p>
        </p:txBody>
      </p:sp>
      <p:graphicFrame>
        <p:nvGraphicFramePr>
          <p:cNvPr id="63" name="Table 62">
            <a:extLst xmlns:a="http://schemas.openxmlformats.org/drawingml/2006/main">
              <a:ext uri="{FF2B5EF4-FFF2-40B4-BE49-F238E27FC236}">
                <a16:creationId xmlns:a16="http://schemas.microsoft.com/office/drawing/2014/main" id="{07D6F37A-0979-4F4B-BEC8-18E64D4EB837}"/>
              </a:ext>
            </a:extLst>
          </p:cNvPr>
          <p:cNvGraphicFramePr/>
          <p:nvPr/>
        </p:nvGraphicFramePr>
        <p:xfrm>
          <a:off xmlns:a="http://schemas.openxmlformats.org/drawingml/2006/main" x="5175504" y="1938528"/>
          <a:ext xmlns:a="http://schemas.openxmlformats.org/drawingml/2006/main" cx="3456432" cy="260604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8368"/>
                <a:gridCol w="2798064"/>
              </a:tblGrid>
              <a:tr h="246888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확인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설명·시연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3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전환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Navigator / TabBar / BottomSheet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3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데이터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lib/api.dart의 GET, json-server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3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상태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FutureBuilder: 로딩·오류·빈 상태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3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적응형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LayoutBuilder: 390px / 1280px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3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원칙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P07 재사용, P01 고정 예시·가정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3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1분 순서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 0–12초 / B 12–27초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 27–40초 / D 40–52초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한계 52–60초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9936959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A92D5F8B-64D1-49D4-8A6D-6EE53177A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007" y="304800"/>
            <a:ext cx="1055043" cy="200025"/>
          </a:xfrm>
          <a:prstGeom xmlns:a="http://schemas.openxmlformats.org/drawingml/2006/main" prst="roundRect">
            <a:avLst>
              <a:gd name="adj" fmla="val 63492"/>
            </a:avLst>
          </a:prstGeom>
          <a:solidFill xmlns:a="http://schemas.openxmlformats.org/drawingml/2006/main">
            <a:srgbClr val="2E332C"/>
          </a:solidFill>
        </p:spPr>
        <p:txBody>
          <a:bodyPr xmlns:a="http://schemas.openxmlformats.org/drawingml/2006/main" wrap="square" anchor="ctr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3A37761-8D90-4BA4-AB14-5A825EB97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7957" y="342900"/>
            <a:ext cx="817165" cy="123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0:15 · 발표 15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6C99B9D2-73E7-4DDA-BF54-61CBFA410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330101"/>
            <a:ext cx="8290661" cy="1333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8 · 배움과 다음 단계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A42F47E2-6B5D-4B83-BB1E-815003094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526852"/>
            <a:ext cx="8290661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1498597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 xmlns:a="http://schemas.openxmlformats.org/drawingml/2006/main"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직접 써 보고, 우선순위를 좁히며 배운 점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5829FC69-3408-483B-B873-45BF34B48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4810125"/>
            <a:ext cx="3831095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7장 발표 15 · 8장 FAQ(AI 사용)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6354B6A0-2B62-42B1-8753-B8DC771B2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10125"/>
            <a:ext cx="411480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11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24" name="Rounded Rectangle 23">
            <a:extLst xmlns:a="http://schemas.openxmlformats.org/drawingml/2006/main">
              <a:ext uri="{FF2B5EF4-FFF2-40B4-BE49-F238E27FC236}">
                <a16:creationId xmlns:a16="http://schemas.microsoft.com/office/drawing/2014/main" id="{DF1E1739-B10F-4F61-B6EB-335DE1E96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143000"/>
            <a:ext cx="2642616" cy="21031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5C7457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" tIns="13716" rIns="13716" bIns="13716" anchor="ctr"/>
          <a:lstStyle xmlns:a="http://schemas.openxmlformats.org/drawingml/2006/main"/>
          <a:p xmlns:a="http://schemas.openxmlformats.org/drawingml/2006/main">
            <a:pPr algn="ctr">
              <a:spcAft>
                <a:spcPts val="200"/>
              </a:spcAft>
              <a:buNone/>
            </a:pPr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  배운 것</a:t>
            </a:r>
          </a:p>
        </p:txBody>
      </p:sp>
      <p:sp>
        <p:nvSpPr>
          <p:cNvPr id="25" name="Rounded Rectangle 24">
            <a:extLst xmlns:a="http://schemas.openxmlformats.org/drawingml/2006/main">
              <a:ext uri="{FF2B5EF4-FFF2-40B4-BE49-F238E27FC236}">
                <a16:creationId xmlns:a16="http://schemas.microsoft.com/office/drawing/2014/main" id="{2A38C87D-BE22-472D-AE1F-53FD2F286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36192"/>
            <a:ext cx="2642616" cy="17830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7F0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36576" tIns="36576" rIns="36576" bIns="36576" anchor="ctr"/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8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기록한 돈을 보는 일과 날짜별 생활비를 계획하는 일은 다르다.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85677589-A568-4BC1-961A-D4873D777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602736"/>
            <a:ext cx="2642616" cy="8778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2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같은 예정 항목을 전망에서 재사용하도록 설계했다.</a:t>
            </a:r>
          </a:p>
        </p:txBody>
      </p:sp>
      <p:sp>
        <p:nvSpPr>
          <p:cNvPr id="27" name="Rounded Rectangle 26">
            <a:extLst xmlns:a="http://schemas.openxmlformats.org/drawingml/2006/main">
              <a:ext uri="{FF2B5EF4-FFF2-40B4-BE49-F238E27FC236}">
                <a16:creationId xmlns:a16="http://schemas.microsoft.com/office/drawing/2014/main" id="{C2A3A5AE-8DBF-44F9-9F70-A68DE2CC2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1143000"/>
            <a:ext cx="2642616" cy="21031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5C7457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" tIns="13716" rIns="13716" bIns="13716" anchor="ctr"/>
          <a:lstStyle xmlns:a="http://schemas.openxmlformats.org/drawingml/2006/main"/>
          <a:p xmlns:a="http://schemas.openxmlformats.org/drawingml/2006/main">
            <a:pPr algn="ctr">
              <a:spcAft>
                <a:spcPts val="200"/>
              </a:spcAft>
              <a:buNone/>
            </a:pPr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  셀프 논증 회고</a:t>
            </a:r>
          </a:p>
        </p:txBody>
      </p:sp>
      <p:sp>
        <p:nvSpPr>
          <p:cNvPr id="28" name="Rounded Rectangle 27">
            <a:extLst xmlns:a="http://schemas.openxmlformats.org/drawingml/2006/main">
              <a:ext uri="{FF2B5EF4-FFF2-40B4-BE49-F238E27FC236}">
                <a16:creationId xmlns:a16="http://schemas.microsoft.com/office/drawing/2014/main" id="{874AB6A2-89A5-4010-ACC6-2C0254E2E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1536192"/>
            <a:ext cx="2642616" cy="17830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7F0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36576" tIns="36576" rIns="36576" bIns="36576" anchor="ctr"/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8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가장 넓은 문제보다 직접 확인하고 설명할 수 있는 문제를 우선했다.</a:t>
            </a: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23D851B7-A27A-4EB6-A8C6-9751A9E96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3602736"/>
            <a:ext cx="2642616" cy="8778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2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구두 의견은 기록된 설문 결과로 계산하지 않았다.</a:t>
            </a:r>
          </a:p>
        </p:txBody>
      </p:sp>
      <p:sp>
        <p:nvSpPr>
          <p:cNvPr id="30" name="Rounded Rectangle 29">
            <a:extLst xmlns:a="http://schemas.openxmlformats.org/drawingml/2006/main">
              <a:ext uri="{FF2B5EF4-FFF2-40B4-BE49-F238E27FC236}">
                <a16:creationId xmlns:a16="http://schemas.microsoft.com/office/drawing/2014/main" id="{3CC39479-D28E-4820-9F06-9EE64C522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1143000"/>
            <a:ext cx="2642616" cy="21031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5C7457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" tIns="13716" rIns="13716" bIns="13716" anchor="ctr"/>
          <a:lstStyle xmlns:a="http://schemas.openxmlformats.org/drawingml/2006/main"/>
          <a:p xmlns:a="http://schemas.openxmlformats.org/drawingml/2006/main">
            <a:pPr algn="ctr">
              <a:spcAft>
                <a:spcPts val="200"/>
              </a:spcAft>
              <a:buNone/>
            </a:pPr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3  다음 v3</a:t>
            </a:r>
          </a:p>
        </p:txBody>
      </p:sp>
      <p:sp>
        <p:nvSpPr>
          <p:cNvPr id="31" name="Rounded Rectangle 30">
            <a:extLst xmlns:a="http://schemas.openxmlformats.org/drawingml/2006/main">
              <a:ext uri="{FF2B5EF4-FFF2-40B4-BE49-F238E27FC236}">
                <a16:creationId xmlns:a16="http://schemas.microsoft.com/office/drawing/2014/main" id="{2857EFAE-B9BE-4804-8EED-41BD49840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1536192"/>
            <a:ext cx="2642616" cy="17830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7F0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36576" tIns="36576" rIns="36576" bIns="36576" anchor="ctr"/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8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사용자가 고정 예시 전망을 보장 잔액으로 오해하지 않는지 확인한다.</a:t>
            </a: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01F78B61-72AC-4C05-A914-0C688C8BD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602736"/>
            <a:ext cx="2642616" cy="8778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2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환율 변동·불규칙 지출·급여 지연 상황으로 검증한다.</a:t>
            </a:r>
          </a:p>
        </p:txBody>
      </p:sp>
    </p:spTree>
    <p:extLst>
      <p:ext uri="{BB962C8B-B14F-4D97-AF65-F5344CB8AC3E}">
        <p14:creationId xmlns:p14="http://schemas.microsoft.com/office/powerpoint/2010/main" val="186421882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4753EB1-B4B4-42F3-9243-FE676B96C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4235" y="304800"/>
            <a:ext cx="1661815" cy="200025"/>
          </a:xfrm>
          <a:prstGeom xmlns:a="http://schemas.openxmlformats.org/drawingml/2006/main" prst="roundRect">
            <a:avLst>
              <a:gd name="adj" fmla="val 63492"/>
            </a:avLst>
          </a:prstGeom>
          <a:solidFill xmlns:a="http://schemas.openxmlformats.org/drawingml/2006/main">
            <a:srgbClr val="2E332C"/>
          </a:solidFill>
        </p:spPr>
        <p:txBody>
          <a:bodyPr xmlns:a="http://schemas.openxmlformats.org/drawingml/2006/main" wrap="square" anchor="ctr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59949FF-DCDD-4831-81F4-032137DC2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1185" y="342900"/>
            <a:ext cx="1436072" cy="123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2:00 · 발표 15 (질의 응답)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148DAA86-1478-48F5-A007-BB4806479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330101"/>
            <a:ext cx="8290661" cy="1333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9 · Q&amp;A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5153AFE5-DDAB-49E0-97AE-43494CD8A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526852"/>
            <a:ext cx="8290661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1498597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 xmlns:a="http://schemas.openxmlformats.org/drawingml/2006/main"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질의응답 · 판단의 이유와 구현 범위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63" name="Text 61">
            <a:extLst xmlns:a="http://schemas.openxmlformats.org/drawingml/2006/main">
              <a:ext uri="{FF2B5EF4-FFF2-40B4-BE49-F238E27FC236}">
                <a16:creationId xmlns:a16="http://schemas.microsoft.com/office/drawing/2014/main" id="{A7BE6759-0FEB-47B5-A1B4-E35A2A0CD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4810125"/>
            <a:ext cx="4285750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8단계(질의 2분) · 7장 발표 15(질의 응답)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64" name="Text 62">
            <a:extLst xmlns:a="http://schemas.openxmlformats.org/drawingml/2006/main">
              <a:ext uri="{FF2B5EF4-FFF2-40B4-BE49-F238E27FC236}">
                <a16:creationId xmlns:a16="http://schemas.microsoft.com/office/drawing/2014/main" id="{985D3E2B-E081-4A99-B3AD-7079F9B0F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10125"/>
            <a:ext cx="411480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12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graphicFrame>
        <p:nvGraphicFramePr>
          <p:cNvPr id="65" name="Table 64">
            <a:extLst xmlns:a="http://schemas.openxmlformats.org/drawingml/2006/main">
              <a:ext uri="{FF2B5EF4-FFF2-40B4-BE49-F238E27FC236}">
                <a16:creationId xmlns:a16="http://schemas.microsoft.com/office/drawing/2014/main" id="{7A3D3C20-2F1E-42A9-B674-46ED1A7EFF2D}"/>
              </a:ext>
            </a:extLst>
          </p:cNvPr>
          <p:cNvGraphicFramePr/>
          <p:nvPr/>
        </p:nvGraphicFramePr>
        <p:xfrm>
          <a:off xmlns:a="http://schemas.openxmlformats.org/drawingml/2006/main" x="502920" y="1143000"/>
          <a:ext xmlns:a="http://schemas.openxmlformats.org/drawingml/2006/main" cx="5760720" cy="3346704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3291840"/>
              </a:tblGrid>
              <a:tr h="274320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예상 질문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답변과 근거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</a:tr>
              <a:tr h="1536192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4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왜 실제 예측·AI를 넣지 않았나요?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4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과제 범위는 UI다. 고정 GET 데이터와 미리 쓴 시나리오를 보여 준다. 실제 계산·AI 호출·저장은 구현하지 않았다.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4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근거: README / B1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536192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4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Goals가 핵심 문제를 흐리지 않나요?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4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목표는 A의 보조 카드다. 핵심은 예정 항목 재입력 감소다. 날짜별 전망의 사용 이유를 목표로 보여 준다.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4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근거: B5-1 / B2 P07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6" name="TextBox 65">
            <a:extLst xmlns:a="http://schemas.openxmlformats.org/drawingml/2006/main">
              <a:ext uri="{FF2B5EF4-FFF2-40B4-BE49-F238E27FC236}">
                <a16:creationId xmlns:a16="http://schemas.microsoft.com/office/drawing/2014/main" id="{54F35771-560F-4095-A9F6-820CB1C85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1143000"/>
            <a:ext cx="3657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2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B1</a:t>
            </a:r>
          </a:p>
        </p:txBody>
      </p:sp>
      <p:sp>
        <p:nvSpPr>
          <p:cNvPr id="67" name="Rounded Rectangle 66">
            <a:extLst xmlns:a="http://schemas.openxmlformats.org/drawingml/2006/main">
              <a:ext uri="{FF2B5EF4-FFF2-40B4-BE49-F238E27FC236}">
                <a16:creationId xmlns:a16="http://schemas.microsoft.com/office/drawing/2014/main" id="{18F4FB14-DFA7-493C-BAE4-8478AA5CE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2008" y="1143000"/>
            <a:ext cx="1709928" cy="5394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7F0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36576" tIns="36576" rIns="36576" bIns="36576" anchor="ctr"/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2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실행 화면·3상태·URL</a:t>
            </a:r>
          </a:p>
        </p:txBody>
      </p:sp>
      <p:sp>
        <p:nvSpPr>
          <p:cNvPr id="68" name="TextBox 67">
            <a:extLst xmlns:a="http://schemas.openxmlformats.org/drawingml/2006/main">
              <a:ext uri="{FF2B5EF4-FFF2-40B4-BE49-F238E27FC236}">
                <a16:creationId xmlns:a16="http://schemas.microsoft.com/office/drawing/2014/main" id="{117B6A42-FE3D-440B-A2EB-52A358A1F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1792224"/>
            <a:ext cx="3657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2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B2</a:t>
            </a:r>
          </a:p>
        </p:txBody>
      </p:sp>
      <p:sp>
        <p:nvSpPr>
          <p:cNvPr id="69" name="Rounded Rectangle 68">
            <a:extLst xmlns:a="http://schemas.openxmlformats.org/drawingml/2006/main">
              <a:ext uri="{FF2B5EF4-FFF2-40B4-BE49-F238E27FC236}">
                <a16:creationId xmlns:a16="http://schemas.microsoft.com/office/drawing/2014/main" id="{3945D746-4910-4AEC-8FD8-5F7D2C3C0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2008" y="1792224"/>
            <a:ext cx="1709928" cy="5394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7F0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36576" tIns="36576" rIns="36576" bIns="36576" anchor="ctr"/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2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원칙 카드 네 장</a:t>
            </a:r>
          </a:p>
        </p:txBody>
      </p:sp>
      <p:sp>
        <p:nvSpPr>
          <p:cNvPr id="70" name="TextBox 69">
            <a:extLst xmlns:a="http://schemas.openxmlformats.org/drawingml/2006/main">
              <a:ext uri="{FF2B5EF4-FFF2-40B4-BE49-F238E27FC236}">
                <a16:creationId xmlns:a16="http://schemas.microsoft.com/office/drawing/2014/main" id="{CF413D03-B4F5-4504-87ED-ADF863D2F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441448"/>
            <a:ext cx="3657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2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B3</a:t>
            </a:r>
          </a:p>
        </p:txBody>
      </p:sp>
      <p:sp>
        <p:nvSpPr>
          <p:cNvPr id="71" name="Rounded Rectangle 70">
            <a:extLst xmlns:a="http://schemas.openxmlformats.org/drawingml/2006/main">
              <a:ext uri="{FF2B5EF4-FFF2-40B4-BE49-F238E27FC236}">
                <a16:creationId xmlns:a16="http://schemas.microsoft.com/office/drawing/2014/main" id="{7C958A37-E225-42AE-A71C-CC8B5FA93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2008" y="2441448"/>
            <a:ext cx="1709928" cy="5394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7F0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36576" tIns="36576" rIns="36576" bIns="36576" anchor="ctr"/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2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AI 반론·내 판단</a:t>
            </a:r>
          </a:p>
        </p:txBody>
      </p:sp>
      <p:sp>
        <p:nvSpPr>
          <p:cNvPr id="72" name="TextBox 71">
            <a:extLst xmlns:a="http://schemas.openxmlformats.org/drawingml/2006/main">
              <a:ext uri="{FF2B5EF4-FFF2-40B4-BE49-F238E27FC236}">
                <a16:creationId xmlns:a16="http://schemas.microsoft.com/office/drawing/2014/main" id="{7E35B7F0-35D0-4D9B-9F87-DE7E6D1CC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090672"/>
            <a:ext cx="3657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2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B4</a:t>
            </a:r>
          </a:p>
        </p:txBody>
      </p:sp>
      <p:sp>
        <p:nvSpPr>
          <p:cNvPr id="73" name="Rounded Rectangle 72">
            <a:extLst xmlns:a="http://schemas.openxmlformats.org/drawingml/2006/main">
              <a:ext uri="{FF2B5EF4-FFF2-40B4-BE49-F238E27FC236}">
                <a16:creationId xmlns:a16="http://schemas.microsoft.com/office/drawing/2014/main" id="{A4C655D4-5F50-474C-92DC-5822F2174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2008" y="3090672"/>
            <a:ext cx="1709928" cy="5394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7F0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36576" tIns="36576" rIns="36576" bIns="36576" anchor="ctr"/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2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자가평가</a:t>
            </a:r>
          </a:p>
        </p:txBody>
      </p:sp>
      <p:sp>
        <p:nvSpPr>
          <p:cNvPr id="74" name="TextBox 73">
            <a:extLst xmlns:a="http://schemas.openxmlformats.org/drawingml/2006/main">
              <a:ext uri="{FF2B5EF4-FFF2-40B4-BE49-F238E27FC236}">
                <a16:creationId xmlns:a16="http://schemas.microsoft.com/office/drawing/2014/main" id="{E73C6FAF-EACF-4D1E-BBB5-B83AACF86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739896"/>
            <a:ext cx="3657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2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B5</a:t>
            </a:r>
          </a:p>
        </p:txBody>
      </p:sp>
      <p:sp>
        <p:nvSpPr>
          <p:cNvPr id="75" name="Rounded Rectangle 74">
            <a:extLst xmlns:a="http://schemas.openxmlformats.org/drawingml/2006/main">
              <a:ext uri="{FF2B5EF4-FFF2-40B4-BE49-F238E27FC236}">
                <a16:creationId xmlns:a16="http://schemas.microsoft.com/office/drawing/2014/main" id="{045B8DAF-E7F7-4242-9DAD-2846B8306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2008" y="3739896"/>
            <a:ext cx="1709928" cy="5394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7F0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36576" tIns="36576" rIns="36576" bIns="36576" anchor="ctr"/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2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기획·A/B/C/D 분석</a:t>
            </a:r>
          </a:p>
        </p:txBody>
      </p:sp>
    </p:spTree>
    <p:extLst>
      <p:ext uri="{BB962C8B-B14F-4D97-AF65-F5344CB8AC3E}">
        <p14:creationId xmlns:p14="http://schemas.microsoft.com/office/powerpoint/2010/main" val="145533288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5070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5317BF3-E3E9-4ED4-BD49-ACA423811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1341090"/>
            <a:ext cx="3886200" cy="1428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 b="1">
                <a:solidFill>
                  <a:srgbClr val="829A78"/>
                </a:solidFill>
                <a:latin typeface="Noto Sans KR"/>
                <a:ea typeface="Noto Sans KR"/>
                <a:cs typeface="Noto Sans KR"/>
              </a:rPr>
              <a:t>APPENDIX — Q&amp;A 2분에 펼치는 근거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6364210-2AB8-4239-B10C-06235B9C3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1547366"/>
            <a:ext cx="3886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erif KR"/>
                <a:ea typeface="Noto Serif KR"/>
                <a:cs typeface="Noto Serif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 xmlns:a="http://schemas.openxmlformats.org/drawingml/2006/main">
            <a:pPr marL="0" indent="0" algn="l">
              <a:lnSpc>
                <a:spcPts val="5400"/>
              </a:lnSpc>
              <a:spcAft>
                <a:spcPts val="1000"/>
              </a:spcAft>
              <a:buNone/>
              <a:defRPr>
                <a:latin typeface="Noto Serif KR"/>
                <a:ea typeface="Noto Serif KR"/>
                <a:cs typeface="Noto Serif KR"/>
              </a:defRPr>
            </a:pPr>
            <a:r>
              <a:rPr sz="5400" b="1">
                <a:solidFill>
                  <a:srgbClr val="829A78"/>
                </a:solidFill>
                <a:latin typeface="Noto Serif KR"/>
                <a:ea typeface="Noto Serif KR"/>
                <a:cs typeface="Noto Serif KR"/>
              </a:rPr>
              <a:t>부록</a:t>
            </a:r>
            <a:endParaRPr sz="54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3C652A5-4E89-475E-A4F5-8F4C60EA4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2360116"/>
            <a:ext cx="3810000" cy="118854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lnSpc>
                <a:spcPts val="312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37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본문 6분을 지키고 질의 때만 근거 자료를 연다</a:t>
            </a:r>
            <a:endParaRPr sz="237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8CA3CFCA-1B23-443A-8352-18E7912B5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3675608"/>
            <a:ext cx="3886200" cy="12665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lnSpc>
                <a:spcPts val="999"/>
              </a:lnSpc>
              <a:spcBef>
                <a:spcPts val="1000"/>
              </a:spcBef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00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화면·원칙·기획 근거를 질문에 맞춰 제시</a:t>
            </a:r>
            <a:endParaRPr sz="740">
              <a:latin typeface="Noto Sans KR"/>
              <a:ea typeface="Noto Sans KR"/>
              <a:cs typeface="Noto Sans KR"/>
            </a:endParaRP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41058918-CE6D-40D0-9D58-C31623F5D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1163836"/>
            <a:ext cx="3911501" cy="493961"/>
          </a:xfrm>
          <a:prstGeom xmlns:a="http://schemas.openxmlformats.org/drawingml/2006/main" prst="roundRect">
            <a:avLst>
              <a:gd name="adj" fmla="val 15426"/>
            </a:avLst>
          </a:prstGeom>
          <a:solidFill xmlns:a="http://schemas.openxmlformats.org/drawingml/2006/main">
            <a:srgbClr val="111827"/>
          </a:solidFill>
        </p:spPr>
        <p:txBody>
          <a:bodyPr xmlns:a="http://schemas.openxmlformats.org/drawingml/2006/main" wrap="square" anchor="ctr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AF8CC097-48CC-4AE7-8753-EF4942290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1168598"/>
            <a:ext cx="391150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C433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67271FA0-E031-49A2-AE6C-39DDFD255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1138" y="1163836"/>
            <a:ext cx="0" cy="49396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C433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5395C5A7-CEA5-46B1-AB3E-C1FBF0553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1653034"/>
            <a:ext cx="391150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C433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A1ECD58C-5C62-42E6-A95E-3F7F8E575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1163836"/>
            <a:ext cx="0" cy="49396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C745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4C9B8A5D-208B-45F3-9FA9-1E579EF9B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9450" y="1262211"/>
            <a:ext cx="3682174" cy="114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760" b="1">
                <a:solidFill>
                  <a:srgbClr val="829A78"/>
                </a:solidFill>
                <a:latin typeface="Noto Sans KR"/>
                <a:ea typeface="Noto Sans KR"/>
                <a:cs typeface="Noto Sans KR"/>
              </a:rPr>
              <a:t>B1 · 참조: 데모 및 스크린샷</a:t>
            </a:r>
            <a:endParaRPr sz="760">
              <a:latin typeface="Noto Sans KR"/>
              <a:ea typeface="Noto Sans KR"/>
              <a:cs typeface="Noto Sans KR"/>
            </a:endParaRP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AA4C0CBB-CD12-405C-8ACB-CCC3653A8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9450" y="1401812"/>
            <a:ext cx="3682174" cy="15760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lnSpc>
                <a:spcPts val="1242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E5EADF"/>
                </a:solidFill>
                <a:latin typeface="Noto Sans KR"/>
                <a:ea typeface="Noto Sans KR"/>
                <a:cs typeface="Noto Sans KR"/>
              </a:rPr>
              <a:t>전체 화면 캡처 · 빈 · 로딩 · 오류 상태 · 영상 링크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835224D2-4CAE-45B4-ABC5-03802D1A9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1746647"/>
            <a:ext cx="3911501" cy="493961"/>
          </a:xfrm>
          <a:prstGeom xmlns:a="http://schemas.openxmlformats.org/drawingml/2006/main" prst="roundRect">
            <a:avLst>
              <a:gd name="adj" fmla="val 15426"/>
            </a:avLst>
          </a:prstGeom>
          <a:solidFill xmlns:a="http://schemas.openxmlformats.org/drawingml/2006/main">
            <a:srgbClr val="111827"/>
          </a:solidFill>
        </p:spPr>
        <p:txBody>
          <a:bodyPr xmlns:a="http://schemas.openxmlformats.org/drawingml/2006/main" wrap="square" anchor="ctr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A87E673E-570F-424B-B28B-4FA26451F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1751409"/>
            <a:ext cx="391150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C433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A949D4C0-A796-450D-A0A8-1A342D537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1138" y="1746647"/>
            <a:ext cx="0" cy="49396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C433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D0D57262-F9D8-43F6-9168-E0BA74705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235845"/>
            <a:ext cx="391150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C433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F8303354-5ADC-4096-90FC-9E0C9B7A3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1746647"/>
            <a:ext cx="0" cy="49396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C745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C854EE44-8CDF-4742-A4E4-89BAD98EE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9450" y="1845022"/>
            <a:ext cx="3682174" cy="114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B2 · 원칙 카드 P07 / P06 / P01 / P10</a:t>
            </a:r>
            <a:endParaRPr sz="760">
              <a:latin typeface="Noto Sans KR"/>
              <a:ea typeface="Noto Sans KR"/>
              <a:cs typeface="Noto Sans KR"/>
            </a:endParaRP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1DE3B0CB-A182-48BA-A960-1A9555978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9450" y="1984623"/>
            <a:ext cx="3682174" cy="15760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lnSpc>
                <a:spcPts val="1242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E5EADF"/>
                </a:solidFill>
                <a:latin typeface="Noto Sans KR"/>
                <a:ea typeface="Noto Sans KR"/>
                <a:cs typeface="Noto Sans KR"/>
              </a:rPr>
              <a:t>고친 원칙마다 1장 — 원칙 · 근거 · 적용 · 시연 · 판단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10F29B32-5BC9-44DB-8708-A8C4D264C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329458"/>
            <a:ext cx="3911501" cy="484436"/>
          </a:xfrm>
          <a:prstGeom xmlns:a="http://schemas.openxmlformats.org/drawingml/2006/main" prst="roundRect">
            <a:avLst>
              <a:gd name="adj" fmla="val 15730"/>
            </a:avLst>
          </a:prstGeom>
          <a:solidFill xmlns:a="http://schemas.openxmlformats.org/drawingml/2006/main">
            <a:srgbClr val="111827"/>
          </a:solidFill>
        </p:spPr>
        <p:txBody>
          <a:bodyPr xmlns:a="http://schemas.openxmlformats.org/drawingml/2006/main" wrap="square" anchor="ctr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A8614C0D-9CC2-400B-A47F-80083F310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334220"/>
            <a:ext cx="391150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C433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6EE22DBA-0029-4BD1-814E-DA6EA74D0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1138" y="2329458"/>
            <a:ext cx="0" cy="48443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C433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476037BB-0FEE-45CD-A828-690096A99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809131"/>
            <a:ext cx="391150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C433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86866FAE-19EE-47E0-9835-A7A306BA7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329458"/>
            <a:ext cx="0" cy="48443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C745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E310DDF3-2880-4229-8AB7-15BEED470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9450" y="2427833"/>
            <a:ext cx="3682174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760" b="1">
                <a:solidFill>
                  <a:srgbClr val="829A78"/>
                </a:solidFill>
                <a:latin typeface="Noto Sans KR"/>
                <a:ea typeface="Noto Sans KR"/>
                <a:cs typeface="Noto Sans KR"/>
              </a:rPr>
              <a:t>B3 · prompt-log</a:t>
            </a:r>
            <a:endParaRPr sz="760">
              <a:latin typeface="Noto Sans KR"/>
              <a:ea typeface="Noto Sans KR"/>
              <a:cs typeface="Noto Sans KR"/>
            </a:endParaRPr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D6784626-97EE-4DD9-8D13-2C880BE81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9450" y="2557909"/>
            <a:ext cx="3682174" cy="15760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lnSpc>
                <a:spcPts val="1242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E5EADF"/>
                </a:solidFill>
                <a:latin typeface="Noto Sans KR"/>
                <a:ea typeface="Noto Sans KR"/>
                <a:cs typeface="Noto Sans KR"/>
              </a:rPr>
              <a:t>AI 지문 · 결과 · 내 판단(수용/수정/폐기) · 이유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416FEFC4-8021-4C6A-96FD-3B794AAF3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902744"/>
            <a:ext cx="3911501" cy="493961"/>
          </a:xfrm>
          <a:prstGeom xmlns:a="http://schemas.openxmlformats.org/drawingml/2006/main" prst="roundRect">
            <a:avLst>
              <a:gd name="adj" fmla="val 15426"/>
            </a:avLst>
          </a:prstGeom>
          <a:solidFill xmlns:a="http://schemas.openxmlformats.org/drawingml/2006/main">
            <a:srgbClr val="111827"/>
          </a:solidFill>
        </p:spPr>
        <p:txBody>
          <a:bodyPr xmlns:a="http://schemas.openxmlformats.org/drawingml/2006/main" wrap="square" anchor="ctr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00510E73-C9CF-4B6C-A1B1-B29D490A6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907506"/>
            <a:ext cx="391150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C433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A0947D20-88A8-43A1-BDB8-2B897538C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1138" y="2902744"/>
            <a:ext cx="0" cy="49396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C433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C602F8A3-AA8B-491F-BE99-32E1839D6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391942"/>
            <a:ext cx="391150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C433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A2295234-4435-4EAD-B749-A885BB842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902744"/>
            <a:ext cx="0" cy="49396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C745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05DD2ED0-2AE4-41CB-BF64-3386D7C04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9450" y="3001119"/>
            <a:ext cx="3682174" cy="114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760" b="1">
                <a:solidFill>
                  <a:srgbClr val="829A78"/>
                </a:solidFill>
                <a:latin typeface="Noto Sans KR"/>
                <a:ea typeface="Noto Sans KR"/>
                <a:cs typeface="Noto Sans KR"/>
              </a:rPr>
              <a:t>B4 · 자가평가 요약</a:t>
            </a:r>
            <a:endParaRPr sz="760">
              <a:latin typeface="Noto Sans KR"/>
              <a:ea typeface="Noto Sans KR"/>
              <a:cs typeface="Noto Sans KR"/>
            </a:endParaRPr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8091035B-14C9-4798-B8B6-99BCD2EC4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9450" y="3140720"/>
            <a:ext cx="3682174" cy="15760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lnSpc>
                <a:spcPts val="1242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E5EADF"/>
                </a:solidFill>
                <a:latin typeface="Noto Sans KR"/>
                <a:ea typeface="Noto Sans KR"/>
                <a:cs typeface="Noto Sans KR"/>
              </a:rPr>
              <a:t>제출 전 개인 점검 — 공개 배점 그대로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E3F62F4E-75AF-458C-87BE-A7018F12D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485555"/>
            <a:ext cx="3911501" cy="493961"/>
          </a:xfrm>
          <a:prstGeom xmlns:a="http://schemas.openxmlformats.org/drawingml/2006/main" prst="roundRect">
            <a:avLst>
              <a:gd name="adj" fmla="val 15426"/>
            </a:avLst>
          </a:prstGeom>
          <a:solidFill xmlns:a="http://schemas.openxmlformats.org/drawingml/2006/main">
            <a:srgbClr val="111827"/>
          </a:solidFill>
        </p:spPr>
        <p:txBody>
          <a:bodyPr xmlns:a="http://schemas.openxmlformats.org/drawingml/2006/main" wrap="square" anchor="ctr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5" name="Shape 33">
            <a:extLst xmlns:a="http://schemas.openxmlformats.org/drawingml/2006/main">
              <a:ext uri="{FF2B5EF4-FFF2-40B4-BE49-F238E27FC236}">
                <a16:creationId xmlns:a16="http://schemas.microsoft.com/office/drawing/2014/main" id="{A69063C7-D923-482E-A069-777EE6A5F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490317"/>
            <a:ext cx="391150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C433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22C3DF91-ABDA-437D-9970-C0B4E07A6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1138" y="3485555"/>
            <a:ext cx="0" cy="49396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C433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7" name="Shape 35">
            <a:extLst xmlns:a="http://schemas.openxmlformats.org/drawingml/2006/main">
              <a:ext uri="{FF2B5EF4-FFF2-40B4-BE49-F238E27FC236}">
                <a16:creationId xmlns:a16="http://schemas.microsoft.com/office/drawing/2014/main" id="{4751FFCF-CFEE-49EB-9EAF-1541A02D5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974753"/>
            <a:ext cx="391150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C433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8" name="Shape 36">
            <a:extLst xmlns:a="http://schemas.openxmlformats.org/drawingml/2006/main">
              <a:ext uri="{FF2B5EF4-FFF2-40B4-BE49-F238E27FC236}">
                <a16:creationId xmlns:a16="http://schemas.microsoft.com/office/drawing/2014/main" id="{7D7236DE-63D9-4856-A0B0-15C06531A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485555"/>
            <a:ext cx="0" cy="49396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A765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B41FD6AE-CE1A-4779-B5F4-4F656DB22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9450" y="3583930"/>
            <a:ext cx="3682174" cy="114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760" b="1">
                <a:solidFill>
                  <a:srgbClr val="F5B562"/>
                </a:solidFill>
                <a:latin typeface="Noto Sans KR"/>
                <a:ea typeface="Noto Sans KR"/>
                <a:cs typeface="Noto Sans KR"/>
              </a:rPr>
              <a:t>B5 · 기획 상세</a:t>
            </a:r>
            <a:endParaRPr sz="76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74BCC820-66B4-4148-9309-96133A273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9450" y="3723531"/>
            <a:ext cx="3682174" cy="15760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lnSpc>
                <a:spcPts val="1242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E5EADF"/>
                </a:solidFill>
                <a:latin typeface="Noto Sans KR"/>
                <a:ea typeface="Noto Sans KR"/>
                <a:cs typeface="Noto Sans KR"/>
              </a:rPr>
              <a:t>사업 요약 · 저니 · 피쉬본/5 Why · 화면별 요소 분석표 · 상태관리 포인트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5C34AE1E-8D7E-4198-9794-61050A54C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4800600"/>
            <a:ext cx="3690979" cy="114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750">
                <a:solidFill>
                  <a:srgbClr val="73796D"/>
                </a:solidFill>
                <a:latin typeface="Noto Sans KR"/>
                <a:ea typeface="Noto Sans KR"/>
                <a:cs typeface="Noto Sans KR"/>
              </a:rPr>
              <a:t>GAI3008-01 중간고사 발표 양식 v1.0.0 · 부록 층: 7주차 덱 부록 A2 · 기준: 중간고사_안내.md</a:t>
            </a:r>
            <a:endParaRPr sz="7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D587F28E-FBB8-4753-84A5-83C1523B4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9517" y="4800600"/>
            <a:ext cx="118863" cy="114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750">
                <a:solidFill>
                  <a:srgbClr val="73796D"/>
                </a:solidFill>
                <a:latin typeface="Noto Sans KR"/>
                <a:ea typeface="Noto Sans KR"/>
                <a:cs typeface="Noto Sans KR"/>
              </a:rPr>
              <a:t>B0</a:t>
            </a:r>
            <a:endParaRPr sz="750">
              <a:latin typeface="Noto Sans KR"/>
              <a:ea typeface="Noto Sans KR"/>
              <a:cs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61782098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ACFC5B8E-59A7-4531-98B9-C6E0C64F6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3123" y="304800"/>
            <a:ext cx="1272927" cy="200025"/>
          </a:xfrm>
          <a:prstGeom xmlns:a="http://schemas.openxmlformats.org/drawingml/2006/main" prst="roundRect">
            <a:avLst>
              <a:gd name="adj" fmla="val 63492"/>
            </a:avLst>
          </a:prstGeom>
          <a:solidFill xmlns:a="http://schemas.openxmlformats.org/drawingml/2006/main">
            <a:srgbClr val="2E332C"/>
          </a:solidFill>
        </p:spPr>
        <p:txBody>
          <a:bodyPr xmlns:a="http://schemas.openxmlformats.org/drawingml/2006/main" wrap="square" anchor="ctr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26DF0A34-B652-4158-9A4E-F4ADD6B77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0073" y="342900"/>
            <a:ext cx="1039407" cy="123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B1 · 질의 때만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CE6FD44D-1C20-46DB-8224-177A8EF96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330101"/>
            <a:ext cx="8290661" cy="1428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APPENDIX B1 — 데모·스크린샷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FD10F2C3-F062-4FE3-BB4A-FBC85F305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536377"/>
            <a:ext cx="8290661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1498597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 xmlns:a="http://schemas.openxmlformats.org/drawingml/2006/main"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finaci 실행 화면과 GET 세 상태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60" name="Text 58">
            <a:extLst xmlns:a="http://schemas.openxmlformats.org/drawingml/2006/main">
              <a:ext uri="{FF2B5EF4-FFF2-40B4-BE49-F238E27FC236}">
                <a16:creationId xmlns:a16="http://schemas.microsoft.com/office/drawing/2014/main" id="{630633A6-AFB8-482E-8D93-4DBD3A10A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4810125"/>
            <a:ext cx="4563704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6단계(로딩/오류/빈 상태 · 적응형) · 6장 제출물 ①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61" name="Text 59">
            <a:extLst xmlns:a="http://schemas.openxmlformats.org/drawingml/2006/main">
              <a:ext uri="{FF2B5EF4-FFF2-40B4-BE49-F238E27FC236}">
                <a16:creationId xmlns:a16="http://schemas.microsoft.com/office/drawing/2014/main" id="{19E966ED-6362-41FA-9B45-9A45C057D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0382" y="4810125"/>
            <a:ext cx="107781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B1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62" name="Rounded Rectangle 61">
            <a:extLst xmlns:a="http://schemas.openxmlformats.org/drawingml/2006/main">
              <a:ext uri="{FF2B5EF4-FFF2-40B4-BE49-F238E27FC236}">
                <a16:creationId xmlns:a16="http://schemas.microsoft.com/office/drawing/2014/main" id="{5263D292-BD0A-411A-8A59-225C4F474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124712"/>
            <a:ext cx="1554480" cy="21031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5C7457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" tIns="13716" rIns="13716" bIns="13716" anchor="ctr"/>
          <a:lstStyle xmlns:a="http://schemas.openxmlformats.org/drawingml/2006/main"/>
          <a:p xmlns:a="http://schemas.openxmlformats.org/drawingml/2006/main">
            <a:pPr algn="ctr">
              <a:spcAft>
                <a:spcPts val="200"/>
              </a:spcAft>
              <a:buNone/>
            </a:pPr>
            <a:r>
              <a:rPr sz="9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A · 홈</a:t>
            </a:r>
          </a:p>
        </p:txBody>
      </p:sp>
      <p:pic>
        <p:nvPicPr>
          <p:cNvPr id="63" name="Picture 62">
            <a:extLst xmlns:a="http://schemas.openxmlformats.org/drawingml/2006/main">
              <a:ext uri="{FF2B5EF4-FFF2-40B4-BE49-F238E27FC236}">
                <a16:creationId xmlns:a16="http://schemas.microsoft.com/office/drawing/2014/main" id="{5D6B2595-3257-4FAB-A41D-5A4D16DF0C9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31dce19cb9428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32109" y="1435608"/>
            <a:ext cx="696101" cy="1508760"/>
          </a:xfrm>
          <a:prstGeom xmlns:a="http://schemas.openxmlformats.org/drawingml/2006/main" prst="rect">
            <a:avLst/>
          </a:prstGeom>
        </p:spPr>
      </p:pic>
      <p:sp>
        <p:nvSpPr>
          <p:cNvPr id="64" name="Rounded Rectangle 63">
            <a:extLst xmlns:a="http://schemas.openxmlformats.org/drawingml/2006/main">
              <a:ext uri="{FF2B5EF4-FFF2-40B4-BE49-F238E27FC236}">
                <a16:creationId xmlns:a16="http://schemas.microsoft.com/office/drawing/2014/main" id="{814C0ED3-A3B9-461E-BC13-BCA3CA721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8840" y="1124712"/>
            <a:ext cx="1554480" cy="21031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5C7457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" tIns="13716" rIns="13716" bIns="13716" anchor="ctr"/>
          <a:lstStyle xmlns:a="http://schemas.openxmlformats.org/drawingml/2006/main"/>
          <a:p xmlns:a="http://schemas.openxmlformats.org/drawingml/2006/main">
            <a:pPr algn="ctr">
              <a:spcAft>
                <a:spcPts val="200"/>
              </a:spcAft>
              <a:buNone/>
            </a:pPr>
            <a:r>
              <a:rPr sz="9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 · 일정</a:t>
            </a:r>
          </a:p>
        </p:txBody>
      </p:sp>
      <p:pic>
        <p:nvPicPr>
          <p:cNvPr id="65" name="Picture 64">
            <a:extLst xmlns:a="http://schemas.openxmlformats.org/drawingml/2006/main">
              <a:ext uri="{FF2B5EF4-FFF2-40B4-BE49-F238E27FC236}">
                <a16:creationId xmlns:a16="http://schemas.microsoft.com/office/drawing/2014/main" id="{4250ABBB-7A0A-446A-BE0C-9CEB41FB04A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b77e2b3e2344c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578029" y="1435608"/>
            <a:ext cx="696101" cy="1508760"/>
          </a:xfrm>
          <a:prstGeom xmlns:a="http://schemas.openxmlformats.org/drawingml/2006/main" prst="rect">
            <a:avLst/>
          </a:prstGeom>
        </p:spPr>
      </p:pic>
      <p:sp>
        <p:nvSpPr>
          <p:cNvPr id="66" name="Rounded Rectangle 65">
            <a:extLst xmlns:a="http://schemas.openxmlformats.org/drawingml/2006/main">
              <a:ext uri="{FF2B5EF4-FFF2-40B4-BE49-F238E27FC236}">
                <a16:creationId xmlns:a16="http://schemas.microsoft.com/office/drawing/2014/main" id="{BA0DFCC2-4A34-478B-9F26-E26C7FD31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4760" y="1124712"/>
            <a:ext cx="1554480" cy="21031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5C7457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" tIns="13716" rIns="13716" bIns="13716" anchor="ctr"/>
          <a:lstStyle xmlns:a="http://schemas.openxmlformats.org/drawingml/2006/main"/>
          <a:p xmlns:a="http://schemas.openxmlformats.org/drawingml/2006/main">
            <a:pPr algn="ctr">
              <a:spcAft>
                <a:spcPts val="200"/>
              </a:spcAft>
              <a:buNone/>
            </a:pPr>
            <a:r>
              <a:rPr sz="9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C · 상황 비교</a:t>
            </a:r>
          </a:p>
        </p:txBody>
      </p:sp>
      <p:pic>
        <p:nvPicPr>
          <p:cNvPr id="67" name="Picture 66">
            <a:extLst xmlns:a="http://schemas.openxmlformats.org/drawingml/2006/main">
              <a:ext uri="{FF2B5EF4-FFF2-40B4-BE49-F238E27FC236}">
                <a16:creationId xmlns:a16="http://schemas.microsoft.com/office/drawing/2014/main" id="{B3B3AC1D-F7D2-4236-B845-9CD9D2DAC65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da910b467147a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223949" y="1435608"/>
            <a:ext cx="696101" cy="1508760"/>
          </a:xfrm>
          <a:prstGeom xmlns:a="http://schemas.openxmlformats.org/drawingml/2006/main" prst="rect">
            <a:avLst/>
          </a:prstGeom>
        </p:spPr>
      </p:pic>
      <p:sp>
        <p:nvSpPr>
          <p:cNvPr id="68" name="Rounded Rectangle 67">
            <a:extLst xmlns:a="http://schemas.openxmlformats.org/drawingml/2006/main">
              <a:ext uri="{FF2B5EF4-FFF2-40B4-BE49-F238E27FC236}">
                <a16:creationId xmlns:a16="http://schemas.microsoft.com/office/drawing/2014/main" id="{C603EA2E-4C57-4A82-BB24-350BD9BF3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0680" y="1124712"/>
            <a:ext cx="1554480" cy="21031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5C7457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" tIns="13716" rIns="13716" bIns="13716" anchor="ctr"/>
          <a:lstStyle xmlns:a="http://schemas.openxmlformats.org/drawingml/2006/main"/>
          <a:p xmlns:a="http://schemas.openxmlformats.org/drawingml/2006/main">
            <a:pPr algn="ctr">
              <a:spcAft>
                <a:spcPts val="200"/>
              </a:spcAft>
              <a:buNone/>
            </a:pPr>
            <a:r>
              <a:rPr sz="9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D · 빠른 기록</a:t>
            </a:r>
          </a:p>
        </p:txBody>
      </p:sp>
      <p:pic>
        <p:nvPicPr>
          <p:cNvPr id="69" name="Picture 68">
            <a:extLst xmlns:a="http://schemas.openxmlformats.org/drawingml/2006/main">
              <a:ext uri="{FF2B5EF4-FFF2-40B4-BE49-F238E27FC236}">
                <a16:creationId xmlns:a16="http://schemas.microsoft.com/office/drawing/2014/main" id="{6EE0BFB3-39D0-4CC7-8554-207BA5EC629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75e59736d34b9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869869" y="1435608"/>
            <a:ext cx="696101" cy="1508760"/>
          </a:xfrm>
          <a:prstGeom xmlns:a="http://schemas.openxmlformats.org/drawingml/2006/main" prst="rect">
            <a:avLst/>
          </a:prstGeom>
        </p:spPr>
      </p:pic>
      <p:sp>
        <p:nvSpPr>
          <p:cNvPr id="70" name="Rounded Rectangle 69">
            <a:extLst xmlns:a="http://schemas.openxmlformats.org/drawingml/2006/main">
              <a:ext uri="{FF2B5EF4-FFF2-40B4-BE49-F238E27FC236}">
                <a16:creationId xmlns:a16="http://schemas.microsoft.com/office/drawing/2014/main" id="{8F52FBBE-5901-4D76-866C-2697B06F0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1124712"/>
            <a:ext cx="1554480" cy="21031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5C7457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" tIns="13716" rIns="13716" bIns="13716" anchor="ctr"/>
          <a:lstStyle xmlns:a="http://schemas.openxmlformats.org/drawingml/2006/main"/>
          <a:p xmlns:a="http://schemas.openxmlformats.org/drawingml/2006/main">
            <a:pPr algn="ctr">
              <a:spcAft>
                <a:spcPts val="200"/>
              </a:spcAft>
              <a:buNone/>
            </a:pPr>
            <a:r>
              <a:rPr sz="9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넓은 화면</a:t>
            </a:r>
          </a:p>
        </p:txBody>
      </p:sp>
      <p:pic>
        <p:nvPicPr>
          <p:cNvPr id="71" name="Picture 70">
            <a:extLst xmlns:a="http://schemas.openxmlformats.org/drawingml/2006/main">
              <a:ext uri="{FF2B5EF4-FFF2-40B4-BE49-F238E27FC236}">
                <a16:creationId xmlns:a16="http://schemas.microsoft.com/office/drawing/2014/main" id="{E4A14DCD-34D2-4989-9A57-6019C8B17BE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9395ea156f423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086600" y="1643491"/>
            <a:ext cx="1554480" cy="1092993"/>
          </a:xfrm>
          <a:prstGeom xmlns:a="http://schemas.openxmlformats.org/drawingml/2006/main" prst="rect">
            <a:avLst/>
          </a:prstGeom>
        </p:spPr>
      </p:pic>
      <p:sp>
        <p:nvSpPr>
          <p:cNvPr id="72" name="Rounded Rectangle 71">
            <a:extLst xmlns:a="http://schemas.openxmlformats.org/drawingml/2006/main">
              <a:ext uri="{FF2B5EF4-FFF2-40B4-BE49-F238E27FC236}">
                <a16:creationId xmlns:a16="http://schemas.microsoft.com/office/drawing/2014/main" id="{58FFC95C-FE9C-4097-9721-B87B6CD50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154680"/>
            <a:ext cx="1737360" cy="21031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BA7657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" tIns="13716" rIns="13716" bIns="13716" anchor="ctr"/>
          <a:lstStyle xmlns:a="http://schemas.openxmlformats.org/drawingml/2006/main"/>
          <a:p xmlns:a="http://schemas.openxmlformats.org/drawingml/2006/main">
            <a:pPr algn="ctr">
              <a:spcAft>
                <a:spcPts val="200"/>
              </a:spcAft>
              <a:buNone/>
            </a:pPr>
            <a:r>
              <a:rPr sz="9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로딩</a:t>
            </a:r>
          </a:p>
        </p:txBody>
      </p:sp>
      <p:pic>
        <p:nvPicPr>
          <p:cNvPr id="73" name="Picture 72">
            <a:extLst xmlns:a="http://schemas.openxmlformats.org/drawingml/2006/main">
              <a:ext uri="{FF2B5EF4-FFF2-40B4-BE49-F238E27FC236}">
                <a16:creationId xmlns:a16="http://schemas.microsoft.com/office/drawing/2014/main" id="{C86E791F-FE32-4D92-AD40-AD2022F0F11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3e32b14ab9407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5121" y="3474720"/>
            <a:ext cx="1732957" cy="1088136"/>
          </a:xfrm>
          <a:prstGeom xmlns:a="http://schemas.openxmlformats.org/drawingml/2006/main" prst="rect">
            <a:avLst/>
          </a:prstGeom>
        </p:spPr>
      </p:pic>
      <p:sp>
        <p:nvSpPr>
          <p:cNvPr id="74" name="Rounded Rectangle 73">
            <a:extLst xmlns:a="http://schemas.openxmlformats.org/drawingml/2006/main">
              <a:ext uri="{FF2B5EF4-FFF2-40B4-BE49-F238E27FC236}">
                <a16:creationId xmlns:a16="http://schemas.microsoft.com/office/drawing/2014/main" id="{7A85C3B0-1168-453E-A26B-619978F92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9152" y="3154680"/>
            <a:ext cx="1737360" cy="21031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BA7657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" tIns="13716" rIns="13716" bIns="13716" anchor="ctr"/>
          <a:lstStyle xmlns:a="http://schemas.openxmlformats.org/drawingml/2006/main"/>
          <a:p xmlns:a="http://schemas.openxmlformats.org/drawingml/2006/main">
            <a:pPr algn="ctr">
              <a:spcAft>
                <a:spcPts val="200"/>
              </a:spcAft>
              <a:buNone/>
            </a:pPr>
            <a:r>
              <a:rPr sz="9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오류·재시도</a:t>
            </a:r>
          </a:p>
        </p:txBody>
      </p:sp>
      <p:pic>
        <p:nvPicPr>
          <p:cNvPr id="75" name="Picture 74">
            <a:extLst xmlns:a="http://schemas.openxmlformats.org/drawingml/2006/main">
              <a:ext uri="{FF2B5EF4-FFF2-40B4-BE49-F238E27FC236}">
                <a16:creationId xmlns:a16="http://schemas.microsoft.com/office/drawing/2014/main" id="{8DDA0AE8-D584-4B14-A0E8-B8FA029971B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848c34288c403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21110" y="3474720"/>
            <a:ext cx="1613443" cy="1088136"/>
          </a:xfrm>
          <a:prstGeom xmlns:a="http://schemas.openxmlformats.org/drawingml/2006/main" prst="rect">
            <a:avLst/>
          </a:prstGeom>
        </p:spPr>
      </p:pic>
      <p:sp>
        <p:nvSpPr>
          <p:cNvPr id="76" name="Rounded Rectangle 75">
            <a:extLst xmlns:a="http://schemas.openxmlformats.org/drawingml/2006/main">
              <a:ext uri="{FF2B5EF4-FFF2-40B4-BE49-F238E27FC236}">
                <a16:creationId xmlns:a16="http://schemas.microsoft.com/office/drawing/2014/main" id="{A431B5A4-7529-4B9D-B024-10DC852A0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5383" y="3154680"/>
            <a:ext cx="1737360" cy="21031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BA7657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" tIns="13716" rIns="13716" bIns="13716" anchor="ctr"/>
          <a:lstStyle xmlns:a="http://schemas.openxmlformats.org/drawingml/2006/main"/>
          <a:p xmlns:a="http://schemas.openxmlformats.org/drawingml/2006/main">
            <a:pPr algn="ctr">
              <a:spcAft>
                <a:spcPts val="200"/>
              </a:spcAft>
              <a:buNone/>
            </a:pPr>
            <a:r>
              <a:rPr sz="9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빈 상태</a:t>
            </a:r>
          </a:p>
        </p:txBody>
      </p:sp>
      <p:pic>
        <p:nvPicPr>
          <p:cNvPr id="77" name="Picture 76">
            <a:extLst xmlns:a="http://schemas.openxmlformats.org/drawingml/2006/main">
              <a:ext uri="{FF2B5EF4-FFF2-40B4-BE49-F238E27FC236}">
                <a16:creationId xmlns:a16="http://schemas.microsoft.com/office/drawing/2014/main" id="{6AAE1053-1A64-400B-8BFE-CD9293EC7A8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d616bfb87b4ee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248530" y="3474720"/>
            <a:ext cx="1671066" cy="1088136"/>
          </a:xfrm>
          <a:prstGeom xmlns:a="http://schemas.openxmlformats.org/drawingml/2006/main" prst="rect">
            <a:avLst/>
          </a:prstGeom>
        </p:spPr>
      </p:pic>
      <p:sp>
        <p:nvSpPr>
          <p:cNvPr id="78" name="TextBox 77">
            <a:extLst xmlns:a="http://schemas.openxmlformats.org/drawingml/2006/main">
              <a:ext uri="{FF2B5EF4-FFF2-40B4-BE49-F238E27FC236}">
                <a16:creationId xmlns:a16="http://schemas.microsoft.com/office/drawing/2014/main" id="{FC5E993F-6089-4908-AC0D-C98670FE4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3154680"/>
            <a:ext cx="2450592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실행·시연 링크</a:t>
            </a:r>
          </a:p>
        </p:txBody>
      </p:sp>
      <p:sp>
        <p:nvSpPr>
          <p:cNvPr id="79" name="Rounded Rectangle 78">
            <a:extLst xmlns:a="http://schemas.openxmlformats.org/drawingml/2006/main">
              <a:ext uri="{FF2B5EF4-FFF2-40B4-BE49-F238E27FC236}">
                <a16:creationId xmlns:a16="http://schemas.microsoft.com/office/drawing/2014/main" id="{D09C7A4B-8B38-4E40-B4ED-49846DC9C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3465576"/>
            <a:ext cx="2450592" cy="112471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7F0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36576" tIns="36576" rIns="36576" bIns="36576" anchor="ctr"/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A→B→C→D, 세 상태와 적응형</a:t>
            </a:r>
          </a:p>
        </p:txBody>
      </p:sp>
      <p:sp>
        <p:nvSpPr>
          <p:cNvPr id="80" name="TextBox 79">
            <a:extLst xmlns:a="http://schemas.openxmlformats.org/drawingml/2006/main">
              <a:ext uri="{FF2B5EF4-FFF2-40B4-BE49-F238E27FC236}">
                <a16:creationId xmlns:a16="http://schemas.microsoft.com/office/drawing/2014/main" id="{ED0ECA58-D6C5-4094-A2EE-B501DD4B9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8504" y="3822191"/>
            <a:ext cx="216712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7d9a39c1d7714289"/>
              </a:rPr>
              <a:t>웹 데모 · Vercel</a:t>
            </a:r>
          </a:p>
        </p:txBody>
      </p:sp>
      <p:sp>
        <p:nvSpPr>
          <p:cNvPr id="81" name="TextBox 80">
            <a:extLst xmlns:a="http://schemas.openxmlformats.org/drawingml/2006/main">
              <a:ext uri="{FF2B5EF4-FFF2-40B4-BE49-F238E27FC236}">
                <a16:creationId xmlns:a16="http://schemas.microsoft.com/office/drawing/2014/main" id="{01C8D5A6-4E81-42DE-9F46-21326A48A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8504" y="4096512"/>
            <a:ext cx="216712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9b5b6980a91c4402"/>
              </a:rPr>
              <a:t>GitHub 저장소</a:t>
            </a:r>
          </a:p>
        </p:txBody>
      </p:sp>
      <p:sp>
        <p:nvSpPr>
          <p:cNvPr id="82" name="TextBox 81">
            <a:extLst xmlns:a="http://schemas.openxmlformats.org/drawingml/2006/main">
              <a:ext uri="{FF2B5EF4-FFF2-40B4-BE49-F238E27FC236}">
                <a16:creationId xmlns:a16="http://schemas.microsoft.com/office/drawing/2014/main" id="{1DDA75CA-C589-49B7-82B9-FA14B66EE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8504" y="4370832"/>
            <a:ext cx="216712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75a7b7f1daf144cb"/>
              </a:rPr>
              <a:t>1분 데모 영상</a:t>
            </a:r>
          </a:p>
        </p:txBody>
      </p:sp>
    </p:spTree>
    <p:extLst>
      <p:ext uri="{BB962C8B-B14F-4D97-AF65-F5344CB8AC3E}">
        <p14:creationId xmlns:p14="http://schemas.microsoft.com/office/powerpoint/2010/main" val="21379430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4FFB982A-1E28-4BCB-947C-ED054DDAB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886" y="304800"/>
            <a:ext cx="1503164" cy="200025"/>
          </a:xfrm>
          <a:prstGeom xmlns:a="http://schemas.openxmlformats.org/drawingml/2006/main" prst="roundRect">
            <a:avLst>
              <a:gd name="adj" fmla="val 63492"/>
            </a:avLst>
          </a:prstGeom>
          <a:solidFill xmlns:a="http://schemas.openxmlformats.org/drawingml/2006/main">
            <a:srgbClr val="2E332C"/>
          </a:solidFill>
        </p:spPr>
        <p:txBody>
          <a:bodyPr xmlns:a="http://schemas.openxmlformats.org/drawingml/2006/main" wrap="square" anchor="ctr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5B4F261-8161-4665-835D-B6F4EB730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9836" y="342900"/>
            <a:ext cx="1274249" cy="123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B2 · 원칙 카드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10AE9524-CEB4-40B9-B452-3CC64A8AE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330101"/>
            <a:ext cx="8290661" cy="1428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APPENDIX B2 — 원칙 카드 1/4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05B4895D-5B92-44B3-A8D1-F44A574E0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536377"/>
            <a:ext cx="8290661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1498597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 xmlns:a="http://schemas.openxmlformats.org/drawingml/2006/main"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P07 · 유연성과 효율성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4F8E56F8-AA10-4CD8-98CC-146C806B6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4810125"/>
            <a:ext cx="4262827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4장 1 · 5 · 7단계 · 7주차 덱 부록 A4(원칙 카드 5칸)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7CC79587-7E63-45F2-8AC3-E360522A0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10125"/>
            <a:ext cx="411480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B2-P07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graphicFrame>
        <p:nvGraphicFramePr>
          <p:cNvPr id="44" name="Table 43">
            <a:extLst xmlns:a="http://schemas.openxmlformats.org/drawingml/2006/main">
              <a:ext uri="{FF2B5EF4-FFF2-40B4-BE49-F238E27FC236}">
                <a16:creationId xmlns:a16="http://schemas.microsoft.com/office/drawing/2014/main" id="{23526BC3-E1E6-4B53-A4A7-DC4347E10403}"/>
              </a:ext>
            </a:extLst>
          </p:cNvPr>
          <p:cNvGraphicFramePr/>
          <p:nvPr/>
        </p:nvGraphicFramePr>
        <p:xfrm>
          <a:off xmlns:a="http://schemas.openxmlformats.org/drawingml/2006/main" x="502920" y="1143000"/>
          <a:ext xmlns:a="http://schemas.openxmlformats.org/drawingml/2006/main" cx="5605272" cy="3392424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3232"/>
                <a:gridCol w="4892040"/>
              </a:tblGrid>
              <a:tr h="246888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칸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내용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원칙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자주 하는 작업을 빠르게 하고 반복 입력을 줄인다.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근거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개인 관찰: Planned Payments에 등록한 항목을 Outlook에서 다시 입력해야 했다. R01–R20에는 직접 해당 리뷰가 없다.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적용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A-5 / B-3에 같은 예정 항목의 날짜·이름·금액·통화를 표시한다. GET 응답만 보여 준다.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936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시연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A의 등록 항목과 B의 일정을 대조한다. 별도 입력 없이 같은 항목이 전망의 근거로 나타난다.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판단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유지. Bank Sync는 지역·제휴 범위에 좌우되므로 이번 우선 문제에서 제외한다.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5" name="TextBox 44">
            <a:extLst xmlns:a="http://schemas.openxmlformats.org/drawingml/2006/main">
              <a:ext uri="{FF2B5EF4-FFF2-40B4-BE49-F238E27FC236}">
                <a16:creationId xmlns:a16="http://schemas.microsoft.com/office/drawing/2014/main" id="{2B653A92-0425-48C0-8504-354E3DBF9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1143000"/>
            <a:ext cx="228600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05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근거 · Wallet / 개인 관찰</a:t>
            </a:r>
          </a:p>
        </p:txBody>
      </p:sp>
      <p:pic>
        <p:nvPicPr>
          <p:cNvPr id="46" name="Picture 45">
            <a:extLst xmlns:a="http://schemas.openxmlformats.org/drawingml/2006/main">
              <a:ext uri="{FF2B5EF4-FFF2-40B4-BE49-F238E27FC236}">
                <a16:creationId xmlns:a16="http://schemas.microsoft.com/office/drawing/2014/main" id="{1437532C-76D9-4F2D-BAB8-5F296AA411F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ea1985826f490d"/>
          <a:srcRect xmlns:a="http://schemas.openxmlformats.org/drawingml/2006/main" l="0" t="22000" r="0" b="240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949990" y="1508760"/>
            <a:ext cx="1077890" cy="1261872"/>
          </a:xfrm>
          <a:prstGeom xmlns:a="http://schemas.openxmlformats.org/drawingml/2006/main" prst="rect">
            <a:avLst/>
          </a:prstGeom>
        </p:spPr>
      </p:pic>
      <p:sp>
        <p:nvSpPr>
          <p:cNvPr id="47" name="TextBox 46">
            <a:extLst xmlns:a="http://schemas.openxmlformats.org/drawingml/2006/main">
              <a:ext uri="{FF2B5EF4-FFF2-40B4-BE49-F238E27FC236}">
                <a16:creationId xmlns:a16="http://schemas.microsoft.com/office/drawing/2014/main" id="{2887BC84-A100-4F42-A263-BB1C63D8D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3035808"/>
            <a:ext cx="228600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05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적용 · finaci 실행 UI</a:t>
            </a:r>
          </a:p>
        </p:txBody>
      </p:sp>
      <p:pic>
        <p:nvPicPr>
          <p:cNvPr id="48" name="Picture 47">
            <a:extLst xmlns:a="http://schemas.openxmlformats.org/drawingml/2006/main">
              <a:ext uri="{FF2B5EF4-FFF2-40B4-BE49-F238E27FC236}">
                <a16:creationId xmlns:a16="http://schemas.microsoft.com/office/drawing/2014/main" id="{72BE9E5E-B2EA-495D-B2AA-2A6B25825BA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37aca1171a458f"/>
          <a:srcRect xmlns:a="http://schemas.openxmlformats.org/drawingml/2006/main" l="0" t="14000" r="0" b="250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022101" y="3374136"/>
            <a:ext cx="933668" cy="123444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2164025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4FFB982A-1E28-4BCB-947C-ED054DDAB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886" y="304800"/>
            <a:ext cx="1503164" cy="200025"/>
          </a:xfrm>
          <a:prstGeom xmlns:a="http://schemas.openxmlformats.org/drawingml/2006/main" prst="roundRect">
            <a:avLst>
              <a:gd name="adj" fmla="val 63492"/>
            </a:avLst>
          </a:prstGeom>
          <a:solidFill xmlns:a="http://schemas.openxmlformats.org/drawingml/2006/main">
            <a:srgbClr val="2E332C"/>
          </a:solidFill>
        </p:spPr>
        <p:txBody>
          <a:bodyPr xmlns:a="http://schemas.openxmlformats.org/drawingml/2006/main" wrap="square" anchor="ctr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5B4F261-8161-4665-835D-B6F4EB730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9836" y="342900"/>
            <a:ext cx="1274249" cy="123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B2 · 원칙 카드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10AE9524-CEB4-40B9-B452-3CC64A8AE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330101"/>
            <a:ext cx="8290661" cy="1428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APPENDIX B2 — 원칙 카드 2/4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05B4895D-5B92-44B3-A8D1-F44A574E0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536377"/>
            <a:ext cx="8290661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1498597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 xmlns:a="http://schemas.openxmlformats.org/drawingml/2006/main"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P06 · 기억보다 재인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4F8E56F8-AA10-4CD8-98CC-146C806B6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4810125"/>
            <a:ext cx="4262827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4장 1 · 5 · 7단계 · 7주차 덱 부록 A4(원칙 카드 5칸)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7CC79587-7E63-45F2-8AC3-E360522A0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10125"/>
            <a:ext cx="411480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B2-P06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graphicFrame>
        <p:nvGraphicFramePr>
          <p:cNvPr id="44" name="Table 43">
            <a:extLst xmlns:a="http://schemas.openxmlformats.org/drawingml/2006/main">
              <a:ext uri="{FF2B5EF4-FFF2-40B4-BE49-F238E27FC236}">
                <a16:creationId xmlns:a16="http://schemas.microsoft.com/office/drawing/2014/main" id="{D49B4534-3EDB-4F9A-8BEF-FA62E4F3888A}"/>
              </a:ext>
            </a:extLst>
          </p:cNvPr>
          <p:cNvGraphicFramePr/>
          <p:nvPr/>
        </p:nvGraphicFramePr>
        <p:xfrm>
          <a:off xmlns:a="http://schemas.openxmlformats.org/drawingml/2006/main" x="502920" y="1143000"/>
          <a:ext xmlns:a="http://schemas.openxmlformats.org/drawingml/2006/main" cx="5605272" cy="3392424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3232"/>
                <a:gridCol w="4892040"/>
              </a:tblGrid>
              <a:tr h="246888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칸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내용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원칙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사용자가 이미 입력한 정보를 기억해 다시 옮기지 않도록 한다.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근거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개인 경험: Planned Payments와 Outlook이 분리되어 같은 예정 항목을 다시 입력했다. P07을 보조한다.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적용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A-5 / B-3에서 등록 출처, 날짜와 통화 금액을 같이 보여 포함된 항목을 알아보게 한다.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936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시연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A의 예정 수입·지출과 B 일정의 같은 항목명을 비교한다. 금액·날짜가 일관되게 나타난다.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판단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유지. 동일한 고정 GET 데이터를 두 화면에서 표현한다. 실제 저장·자동 연결은 구현하지 않는다.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5" name="TextBox 44">
            <a:extLst xmlns:a="http://schemas.openxmlformats.org/drawingml/2006/main">
              <a:ext uri="{FF2B5EF4-FFF2-40B4-BE49-F238E27FC236}">
                <a16:creationId xmlns:a16="http://schemas.microsoft.com/office/drawing/2014/main" id="{FDAB585B-69A0-40D3-9695-C8F2A638B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1143000"/>
            <a:ext cx="228600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05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근거 · Wallet / 개인 관찰</a:t>
            </a:r>
          </a:p>
        </p:txBody>
      </p:sp>
      <p:pic>
        <p:nvPicPr>
          <p:cNvPr id="46" name="Picture 45">
            <a:extLst xmlns:a="http://schemas.openxmlformats.org/drawingml/2006/main">
              <a:ext uri="{FF2B5EF4-FFF2-40B4-BE49-F238E27FC236}">
                <a16:creationId xmlns:a16="http://schemas.microsoft.com/office/drawing/2014/main" id="{A701205D-E087-4739-A5B2-D39AA2DB142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c9830be9b4432f"/>
          <a:srcRect xmlns:a="http://schemas.openxmlformats.org/drawingml/2006/main" l="0" t="22000" r="0" b="240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949990" y="1508760"/>
            <a:ext cx="1077890" cy="1261872"/>
          </a:xfrm>
          <a:prstGeom xmlns:a="http://schemas.openxmlformats.org/drawingml/2006/main" prst="rect">
            <a:avLst/>
          </a:prstGeom>
        </p:spPr>
      </p:pic>
      <p:sp>
        <p:nvSpPr>
          <p:cNvPr id="47" name="TextBox 46">
            <a:extLst xmlns:a="http://schemas.openxmlformats.org/drawingml/2006/main">
              <a:ext uri="{FF2B5EF4-FFF2-40B4-BE49-F238E27FC236}">
                <a16:creationId xmlns:a16="http://schemas.microsoft.com/office/drawing/2014/main" id="{20C8CF18-8EF1-47D6-AC8D-CEBC78BAE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3035808"/>
            <a:ext cx="228600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05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적용 · finaci 실행 UI</a:t>
            </a:r>
          </a:p>
        </p:txBody>
      </p:sp>
      <p:pic>
        <p:nvPicPr>
          <p:cNvPr id="48" name="Picture 47">
            <a:extLst xmlns:a="http://schemas.openxmlformats.org/drawingml/2006/main">
              <a:ext uri="{FF2B5EF4-FFF2-40B4-BE49-F238E27FC236}">
                <a16:creationId xmlns:a16="http://schemas.microsoft.com/office/drawing/2014/main" id="{DBBBB0CC-758F-45E2-A76C-31B82F8EAF6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982ba4c9a14b73"/>
          <a:srcRect xmlns:a="http://schemas.openxmlformats.org/drawingml/2006/main" l="0" t="14000" r="0" b="250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022101" y="3374136"/>
            <a:ext cx="933668" cy="123444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6123761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4FFB982A-1E28-4BCB-947C-ED054DDAB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886" y="304800"/>
            <a:ext cx="1503164" cy="200025"/>
          </a:xfrm>
          <a:prstGeom xmlns:a="http://schemas.openxmlformats.org/drawingml/2006/main" prst="roundRect">
            <a:avLst>
              <a:gd name="adj" fmla="val 63492"/>
            </a:avLst>
          </a:prstGeom>
          <a:solidFill xmlns:a="http://schemas.openxmlformats.org/drawingml/2006/main">
            <a:srgbClr val="2E332C"/>
          </a:solidFill>
        </p:spPr>
        <p:txBody>
          <a:bodyPr xmlns:a="http://schemas.openxmlformats.org/drawingml/2006/main" wrap="square" anchor="ctr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5B4F261-8161-4665-835D-B6F4EB730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9836" y="342900"/>
            <a:ext cx="1274249" cy="123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B2 · 원칙 카드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10AE9524-CEB4-40B9-B452-3CC64A8AE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330101"/>
            <a:ext cx="8290661" cy="1428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APPENDIX B2 — 원칙 카드 3/4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05B4895D-5B92-44B3-A8D1-F44A574E0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536377"/>
            <a:ext cx="8290661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1498597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 xmlns:a="http://schemas.openxmlformats.org/drawingml/2006/main"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P01 · 시스템 상태의 가시성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4F8E56F8-AA10-4CD8-98CC-146C806B6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4810125"/>
            <a:ext cx="4262827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4장 1 · 5 · 7단계 · 7주차 덱 부록 A4(원칙 카드 5칸)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7CC79587-7E63-45F2-8AC3-E360522A0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10125"/>
            <a:ext cx="411480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B2-P01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graphicFrame>
        <p:nvGraphicFramePr>
          <p:cNvPr id="44" name="Table 43">
            <a:extLst xmlns:a="http://schemas.openxmlformats.org/drawingml/2006/main">
              <a:ext uri="{FF2B5EF4-FFF2-40B4-BE49-F238E27FC236}">
                <a16:creationId xmlns:a16="http://schemas.microsoft.com/office/drawing/2014/main" id="{DA98F667-93FC-48EF-AF76-C97928713C96}"/>
              </a:ext>
            </a:extLst>
          </p:cNvPr>
          <p:cNvGraphicFramePr/>
          <p:nvPr/>
        </p:nvGraphicFramePr>
        <p:xfrm>
          <a:off xmlns:a="http://schemas.openxmlformats.org/drawingml/2006/main" x="502920" y="1143000"/>
          <a:ext xmlns:a="http://schemas.openxmlformats.org/drawingml/2006/main" cx="5605272" cy="3392424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3232"/>
                <a:gridCol w="4892040"/>
              </a:tblGrid>
              <a:tr h="246888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칸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내용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원칙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실제 상태와 고정 예시 전망, 데이터의 기준 시점과 범위를 분명히 보여 준다.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근거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추가 논증: “예상”이라는 단어만으로 숫자를 확정 잔액처럼 읽는 위험을 줄이기 어렵다.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적용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A-3/A-4, B-2/B-5/B-6에 고정 예시 전망·기간·포함/제외 항목을 가깝게 둔다.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936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시연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실제/전망을 전환하고 목표일까지의 날짜 범위를 확인한다. 기본·지연 두 예시를 비교한다.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판단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수정. 실제·전망을 나누고 가정을 금액 옆에 표시한다. 실제 사용자 이해 여부는 후속 검증한다.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5" name="TextBox 44">
            <a:extLst xmlns:a="http://schemas.openxmlformats.org/drawingml/2006/main">
              <a:ext uri="{FF2B5EF4-FFF2-40B4-BE49-F238E27FC236}">
                <a16:creationId xmlns:a16="http://schemas.microsoft.com/office/drawing/2014/main" id="{627340A6-48AE-4DD9-82BC-27732B14B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1143000"/>
            <a:ext cx="228600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05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고정 예시 전망의 표시</a:t>
            </a:r>
          </a:p>
        </p:txBody>
      </p:sp>
      <p:pic>
        <p:nvPicPr>
          <p:cNvPr id="46" name="Picture 45">
            <a:extLst xmlns:a="http://schemas.openxmlformats.org/drawingml/2006/main">
              <a:ext uri="{FF2B5EF4-FFF2-40B4-BE49-F238E27FC236}">
                <a16:creationId xmlns:a16="http://schemas.microsoft.com/office/drawing/2014/main" id="{6ED45436-E63F-4063-B46E-258E6A2B3A4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b870ab6c66487f"/>
          <a:srcRect xmlns:a="http://schemas.openxmlformats.org/drawingml/2006/main" l="0" t="35000" r="0" b="50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003774" y="1508760"/>
            <a:ext cx="970323" cy="1261872"/>
          </a:xfrm>
          <a:prstGeom xmlns:a="http://schemas.openxmlformats.org/drawingml/2006/main" prst="rect">
            <a:avLst/>
          </a:prstGeom>
        </p:spPr>
      </p:pic>
      <p:sp>
        <p:nvSpPr>
          <p:cNvPr id="47" name="TextBox 46">
            <a:extLst xmlns:a="http://schemas.openxmlformats.org/drawingml/2006/main">
              <a:ext uri="{FF2B5EF4-FFF2-40B4-BE49-F238E27FC236}">
                <a16:creationId xmlns:a16="http://schemas.microsoft.com/office/drawing/2014/main" id="{72822A11-50EC-44C9-A2EA-E1378BB54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3035808"/>
            <a:ext cx="228600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05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적용 · finaci 실행 UI</a:t>
            </a:r>
          </a:p>
        </p:txBody>
      </p:sp>
      <p:pic>
        <p:nvPicPr>
          <p:cNvPr id="48" name="Picture 47">
            <a:extLst xmlns:a="http://schemas.openxmlformats.org/drawingml/2006/main">
              <a:ext uri="{FF2B5EF4-FFF2-40B4-BE49-F238E27FC236}">
                <a16:creationId xmlns:a16="http://schemas.microsoft.com/office/drawing/2014/main" id="{0BAB906D-9710-493F-8566-4ACED4C4009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b870ab6c66487f"/>
          <a:srcRect xmlns:a="http://schemas.openxmlformats.org/drawingml/2006/main" l="0" t="14000" r="0" b="250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022101" y="3374136"/>
            <a:ext cx="933668" cy="123444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0849678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4FFB982A-1E28-4BCB-947C-ED054DDAB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886" y="304800"/>
            <a:ext cx="1503164" cy="200025"/>
          </a:xfrm>
          <a:prstGeom xmlns:a="http://schemas.openxmlformats.org/drawingml/2006/main" prst="roundRect">
            <a:avLst>
              <a:gd name="adj" fmla="val 63492"/>
            </a:avLst>
          </a:prstGeom>
          <a:solidFill xmlns:a="http://schemas.openxmlformats.org/drawingml/2006/main">
            <a:srgbClr val="2E332C"/>
          </a:solidFill>
        </p:spPr>
        <p:txBody>
          <a:bodyPr xmlns:a="http://schemas.openxmlformats.org/drawingml/2006/main" wrap="square" anchor="ctr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5B4F261-8161-4665-835D-B6F4EB730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9836" y="342900"/>
            <a:ext cx="1274249" cy="123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B2 · 원칙 카드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10AE9524-CEB4-40B9-B452-3CC64A8AE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330101"/>
            <a:ext cx="8290661" cy="1428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APPENDIX B2 — 원칙 카드 4/4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05B4895D-5B92-44B3-A8D1-F44A574E0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536377"/>
            <a:ext cx="8290661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1498597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 xmlns:a="http://schemas.openxmlformats.org/drawingml/2006/main"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P10 · 도움말과 문서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4F8E56F8-AA10-4CD8-98CC-146C806B6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4810125"/>
            <a:ext cx="4262827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4장 1 · 5 · 7단계 · 7주차 덱 부록 A4(원칙 카드 5칸)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7CC79587-7E63-45F2-8AC3-E360522A0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10125"/>
            <a:ext cx="411480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B2-P10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graphicFrame>
        <p:nvGraphicFramePr>
          <p:cNvPr id="44" name="Table 43">
            <a:extLst xmlns:a="http://schemas.openxmlformats.org/drawingml/2006/main">
              <a:ext uri="{FF2B5EF4-FFF2-40B4-BE49-F238E27FC236}">
                <a16:creationId xmlns:a16="http://schemas.microsoft.com/office/drawing/2014/main" id="{A0CA07B3-56BB-4D9F-B54B-1A186F827903}"/>
              </a:ext>
            </a:extLst>
          </p:cNvPr>
          <p:cNvGraphicFramePr/>
          <p:nvPr/>
        </p:nvGraphicFramePr>
        <p:xfrm>
          <a:off xmlns:a="http://schemas.openxmlformats.org/drawingml/2006/main" x="502920" y="1143000"/>
          <a:ext xmlns:a="http://schemas.openxmlformats.org/drawingml/2006/main" cx="5605272" cy="3392424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3232"/>
                <a:gridCol w="4892040"/>
              </a:tblGrid>
              <a:tr h="246888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칸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내용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원칙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기능의 목적과 가정을 필요한 곳에서 짧게 설명한다.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근거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C는 급여가 7일 늦는 고정 사례다. 실제 AI가 사용자의 재무 상태를 계산한 결과가 아니다.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적용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C-4/C-5에 사전 작성 예시 응답, 실제 AI·금융 조언 아님, 반영·제외 항목을 적는다.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936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시연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 BottomSheet를 열어 기본/지연 결과와 한계 안내를 확인하고 닫는다.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판단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유지. 외부 LLM/API를 호출하지 않고 미리 작성한 설명으로 UI만 시연한다.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5" name="TextBox 44">
            <a:extLst xmlns:a="http://schemas.openxmlformats.org/drawingml/2006/main">
              <a:ext uri="{FF2B5EF4-FFF2-40B4-BE49-F238E27FC236}">
                <a16:creationId xmlns:a16="http://schemas.microsoft.com/office/drawing/2014/main" id="{984FD32C-9E95-4A27-AE99-809FE8D1A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1143000"/>
            <a:ext cx="228600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05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고정 시나리오 질문·결과</a:t>
            </a:r>
          </a:p>
        </p:txBody>
      </p:sp>
      <p:pic>
        <p:nvPicPr>
          <p:cNvPr id="46" name="Picture 45">
            <a:extLst xmlns:a="http://schemas.openxmlformats.org/drawingml/2006/main">
              <a:ext uri="{FF2B5EF4-FFF2-40B4-BE49-F238E27FC236}">
                <a16:creationId xmlns:a16="http://schemas.microsoft.com/office/drawing/2014/main" id="{29F13747-5608-44FB-9F96-8D51292D1EB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94115c25a44cfc"/>
          <a:srcRect xmlns:a="http://schemas.openxmlformats.org/drawingml/2006/main" l="0" t="3000" r="0" b="400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978239" y="1508760"/>
            <a:ext cx="1021393" cy="1261872"/>
          </a:xfrm>
          <a:prstGeom xmlns:a="http://schemas.openxmlformats.org/drawingml/2006/main" prst="rect">
            <a:avLst/>
          </a:prstGeom>
        </p:spPr>
      </p:pic>
      <p:sp>
        <p:nvSpPr>
          <p:cNvPr id="47" name="TextBox 46">
            <a:extLst xmlns:a="http://schemas.openxmlformats.org/drawingml/2006/main">
              <a:ext uri="{FF2B5EF4-FFF2-40B4-BE49-F238E27FC236}">
                <a16:creationId xmlns:a16="http://schemas.microsoft.com/office/drawing/2014/main" id="{5441FE0F-C63F-4201-8843-0C48B15FF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3035808"/>
            <a:ext cx="228600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05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사전 작성 응답·가정 안내</a:t>
            </a:r>
          </a:p>
        </p:txBody>
      </p:sp>
      <p:pic>
        <p:nvPicPr>
          <p:cNvPr id="48" name="Picture 47">
            <a:extLst xmlns:a="http://schemas.openxmlformats.org/drawingml/2006/main">
              <a:ext uri="{FF2B5EF4-FFF2-40B4-BE49-F238E27FC236}">
                <a16:creationId xmlns:a16="http://schemas.microsoft.com/office/drawing/2014/main" id="{E7C00558-E98D-47C3-A593-C53C89D5691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94115c25a44cfc"/>
          <a:srcRect xmlns:a="http://schemas.openxmlformats.org/drawingml/2006/main" l="0" t="50000" r="0" b="30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83044" y="3374136"/>
            <a:ext cx="1211782" cy="123444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297558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D705D64-15F4-4C9D-9441-38BD3BDFB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3942" y="304800"/>
            <a:ext cx="672108" cy="200025"/>
          </a:xfrm>
          <a:prstGeom xmlns:a="http://schemas.openxmlformats.org/drawingml/2006/main" prst="roundRect">
            <a:avLst>
              <a:gd name="adj" fmla="val 63492"/>
            </a:avLst>
          </a:prstGeom>
          <a:solidFill xmlns:a="http://schemas.openxmlformats.org/drawingml/2006/main">
            <a:srgbClr val="2E332C"/>
          </a:solidFill>
        </p:spPr>
        <p:txBody>
          <a:bodyPr xmlns:a="http://schemas.openxmlformats.org/drawingml/2006/main" wrap="square" anchor="ctr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6F3296A-8020-4898-BBA6-9157005A0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0892" y="342900"/>
            <a:ext cx="426571" cy="123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B3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FD49AD3E-4689-4D90-95A6-8F9F94D22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330101"/>
            <a:ext cx="8290661" cy="1428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APPENDIX B3 — prompt-log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A2C90D12-7E0F-4591-9EBA-CA273B732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536377"/>
            <a:ext cx="8290661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1498597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 xmlns:a="http://schemas.openxmlformats.org/drawingml/2006/main"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AI 반론과 판단의 근거를 기록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74" name="Text 72">
            <a:extLst xmlns:a="http://schemas.openxmlformats.org/drawingml/2006/main">
              <a:ext uri="{FF2B5EF4-FFF2-40B4-BE49-F238E27FC236}">
                <a16:creationId xmlns:a16="http://schemas.microsoft.com/office/drawing/2014/main" id="{D82CACB0-BDB7-42A9-A01C-5F6E7719A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4810125"/>
            <a:ext cx="5464513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8장 FAQ("지문과 판정 결과를 기획 문서에 남긴다") · 5장 허용/감점 · 7주차 덱 부록 A5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75" name="Text 73">
            <a:extLst xmlns:a="http://schemas.openxmlformats.org/drawingml/2006/main">
              <a:ext uri="{FF2B5EF4-FFF2-40B4-BE49-F238E27FC236}">
                <a16:creationId xmlns:a16="http://schemas.microsoft.com/office/drawing/2014/main" id="{824479C8-6E5F-4B14-9C9A-2AD553D33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0382" y="4810125"/>
            <a:ext cx="107781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B3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graphicFrame>
        <p:nvGraphicFramePr>
          <p:cNvPr id="76" name="Table 75">
            <a:extLst xmlns:a="http://schemas.openxmlformats.org/drawingml/2006/main">
              <a:ext uri="{FF2B5EF4-FFF2-40B4-BE49-F238E27FC236}">
                <a16:creationId xmlns:a16="http://schemas.microsoft.com/office/drawing/2014/main" id="{994EF8B1-3755-4C9C-9EE1-EA62DE90C8E6}"/>
              </a:ext>
            </a:extLst>
          </p:cNvPr>
          <p:cNvGraphicFramePr/>
          <p:nvPr/>
        </p:nvGraphicFramePr>
        <p:xfrm>
          <a:off xmlns:a="http://schemas.openxmlformats.org/drawingml/2006/main" x="502920" y="1143000"/>
          <a:ext xmlns:a="http://schemas.openxmlformats.org/drawingml/2006/main" cx="8138158" cy="3273552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1874519"/>
                <a:gridCol w="1874519"/>
                <a:gridCol w="475488"/>
                <a:gridCol w="2423160"/>
                <a:gridCol w="987552"/>
              </a:tblGrid>
              <a:tr h="256032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날짜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요청 요약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AI 반론·제안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판단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이유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원칙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10/28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재입력과 Sync 중 우선 문제는?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Sync가 더 넓고 직접적인 문제일 수 있음.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유지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개인 경험을 우선. 제휴 범위는 통제하기 어려움.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P07/P06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10/29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재입력과 맞는 Nielsen은?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효율성 P07, 기억보다 재인 P06.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수용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P07 우선, P06 보조로 선택.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P07/P06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10/29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근본 원인을 어디까지 말할까?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내부 기술 원인은 미확인.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수정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UX 원인만 확정. Why3–5는 가설.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P07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10/28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전망의 기본 기간은?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30일이 한 달 계획에 간단함.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수정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사용자는 목표일까지를 선택. 7/30일도 제공.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P01/P07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10/29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중앙 +의 역할은?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실제 저장까지 구현하면 범위 초과.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유지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 BottomSheet. 선택만 바꾸고 저장 안 함.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P07/P10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10/29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예상 안내만으로 충분한가?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보장 잔액으로 읽힐 위험이 남음.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수정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고정 예시·기간·포함/제외·실제/전망 구분을 추가.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P01/P10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7" name="TextBox 76">
            <a:extLst xmlns:a="http://schemas.openxmlformats.org/drawingml/2006/main">
              <a:ext uri="{FF2B5EF4-FFF2-40B4-BE49-F238E27FC236}">
                <a16:creationId xmlns:a16="http://schemas.microsoft.com/office/drawing/2014/main" id="{804EC52F-8BAE-4A2D-A86B-34614A7D4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526280"/>
            <a:ext cx="81381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역사적 대화는 요약으로 표기. 마지막 행은 10/29 추가 논증이며 과거 대화로 소급하지 않는다. 전체 기록: docs/prompt-log.md</a:t>
            </a:r>
          </a:p>
        </p:txBody>
      </p:sp>
    </p:spTree>
    <p:extLst>
      <p:ext uri="{BB962C8B-B14F-4D97-AF65-F5344CB8AC3E}">
        <p14:creationId xmlns:p14="http://schemas.microsoft.com/office/powerpoint/2010/main" val="1349377487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28F205AA-8EA7-49C7-80D6-405013143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4295" y="304800"/>
            <a:ext cx="1421755" cy="200025"/>
          </a:xfrm>
          <a:prstGeom xmlns:a="http://schemas.openxmlformats.org/drawingml/2006/main" prst="roundRect">
            <a:avLst>
              <a:gd name="adj" fmla="val 63492"/>
            </a:avLst>
          </a:prstGeom>
          <a:solidFill xmlns:a="http://schemas.openxmlformats.org/drawingml/2006/main">
            <a:srgbClr val="2E332C"/>
          </a:solidFill>
        </p:spPr>
        <p:txBody>
          <a:bodyPr xmlns:a="http://schemas.openxmlformats.org/drawingml/2006/main" wrap="square" anchor="ctr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26F7E634-2A08-45E6-BAE2-648507A71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1245" y="342900"/>
            <a:ext cx="1191211" cy="123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B4 · 제출 전 점검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9F8E7003-5C30-4163-9973-DE9F3D2BB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330101"/>
            <a:ext cx="8290661" cy="1428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APPENDIX B4 — 자가평가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DDEA5871-E3E9-422D-87AC-356EBD5FB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536377"/>
            <a:ext cx="8290661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1498597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 xmlns:a="http://schemas.openxmlformats.org/drawingml/2006/main"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rubric 기준 자가평가와 남은 확인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145" name="Text 143">
            <a:extLst xmlns:a="http://schemas.openxmlformats.org/drawingml/2006/main">
              <a:ext uri="{FF2B5EF4-FFF2-40B4-BE49-F238E27FC236}">
                <a16:creationId xmlns:a16="http://schemas.microsoft.com/office/drawing/2014/main" id="{4F6CD8D6-2A6D-462A-AE7D-6CE1F103B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4810125"/>
            <a:ext cx="3577277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7장 평가(배점 그대로) · 5장 감점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146" name="Text 144">
            <a:extLst xmlns:a="http://schemas.openxmlformats.org/drawingml/2006/main">
              <a:ext uri="{FF2B5EF4-FFF2-40B4-BE49-F238E27FC236}">
                <a16:creationId xmlns:a16="http://schemas.microsoft.com/office/drawing/2014/main" id="{BBD3C385-4375-42F7-9515-22A30591E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0382" y="4810125"/>
            <a:ext cx="107781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B4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graphicFrame>
        <p:nvGraphicFramePr>
          <p:cNvPr id="147" name="Table 146">
            <a:extLst xmlns:a="http://schemas.openxmlformats.org/drawingml/2006/main">
              <a:ext uri="{FF2B5EF4-FFF2-40B4-BE49-F238E27FC236}">
                <a16:creationId xmlns:a16="http://schemas.microsoft.com/office/drawing/2014/main" id="{96E3845B-75E3-4A76-AC43-218706EF6F02}"/>
              </a:ext>
            </a:extLst>
          </p:cNvPr>
          <p:cNvGraphicFramePr/>
          <p:nvPr/>
        </p:nvGraphicFramePr>
        <p:xfrm>
          <a:off xmlns:a="http://schemas.openxmlformats.org/drawingml/2006/main" x="502920" y="1143000"/>
          <a:ext xmlns:a="http://schemas.openxmlformats.org/drawingml/2006/main" cx="7406640" cy="2889504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1691640"/>
                <a:gridCol w="393192"/>
                <a:gridCol w="3017520"/>
                <a:gridCol w="1143000"/>
                <a:gridCol w="658368"/>
              </a:tblGrid>
              <a:tr h="256032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영역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배점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확인 근거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위치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자가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기획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현행 분석·리뷰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리뷰20개·지역/플랫폼 구분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B5·review notes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 / 10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기획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앱 요약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목표·대상·문제·핵심 가치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B5-1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 / 5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기획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저니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목표·단계별 리뷰·감정·확장4줄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B5-2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 / 8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기획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Fishbone·5Why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여섯 관점·UX원인·가설 구분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B5-3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 / 5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기획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요소·기준·가이드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A/B/C/D 요소·위젯·원칙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B5-4A–D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 / 8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기획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STATE 포인트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변화 데이터·위치·위젯 표시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B5-5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 / 4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논증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주장·반론·결론·전후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추가 논증 포함, 근거 추적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B2·B3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 / 20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구현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GET·전환·3상태·적응형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25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UI-only·분석/빌드 확인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B1·README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23 / 25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발표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6분·데모·질의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15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덱/시연 준비, 실제 발표 전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본문·Q&amp;A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 / 15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8" name="TextBox 147">
            <a:extLst xmlns:a="http://schemas.openxmlformats.org/drawingml/2006/main">
              <a:ext uri="{FF2B5EF4-FFF2-40B4-BE49-F238E27FC236}">
                <a16:creationId xmlns:a16="http://schemas.microsoft.com/office/drawing/2014/main" id="{4C3E51CF-BA6D-471B-B0AA-93165C401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215384"/>
            <a:ext cx="81381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기본 자가평가 86 / 100 · 가산: +5 / 5 · Vercel 웹·GET 검증 · 합계 91 / 100 (잠정)</a:t>
            </a:r>
          </a:p>
        </p:txBody>
      </p:sp>
      <p:sp>
        <p:nvSpPr>
          <p:cNvPr id="149" name="TextBox 148">
            <a:extLst xmlns:a="http://schemas.openxmlformats.org/drawingml/2006/main">
              <a:ext uri="{FF2B5EF4-FFF2-40B4-BE49-F238E27FC236}">
                <a16:creationId xmlns:a16="http://schemas.microsoft.com/office/drawing/2014/main" id="{B84B0633-8B6B-4FAA-8F12-7900FF72A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562856"/>
            <a:ext cx="81381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발표 점수는 리허설·실제 질의 전의 예상치. 자동 검사 결과가 학습 이해나 교수 평가를 대신하지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1828933615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F56FDC2-729F-4D4B-B0F3-7C5506160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1679" y="304800"/>
            <a:ext cx="1394371" cy="200025"/>
          </a:xfrm>
          <a:prstGeom xmlns:a="http://schemas.openxmlformats.org/drawingml/2006/main" prst="roundRect">
            <a:avLst>
              <a:gd name="adj" fmla="val 63492"/>
            </a:avLst>
          </a:prstGeom>
          <a:solidFill xmlns:a="http://schemas.openxmlformats.org/drawingml/2006/main">
            <a:srgbClr val="2E332C"/>
          </a:solidFill>
        </p:spPr>
        <p:txBody>
          <a:bodyPr xmlns:a="http://schemas.openxmlformats.org/drawingml/2006/main" wrap="square" anchor="ctr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53C13C4-D6DD-4AAA-843D-AC37938CA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8629" y="342900"/>
            <a:ext cx="1163279" cy="123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B5-1 · 기획 상세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965B12C7-928A-44FB-BC65-0F420F9C4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330101"/>
            <a:ext cx="8290661" cy="1428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APPENDIX B5-1 — 사업 요약 1쪽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3104F418-9888-4845-AF99-09B6FE317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536377"/>
            <a:ext cx="8290661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1498597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 xmlns:a="http://schemas.openxmlformats.org/drawingml/2006/main"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누구의 돈 흐름을 어떻게 계획 가능하게 하는가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3A44D595-3F50-4418-B149-C058DA7BD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4810125"/>
            <a:ext cx="3904720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2단계 · 7장 기획 "사업 요약 5"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ABAB87C2-4539-4F2B-A029-5B4D8C363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3735" y="4810125"/>
            <a:ext cx="185961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B5-1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EDA672C2-0682-4C31-8CCC-037B9DCE5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143000"/>
            <a:ext cx="3995928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목표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19F36AC8-50F4-4BFC-A97D-5246DB995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1143000"/>
            <a:ext cx="3922776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대상 사용자 / prototype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922B3DEB-990A-4575-BF6E-796DAABEF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008376"/>
            <a:ext cx="3995928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해결할 문제</a:t>
            </a: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366E8E12-2A92-49EE-8556-9B95E826F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3008376"/>
            <a:ext cx="3922776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v2 핵심 가치</a:t>
            </a:r>
          </a:p>
        </p:txBody>
      </p:sp>
      <p:sp>
        <p:nvSpPr>
          <p:cNvPr id="28" name="Rounded Rectangle 27">
            <a:extLst xmlns:a="http://schemas.openxmlformats.org/drawingml/2006/main">
              <a:ext uri="{FF2B5EF4-FFF2-40B4-BE49-F238E27FC236}">
                <a16:creationId xmlns:a16="http://schemas.microsoft.com/office/drawing/2014/main" id="{F4A26514-E1A3-4EEE-8179-380F831CF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499616"/>
            <a:ext cx="3995928" cy="12618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7F0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36576" tIns="36576" rIns="36576" bIns="36576" anchor="ctr"/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5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여러 통화의 잔액과 등록된 반복 수입·지출을 날짜별 전망으로 연결한다. 오늘부터 목표일까지 예정된 항목과 잔액 흐름을 한곳에서 확인한다.</a:t>
            </a:r>
          </a:p>
        </p:txBody>
      </p:sp>
      <p:sp>
        <p:nvSpPr>
          <p:cNvPr id="29" name="Rounded Rectangle 28">
            <a:extLst xmlns:a="http://schemas.openxmlformats.org/drawingml/2006/main">
              <a:ext uri="{FF2B5EF4-FFF2-40B4-BE49-F238E27FC236}">
                <a16:creationId xmlns:a16="http://schemas.microsoft.com/office/drawing/2014/main" id="{467A675F-C8B1-4E38-B1F7-3FAC44CBC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1499616"/>
            <a:ext cx="3922776" cy="12618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7F0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36576" tIns="36576" rIns="36576" bIns="36576" anchor="ctr"/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5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다국가·다중 통화 이용자.</a:t>
            </a:r>
          </a:p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5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prototype: 한국 거주 베트남 유학생이 VND 원격 급여, KRW 아르바이트 급여와 가족 지원을 함께 계획한다.</a:t>
            </a:r>
          </a:p>
        </p:txBody>
      </p:sp>
      <p:sp>
        <p:nvSpPr>
          <p:cNvPr id="30" name="Rounded Rectangle 29">
            <a:extLst xmlns:a="http://schemas.openxmlformats.org/drawingml/2006/main">
              <a:ext uri="{FF2B5EF4-FFF2-40B4-BE49-F238E27FC236}">
                <a16:creationId xmlns:a16="http://schemas.microsoft.com/office/drawing/2014/main" id="{7DC4569A-0680-4CD4-8D0F-1FCF3901C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355848"/>
            <a:ext cx="3995928" cy="12618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7F0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36576" tIns="36576" rIns="36576" bIns="36576" anchor="ctr"/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5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Wallet 5.7.5 개인 관찰에서 예정 항목을 Outlook에 다시 입력해야 했다. R01–R20은 이 이슈의 직접 증거가 아니다.</a:t>
            </a:r>
          </a:p>
        </p:txBody>
      </p:sp>
      <p:sp>
        <p:nvSpPr>
          <p:cNvPr id="31" name="Rounded Rectangle 30">
            <a:extLst xmlns:a="http://schemas.openxmlformats.org/drawingml/2006/main">
              <a:ext uri="{FF2B5EF4-FFF2-40B4-BE49-F238E27FC236}">
                <a16:creationId xmlns:a16="http://schemas.microsoft.com/office/drawing/2014/main" id="{62E88A8A-D7A3-4D5E-A76E-26ACCEF05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3355848"/>
            <a:ext cx="3922776" cy="12618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DF1E9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36576" tIns="36576" rIns="36576" bIns="36576" anchor="ctr"/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5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재입력 없이 등록 항목을 재사용한다. 실제 잔액과 고정 예시 전망, 포함·제외 조건을 구분한다. Goals는 보조 use case다.</a:t>
            </a:r>
          </a:p>
        </p:txBody>
      </p:sp>
    </p:spTree>
    <p:extLst>
      <p:ext uri="{BB962C8B-B14F-4D97-AF65-F5344CB8AC3E}">
        <p14:creationId xmlns:p14="http://schemas.microsoft.com/office/powerpoint/2010/main" val="49808570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2DE372B-0CF2-478A-BD61-17F756574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1679" y="304800"/>
            <a:ext cx="1394371" cy="200025"/>
          </a:xfrm>
          <a:prstGeom xmlns:a="http://schemas.openxmlformats.org/drawingml/2006/main" prst="roundRect">
            <a:avLst>
              <a:gd name="adj" fmla="val 63492"/>
            </a:avLst>
          </a:prstGeom>
          <a:solidFill xmlns:a="http://schemas.openxmlformats.org/drawingml/2006/main">
            <a:srgbClr val="2E332C"/>
          </a:solidFill>
        </p:spPr>
        <p:txBody>
          <a:bodyPr xmlns:a="http://schemas.openxmlformats.org/drawingml/2006/main" wrap="square" anchor="ctr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49EE572-B50E-4AB3-A4C6-E3AB1B533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8629" y="342900"/>
            <a:ext cx="1163279" cy="123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B5-2 · 기획 상세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3958E13-C02F-4736-ACE3-8A7558644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330101"/>
            <a:ext cx="8290661" cy="1428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APPENDIX B5-2a — 확장 사용자 저니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9E0EB75C-B830-4D6C-AEBF-1B6B7F024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536377"/>
            <a:ext cx="8290661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1498597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 xmlns:a="http://schemas.openxmlformats.org/drawingml/2006/main"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Wallet 사용자 저니 · 목표와 단계별 판단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75" name="Text 73">
            <a:extLst xmlns:a="http://schemas.openxmlformats.org/drawingml/2006/main">
              <a:ext uri="{FF2B5EF4-FFF2-40B4-BE49-F238E27FC236}">
                <a16:creationId xmlns:a16="http://schemas.microsoft.com/office/drawing/2014/main" id="{BFB92A75-58C7-4522-BC14-00494708C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4810125"/>
            <a:ext cx="3728020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3단계 · 7장 기획 "저니 8"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76" name="Text 74">
            <a:extLst xmlns:a="http://schemas.openxmlformats.org/drawingml/2006/main">
              <a:ext uri="{FF2B5EF4-FFF2-40B4-BE49-F238E27FC236}">
                <a16:creationId xmlns:a16="http://schemas.microsoft.com/office/drawing/2014/main" id="{87A7C330-726E-451F-8FA5-0422DF136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10125"/>
            <a:ext cx="411480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B5-2a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77" name="TextBox 76">
            <a:extLst xmlns:a="http://schemas.openxmlformats.org/drawingml/2006/main">
              <a:ext uri="{FF2B5EF4-FFF2-40B4-BE49-F238E27FC236}">
                <a16:creationId xmlns:a16="http://schemas.microsoft.com/office/drawing/2014/main" id="{951078C9-A09B-4DAC-A353-E99D8C6A3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106424"/>
            <a:ext cx="81381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목표: KRW/VND 잔액과 반복 수입·지출을 확인해 가까운 시점의 현금흐름을 이해한다.</a:t>
            </a:r>
          </a:p>
        </p:txBody>
      </p:sp>
      <p:graphicFrame>
        <p:nvGraphicFramePr>
          <p:cNvPr id="78" name="Table 77">
            <a:extLst xmlns:a="http://schemas.openxmlformats.org/drawingml/2006/main">
              <a:ext uri="{FF2B5EF4-FFF2-40B4-BE49-F238E27FC236}">
                <a16:creationId xmlns:a16="http://schemas.microsoft.com/office/drawing/2014/main" id="{21960140-DB95-4DA3-BD50-6895E05CCEB4}"/>
              </a:ext>
            </a:extLst>
          </p:cNvPr>
          <p:cNvGraphicFramePr/>
          <p:nvPr/>
        </p:nvGraphicFramePr>
        <p:xfrm>
          <a:off xmlns:a="http://schemas.openxmlformats.org/drawingml/2006/main" x="502920" y="1508760"/>
          <a:ext xmlns:a="http://schemas.openxmlformats.org/drawingml/2006/main" cx="8138160" cy="29718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502920"/>
                <a:gridCol w="749808"/>
                <a:gridCol w="1691640"/>
                <a:gridCol w="1298448"/>
                <a:gridCol w="1527048"/>
                <a:gridCol w="950976"/>
              </a:tblGrid>
              <a:tr h="283464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단계·근거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위치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사용 기기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AI 기회 (v2)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원칙 후보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필요 데이터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감정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 잔액 확인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R03/R12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미기록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iPhone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14 Pro Max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KRW/VND 잔액의 기준 통화 설명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 상태 가시성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계좌별 잔액·통화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 통화·계좌/Sync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R06/R09/R18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미기록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Wallet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5.7.5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연결 불가 시 수동 입력 경로 안내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P09 복구 안내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국가·지원 은행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 Quick Add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R11/R13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미기록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같은 기기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자연어 기록 초안 예시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P07 입력 효율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금액·통화·계좌·분류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 Planned Payments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R05/R19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미기록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같은 기기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반복 일정과 미래 흐름 설명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 현재/예상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수입·지출·주기·날짜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 Budgets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R15/R16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미기록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같은 기기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목표일 기준 예시 저축 계획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P06 기간 인지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기간·금액·계좌·분류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 Statistics/Outlook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개인 관찰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미기록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같은 기기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등록한 예정 항목을 전망과 연결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P07 우선/P06 보조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현재 잔액·일정·가정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−2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9" name="TextBox 78">
            <a:extLst xmlns:a="http://schemas.openxmlformats.org/drawingml/2006/main">
              <a:ext uri="{FF2B5EF4-FFF2-40B4-BE49-F238E27FC236}">
                <a16:creationId xmlns:a16="http://schemas.microsoft.com/office/drawing/2014/main" id="{737BC4D0-AB61-4E59-A612-E28CC80E0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590288"/>
            <a:ext cx="813816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감정 0/−1/0/0/−1/−2는 AI가 제안하고 사용자가 진행을 승인한 추정값이다. 직접 측정값·연속 세션 기록이 아니다.</a:t>
            </a:r>
          </a:p>
        </p:txBody>
      </p:sp>
    </p:spTree>
    <p:extLst>
      <p:ext uri="{BB962C8B-B14F-4D97-AF65-F5344CB8AC3E}">
        <p14:creationId xmlns:p14="http://schemas.microsoft.com/office/powerpoint/2010/main" val="7761199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2DE372B-0CF2-478A-BD61-17F756574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1679" y="304800"/>
            <a:ext cx="1394371" cy="200025"/>
          </a:xfrm>
          <a:prstGeom xmlns:a="http://schemas.openxmlformats.org/drawingml/2006/main" prst="roundRect">
            <a:avLst>
              <a:gd name="adj" fmla="val 63492"/>
            </a:avLst>
          </a:prstGeom>
          <a:solidFill xmlns:a="http://schemas.openxmlformats.org/drawingml/2006/main">
            <a:srgbClr val="2E332C"/>
          </a:solidFill>
        </p:spPr>
        <p:txBody>
          <a:bodyPr xmlns:a="http://schemas.openxmlformats.org/drawingml/2006/main" wrap="square" anchor="ctr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49EE572-B50E-4AB3-A4C6-E3AB1B533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8629" y="342900"/>
            <a:ext cx="1163279" cy="123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· 질의 근거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3958E13-C02F-4736-ACE3-8A7558644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330101"/>
            <a:ext cx="8290661" cy="1428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APPENDIX B5-2b — 저니와 화면·리뷰 근거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9E0EB75C-B830-4D6C-AEBF-1B6B7F024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536377"/>
            <a:ext cx="8290661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1498597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 xmlns:a="http://schemas.openxmlformats.org/drawingml/2006/main"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여섯 단계의 실제 화면과 리뷰를 연결한다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75" name="Text 73">
            <a:extLst xmlns:a="http://schemas.openxmlformats.org/drawingml/2006/main">
              <a:ext uri="{FF2B5EF4-FFF2-40B4-BE49-F238E27FC236}">
                <a16:creationId xmlns:a16="http://schemas.microsoft.com/office/drawing/2014/main" id="{BFB92A75-58C7-4522-BC14-00494708C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4810125"/>
            <a:ext cx="3728020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3단계 · 7장 기획 "저니 8"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76" name="Text 74">
            <a:extLst xmlns:a="http://schemas.openxmlformats.org/drawingml/2006/main">
              <a:ext uri="{FF2B5EF4-FFF2-40B4-BE49-F238E27FC236}">
                <a16:creationId xmlns:a16="http://schemas.microsoft.com/office/drawing/2014/main" id="{87A7C330-726E-451F-8FA5-0422DF136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10125"/>
            <a:ext cx="411480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B5-2b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pic>
        <p:nvPicPr>
          <p:cNvPr id="77" name="Picture 76">
            <a:extLst xmlns:a="http://schemas.openxmlformats.org/drawingml/2006/main">
              <a:ext uri="{FF2B5EF4-FFF2-40B4-BE49-F238E27FC236}">
                <a16:creationId xmlns:a16="http://schemas.microsoft.com/office/drawing/2014/main" id="{921B6D88-521D-48DC-974F-5461233EA9F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634ecf2a1f4cd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398653" y="1115568"/>
            <a:ext cx="6346693" cy="3575304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0318628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84FB26D-3201-4E8E-B627-B48FB6F38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1679" y="304800"/>
            <a:ext cx="1394371" cy="200025"/>
          </a:xfrm>
          <a:prstGeom xmlns:a="http://schemas.openxmlformats.org/drawingml/2006/main" prst="roundRect">
            <a:avLst>
              <a:gd name="adj" fmla="val 63492"/>
            </a:avLst>
          </a:prstGeom>
          <a:solidFill xmlns:a="http://schemas.openxmlformats.org/drawingml/2006/main">
            <a:srgbClr val="2E332C"/>
          </a:solidFill>
        </p:spPr>
        <p:txBody>
          <a:bodyPr xmlns:a="http://schemas.openxmlformats.org/drawingml/2006/main" wrap="square" anchor="ctr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71A1F6D-B088-48B9-AD61-DDC815127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8629" y="342900"/>
            <a:ext cx="1163279" cy="123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B5-3 · 기획 상세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EE26FCB-487F-4E65-8E0C-56AE994DF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330101"/>
            <a:ext cx="8290661" cy="1428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APPENDIX B5-3 — Fishbone · 5 Why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8BCC1861-7DE8-4C50-A84D-E1DAEE047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536377"/>
            <a:ext cx="8290661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1498597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 xmlns:a="http://schemas.openxmlformats.org/drawingml/2006/main"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UX 원인: 예정 항목이 전망에서 재사용되지 않음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53" name="Text 51">
            <a:extLst xmlns:a="http://schemas.openxmlformats.org/drawingml/2006/main">
              <a:ext uri="{FF2B5EF4-FFF2-40B4-BE49-F238E27FC236}">
                <a16:creationId xmlns:a16="http://schemas.microsoft.com/office/drawing/2014/main" id="{28F51737-A79D-4DBE-B044-FC2EB279A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4810125"/>
            <a:ext cx="4131820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4단계 · 7장 기획 "피쉬본 · 5 Why 5"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4" name="Text 52">
            <a:extLst xmlns:a="http://schemas.openxmlformats.org/drawingml/2006/main">
              <a:ext uri="{FF2B5EF4-FFF2-40B4-BE49-F238E27FC236}">
                <a16:creationId xmlns:a16="http://schemas.microsoft.com/office/drawing/2014/main" id="{44AE1E8A-A17B-41BE-9AE9-DDC39EBB8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3735" y="4810125"/>
            <a:ext cx="185961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B5-3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pic>
        <p:nvPicPr>
          <p:cNvPr id="55" name="Picture 54">
            <a:extLst xmlns:a="http://schemas.openxmlformats.org/drawingml/2006/main">
              <a:ext uri="{FF2B5EF4-FFF2-40B4-BE49-F238E27FC236}">
                <a16:creationId xmlns:a16="http://schemas.microsoft.com/office/drawing/2014/main" id="{A9EAEDB2-0FBB-4F94-A814-BE78D19DABE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36fe540d26431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2920" y="1302715"/>
            <a:ext cx="8138160" cy="320100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8824034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AC12703-F5CD-441D-8DC0-538136785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599" y="304800"/>
            <a:ext cx="1606451" cy="200025"/>
          </a:xfrm>
          <a:prstGeom xmlns:a="http://schemas.openxmlformats.org/drawingml/2006/main" prst="roundRect">
            <a:avLst>
              <a:gd name="adj" fmla="val 63492"/>
            </a:avLst>
          </a:prstGeom>
          <a:solidFill xmlns:a="http://schemas.openxmlformats.org/drawingml/2006/main">
            <a:srgbClr val="2E332C"/>
          </a:solidFill>
        </p:spPr>
        <p:txBody>
          <a:bodyPr xmlns:a="http://schemas.openxmlformats.org/drawingml/2006/main" wrap="square" anchor="ctr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BE63E16-65D4-4203-B9CE-730B4D06A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6549" y="342900"/>
            <a:ext cx="1379601" cy="123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· 화면 기획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BD4A3A1D-6C75-4C6C-8E07-364676F29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330101"/>
            <a:ext cx="8290661" cy="1428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APPENDIX B5-4 — 화면별 요소 분석표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3431AAA1-59EF-4D6F-B549-4B5325904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536377"/>
            <a:ext cx="8290661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1498597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 xmlns:a="http://schemas.openxmlformats.org/drawingml/2006/main"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화면 A · 요소 분석 1/2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94" name="Text 92">
            <a:extLst xmlns:a="http://schemas.openxmlformats.org/drawingml/2006/main">
              <a:ext uri="{FF2B5EF4-FFF2-40B4-BE49-F238E27FC236}">
                <a16:creationId xmlns:a16="http://schemas.microsoft.com/office/drawing/2014/main" id="{3F2A50A9-9AA5-4E2A-B213-F64E24FC0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4810125"/>
            <a:ext cx="4542452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5단계 · 7장 기획 "요소 분석 · 기준 · 가이드 글 8"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95" name="Text 93">
            <a:extLst xmlns:a="http://schemas.openxmlformats.org/drawingml/2006/main">
              <a:ext uri="{FF2B5EF4-FFF2-40B4-BE49-F238E27FC236}">
                <a16:creationId xmlns:a16="http://schemas.microsoft.com/office/drawing/2014/main" id="{A2F487B0-968F-4F09-97E0-B0E1D650A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10125"/>
            <a:ext cx="411480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B5-4A1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pic>
        <p:nvPicPr>
          <p:cNvPr id="96" name="Picture 95">
            <a:extLst xmlns:a="http://schemas.openxmlformats.org/drawingml/2006/main">
              <a:ext uri="{FF2B5EF4-FFF2-40B4-BE49-F238E27FC236}">
                <a16:creationId xmlns:a16="http://schemas.microsoft.com/office/drawing/2014/main" id="{091E2D13-3D7D-460F-B69F-4B1CD0E1AC5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493001cd254a9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38357" y="1188720"/>
            <a:ext cx="1501892" cy="3255264"/>
          </a:xfrm>
          <a:prstGeom xmlns:a="http://schemas.openxmlformats.org/drawingml/2006/main" prst="rect">
            <a:avLst/>
          </a:prstGeom>
        </p:spPr>
      </p:pic>
      <p:graphicFrame>
        <p:nvGraphicFramePr>
          <p:cNvPr id="97" name="Table 96">
            <a:extLst xmlns:a="http://schemas.openxmlformats.org/drawingml/2006/main">
              <a:ext uri="{FF2B5EF4-FFF2-40B4-BE49-F238E27FC236}">
                <a16:creationId xmlns:a16="http://schemas.microsoft.com/office/drawing/2014/main" id="{8C33438C-3AB8-484C-8D77-C02CE86FD8D4}"/>
              </a:ext>
            </a:extLst>
          </p:cNvPr>
          <p:cNvGraphicFramePr/>
          <p:nvPr/>
        </p:nvGraphicFramePr>
        <p:xfrm>
          <a:off xmlns:a="http://schemas.openxmlformats.org/drawingml/2006/main" x="2240280" y="1143000"/>
          <a:ext xmlns:a="http://schemas.openxmlformats.org/drawingml/2006/main" cx="6391656" cy="3300978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1280160"/>
                <a:gridCol w="1024128"/>
                <a:gridCol w="1115568"/>
                <a:gridCol w="685800"/>
                <a:gridCol w="932688"/>
                <a:gridCol w="941832"/>
              </a:tblGrid>
              <a:tr h="283464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번호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Flutter 위젯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비즈니스 명칭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정보 전달 기준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원칙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편의성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가이드 글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</a:tr>
              <a:tr h="502919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A-1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Scaffold / AppBar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현금흐름 홈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브랜드·기준 날짜 상단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P04/P08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정보부터 확인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마스코트 작게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19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A-2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Wrap / Card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통화별 계좌·추가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국가·통화·금액 표시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P02/P08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계좌별 구분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금액 가독성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19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A-3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SegmentedButton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실제 / 전망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선택 상태 강조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보기 빠른 전환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색+라벨 구분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19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A-4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Row / Container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날짜별 예시 전망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목표일까지 고정 값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P01/P08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기간 흐름 파악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고정 예시 표시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19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A-5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ListTile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등록 예정 항목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날짜·명칭·통화 금액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P06/P07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재입력 감소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출처가 보임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19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A-6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Card / Text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전망 범위 안내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포함·제외 그래프 옆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P01/P05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한계 먼저 이해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캐릭터는 보조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8" name="TextBox 97">
            <a:extLst xmlns:a="http://schemas.openxmlformats.org/drawingml/2006/main">
              <a:ext uri="{FF2B5EF4-FFF2-40B4-BE49-F238E27FC236}">
                <a16:creationId xmlns:a16="http://schemas.microsoft.com/office/drawing/2014/main" id="{CEEB0AF6-3229-49E3-A826-AD99340B7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4562856"/>
            <a:ext cx="637336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전체 명칭·STATE·설계 의도는 docs/디자인가이드.md와 코드의 요소 주석에서 추적한다.</a:t>
            </a:r>
          </a:p>
        </p:txBody>
      </p:sp>
    </p:spTree>
    <p:extLst>
      <p:ext uri="{BB962C8B-B14F-4D97-AF65-F5344CB8AC3E}">
        <p14:creationId xmlns:p14="http://schemas.microsoft.com/office/powerpoint/2010/main" val="1357598662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AC12703-F5CD-441D-8DC0-538136785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599" y="304800"/>
            <a:ext cx="1606451" cy="200025"/>
          </a:xfrm>
          <a:prstGeom xmlns:a="http://schemas.openxmlformats.org/drawingml/2006/main" prst="roundRect">
            <a:avLst>
              <a:gd name="adj" fmla="val 63492"/>
            </a:avLst>
          </a:prstGeom>
          <a:solidFill xmlns:a="http://schemas.openxmlformats.org/drawingml/2006/main">
            <a:srgbClr val="2E332C"/>
          </a:solidFill>
        </p:spPr>
        <p:txBody>
          <a:bodyPr xmlns:a="http://schemas.openxmlformats.org/drawingml/2006/main" wrap="square" anchor="ctr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BE63E16-65D4-4203-B9CE-730B4D06A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6549" y="342900"/>
            <a:ext cx="1379601" cy="123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· 화면 기획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BD4A3A1D-6C75-4C6C-8E07-364676F29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330101"/>
            <a:ext cx="8290661" cy="1428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APPENDIX B5-4 — 화면별 요소 분석표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3431AAA1-59EF-4D6F-B549-4B5325904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536377"/>
            <a:ext cx="8290661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1498597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 xmlns:a="http://schemas.openxmlformats.org/drawingml/2006/main"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화면 A · 요소 분석 2/2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94" name="Text 92">
            <a:extLst xmlns:a="http://schemas.openxmlformats.org/drawingml/2006/main">
              <a:ext uri="{FF2B5EF4-FFF2-40B4-BE49-F238E27FC236}">
                <a16:creationId xmlns:a16="http://schemas.microsoft.com/office/drawing/2014/main" id="{3F2A50A9-9AA5-4E2A-B213-F64E24FC0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4810125"/>
            <a:ext cx="4542452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5단계 · 7장 기획 "요소 분석 · 기준 · 가이드 글 8"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95" name="Text 93">
            <a:extLst xmlns:a="http://schemas.openxmlformats.org/drawingml/2006/main">
              <a:ext uri="{FF2B5EF4-FFF2-40B4-BE49-F238E27FC236}">
                <a16:creationId xmlns:a16="http://schemas.microsoft.com/office/drawing/2014/main" id="{A2F487B0-968F-4F09-97E0-B0E1D650A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10125"/>
            <a:ext cx="411480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B5-4A2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pic>
        <p:nvPicPr>
          <p:cNvPr id="96" name="Picture 95">
            <a:extLst xmlns:a="http://schemas.openxmlformats.org/drawingml/2006/main">
              <a:ext uri="{FF2B5EF4-FFF2-40B4-BE49-F238E27FC236}">
                <a16:creationId xmlns:a16="http://schemas.microsoft.com/office/drawing/2014/main" id="{E8BC6F0A-E6FD-46D7-BEC1-DA9107CFB94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7eed722e1341c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38357" y="1188720"/>
            <a:ext cx="1501892" cy="3255264"/>
          </a:xfrm>
          <a:prstGeom xmlns:a="http://schemas.openxmlformats.org/drawingml/2006/main" prst="rect">
            <a:avLst/>
          </a:prstGeom>
        </p:spPr>
      </p:pic>
      <p:graphicFrame>
        <p:nvGraphicFramePr>
          <p:cNvPr id="97" name="Table 96">
            <a:extLst xmlns:a="http://schemas.openxmlformats.org/drawingml/2006/main">
              <a:ext uri="{FF2B5EF4-FFF2-40B4-BE49-F238E27FC236}">
                <a16:creationId xmlns:a16="http://schemas.microsoft.com/office/drawing/2014/main" id="{CDFA7EE7-1200-454A-BD0B-062D9233FEFE}"/>
              </a:ext>
            </a:extLst>
          </p:cNvPr>
          <p:cNvGraphicFramePr/>
          <p:nvPr/>
        </p:nvGraphicFramePr>
        <p:xfrm>
          <a:off xmlns:a="http://schemas.openxmlformats.org/drawingml/2006/main" x="2240280" y="1143000"/>
          <a:ext xmlns:a="http://schemas.openxmlformats.org/drawingml/2006/main" cx="6391656" cy="3300979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1280160"/>
                <a:gridCol w="1024128"/>
                <a:gridCol w="1115568"/>
                <a:gridCol w="685800"/>
                <a:gridCol w="932688"/>
                <a:gridCol w="941832"/>
              </a:tblGrid>
              <a:tr h="283464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번호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Flutter 위젯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비즈니스 명칭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정보 전달 기준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원칙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편의성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가이드 글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</a:tr>
              <a:tr h="603503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A-7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Card / Progress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목표 요약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현재·목표·기한 예시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P01/P02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계획 이유 연결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작은 보조 카드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3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A-8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FilledButton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일정 자세히 보기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상세 이동 CTA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P07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 번에 상세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명확한 동사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3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A-9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TextButton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급여 지연 비교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선택적 시나리오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P07/P10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상황 미리 보기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 BottomSheet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3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A-10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FutureBuilder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GET 상태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로딩·오류·빈 상태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P01/P09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원인·복구 행동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재시도 버튼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3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A-11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NavigationBar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Wallet형 하단 메뉴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현재 탭·중앙 +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P04/P07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익숙한 빠른 입력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통계/더보기 안내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8" name="TextBox 97">
            <a:extLst xmlns:a="http://schemas.openxmlformats.org/drawingml/2006/main">
              <a:ext uri="{FF2B5EF4-FFF2-40B4-BE49-F238E27FC236}">
                <a16:creationId xmlns:a16="http://schemas.microsoft.com/office/drawing/2014/main" id="{7ED20694-BD50-453D-9431-B9C5C864E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4562856"/>
            <a:ext cx="637336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전체 명칭·STATE·설계 의도는 docs/디자인가이드.md와 코드의 요소 주석에서 추적한다.</a:t>
            </a:r>
          </a:p>
        </p:txBody>
      </p:sp>
    </p:spTree>
    <p:extLst>
      <p:ext uri="{BB962C8B-B14F-4D97-AF65-F5344CB8AC3E}">
        <p14:creationId xmlns:p14="http://schemas.microsoft.com/office/powerpoint/2010/main" val="7704909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AC12703-F5CD-441D-8DC0-538136785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599" y="304800"/>
            <a:ext cx="1606451" cy="200025"/>
          </a:xfrm>
          <a:prstGeom xmlns:a="http://schemas.openxmlformats.org/drawingml/2006/main" prst="roundRect">
            <a:avLst>
              <a:gd name="adj" fmla="val 63492"/>
            </a:avLst>
          </a:prstGeom>
          <a:solidFill xmlns:a="http://schemas.openxmlformats.org/drawingml/2006/main">
            <a:srgbClr val="2E332C"/>
          </a:solidFill>
        </p:spPr>
        <p:txBody>
          <a:bodyPr xmlns:a="http://schemas.openxmlformats.org/drawingml/2006/main" wrap="square" anchor="ctr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BE63E16-65D4-4203-B9CE-730B4D06A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6549" y="342900"/>
            <a:ext cx="1379601" cy="123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· 화면 기획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BD4A3A1D-6C75-4C6C-8E07-364676F29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330101"/>
            <a:ext cx="8290661" cy="1428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APPENDIX B5-4 — 화면별 요소 분석표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3431AAA1-59EF-4D6F-B549-4B5325904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536377"/>
            <a:ext cx="8290661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1498597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 xmlns:a="http://schemas.openxmlformats.org/drawingml/2006/main"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화면 B · 요소 분석 1/2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94" name="Text 92">
            <a:extLst xmlns:a="http://schemas.openxmlformats.org/drawingml/2006/main">
              <a:ext uri="{FF2B5EF4-FFF2-40B4-BE49-F238E27FC236}">
                <a16:creationId xmlns:a16="http://schemas.microsoft.com/office/drawing/2014/main" id="{3F2A50A9-9AA5-4E2A-B213-F64E24FC0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4810125"/>
            <a:ext cx="4542452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5단계 · 7장 기획 "요소 분석 · 기준 · 가이드 글 8"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95" name="Text 93">
            <a:extLst xmlns:a="http://schemas.openxmlformats.org/drawingml/2006/main">
              <a:ext uri="{FF2B5EF4-FFF2-40B4-BE49-F238E27FC236}">
                <a16:creationId xmlns:a16="http://schemas.microsoft.com/office/drawing/2014/main" id="{A2F487B0-968F-4F09-97E0-B0E1D650A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10125"/>
            <a:ext cx="411480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B5-4B1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pic>
        <p:nvPicPr>
          <p:cNvPr id="96" name="Picture 95">
            <a:extLst xmlns:a="http://schemas.openxmlformats.org/drawingml/2006/main">
              <a:ext uri="{FF2B5EF4-FFF2-40B4-BE49-F238E27FC236}">
                <a16:creationId xmlns:a16="http://schemas.microsoft.com/office/drawing/2014/main" id="{B3EBDABA-56A0-42FD-B681-E3D65E1A5CB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b9d8f570a7439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38357" y="1188720"/>
            <a:ext cx="1501892" cy="3255264"/>
          </a:xfrm>
          <a:prstGeom xmlns:a="http://schemas.openxmlformats.org/drawingml/2006/main" prst="rect">
            <a:avLst/>
          </a:prstGeom>
        </p:spPr>
      </p:pic>
      <p:graphicFrame>
        <p:nvGraphicFramePr>
          <p:cNvPr id="97" name="Table 96">
            <a:extLst xmlns:a="http://schemas.openxmlformats.org/drawingml/2006/main">
              <a:ext uri="{FF2B5EF4-FFF2-40B4-BE49-F238E27FC236}">
                <a16:creationId xmlns:a16="http://schemas.microsoft.com/office/drawing/2014/main" id="{09D73F48-FA10-4284-B049-A67E0594E5D6}"/>
              </a:ext>
            </a:extLst>
          </p:cNvPr>
          <p:cNvGraphicFramePr/>
          <p:nvPr/>
        </p:nvGraphicFramePr>
        <p:xfrm>
          <a:off xmlns:a="http://schemas.openxmlformats.org/drawingml/2006/main" x="2240280" y="1143000"/>
          <a:ext xmlns:a="http://schemas.openxmlformats.org/drawingml/2006/main" cx="6391656" cy="3300979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1280160"/>
                <a:gridCol w="1024128"/>
                <a:gridCol w="1115568"/>
                <a:gridCol w="685800"/>
                <a:gridCol w="932688"/>
                <a:gridCol w="941832"/>
              </a:tblGrid>
              <a:tr h="283464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번호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Flutter 위젯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비즈니스 명칭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정보 전달 기준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원칙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편의성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가이드 글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</a:tr>
              <a:tr h="603503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B-1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AppBar / Back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일정 상세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A에서 온 맥락 유지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P03/P04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홈 복귀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일관된 제목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3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B-2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TabBar / TabView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7/30/목표일까지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목표일 기본 선택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P07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기간 빠른 비교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선택 탭 강조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3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B-3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ListView / Card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예정 항목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날짜·분류·통화 금액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P02/P06/P07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항목을 재인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중복 설명 축약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3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B-4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FilterChip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전체/수입/지출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종류만 필터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P07/P08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필요 항목 훑기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단순한 칩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3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B-5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Card / ListTile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포함/제외 기준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고정 항목/변동 제외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P01/P05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오해 예방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숫자 가까이에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8" name="TextBox 97">
            <a:extLst xmlns:a="http://schemas.openxmlformats.org/drawingml/2006/main">
              <a:ext uri="{FF2B5EF4-FFF2-40B4-BE49-F238E27FC236}">
                <a16:creationId xmlns:a16="http://schemas.microsoft.com/office/drawing/2014/main" id="{87E2E7E8-0564-4F30-9BB8-1DA1CC319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4562856"/>
            <a:ext cx="637336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전체 명칭·STATE·설계 의도는 docs/디자인가이드.md와 코드의 요소 주석에서 추적한다.</a:t>
            </a:r>
          </a:p>
        </p:txBody>
      </p:sp>
    </p:spTree>
    <p:extLst>
      <p:ext uri="{BB962C8B-B14F-4D97-AF65-F5344CB8AC3E}">
        <p14:creationId xmlns:p14="http://schemas.microsoft.com/office/powerpoint/2010/main" val="2044240536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AC12703-F5CD-441D-8DC0-538136785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599" y="304800"/>
            <a:ext cx="1606451" cy="200025"/>
          </a:xfrm>
          <a:prstGeom xmlns:a="http://schemas.openxmlformats.org/drawingml/2006/main" prst="roundRect">
            <a:avLst>
              <a:gd name="adj" fmla="val 63492"/>
            </a:avLst>
          </a:prstGeom>
          <a:solidFill xmlns:a="http://schemas.openxmlformats.org/drawingml/2006/main">
            <a:srgbClr val="2E332C"/>
          </a:solidFill>
        </p:spPr>
        <p:txBody>
          <a:bodyPr xmlns:a="http://schemas.openxmlformats.org/drawingml/2006/main" wrap="square" anchor="ctr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BE63E16-65D4-4203-B9CE-730B4D06A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6549" y="342900"/>
            <a:ext cx="1379601" cy="123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· 화면 기획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BD4A3A1D-6C75-4C6C-8E07-364676F29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330101"/>
            <a:ext cx="8290661" cy="1428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APPENDIX B5-4 — 화면별 요소 분석표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3431AAA1-59EF-4D6F-B549-4B5325904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536377"/>
            <a:ext cx="8290661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1498597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 xmlns:a="http://schemas.openxmlformats.org/drawingml/2006/main"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화면 B · 요소 분석 2/2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94" name="Text 92">
            <a:extLst xmlns:a="http://schemas.openxmlformats.org/drawingml/2006/main">
              <a:ext uri="{FF2B5EF4-FFF2-40B4-BE49-F238E27FC236}">
                <a16:creationId xmlns:a16="http://schemas.microsoft.com/office/drawing/2014/main" id="{3F2A50A9-9AA5-4E2A-B213-F64E24FC0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4810125"/>
            <a:ext cx="4542452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5단계 · 7장 기획 "요소 분석 · 기준 · 가이드 글 8"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95" name="Text 93">
            <a:extLst xmlns:a="http://schemas.openxmlformats.org/drawingml/2006/main">
              <a:ext uri="{FF2B5EF4-FFF2-40B4-BE49-F238E27FC236}">
                <a16:creationId xmlns:a16="http://schemas.microsoft.com/office/drawing/2014/main" id="{A2F487B0-968F-4F09-97E0-B0E1D650A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10125"/>
            <a:ext cx="411480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B5-4B2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pic>
        <p:nvPicPr>
          <p:cNvPr id="96" name="Picture 95">
            <a:extLst xmlns:a="http://schemas.openxmlformats.org/drawingml/2006/main">
              <a:ext uri="{FF2B5EF4-FFF2-40B4-BE49-F238E27FC236}">
                <a16:creationId xmlns:a16="http://schemas.microsoft.com/office/drawing/2014/main" id="{2423759E-09C2-41BE-BC0F-9B08E8F1A5D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44c90368b8485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38357" y="1188720"/>
            <a:ext cx="1501892" cy="3255264"/>
          </a:xfrm>
          <a:prstGeom xmlns:a="http://schemas.openxmlformats.org/drawingml/2006/main" prst="rect">
            <a:avLst/>
          </a:prstGeom>
        </p:spPr>
      </p:pic>
      <p:graphicFrame>
        <p:nvGraphicFramePr>
          <p:cNvPr id="97" name="Table 96">
            <a:extLst xmlns:a="http://schemas.openxmlformats.org/drawingml/2006/main">
              <a:ext uri="{FF2B5EF4-FFF2-40B4-BE49-F238E27FC236}">
                <a16:creationId xmlns:a16="http://schemas.microsoft.com/office/drawing/2014/main" id="{046F8C7E-8EA1-4251-BFE5-29E886A439D5}"/>
              </a:ext>
            </a:extLst>
          </p:cNvPr>
          <p:cNvGraphicFramePr/>
          <p:nvPr/>
        </p:nvGraphicFramePr>
        <p:xfrm>
          <a:off xmlns:a="http://schemas.openxmlformats.org/drawingml/2006/main" x="2240280" y="1143000"/>
          <a:ext xmlns:a="http://schemas.openxmlformats.org/drawingml/2006/main" cx="6391656" cy="3300984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1280160"/>
                <a:gridCol w="1024128"/>
                <a:gridCol w="1115568"/>
                <a:gridCol w="685800"/>
                <a:gridCol w="932688"/>
                <a:gridCol w="941832"/>
              </a:tblGrid>
              <a:tr h="283464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번호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Flutter 위젯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비즈니스 명칭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정보 전달 기준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원칙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편의성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가이드 글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</a:tr>
              <a:tr h="754380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B-6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Card / Text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날짜별 잔액 예시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JSON 정적 값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일정과 잔액 연결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실제 계산 아님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4380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B-7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FutureBuilder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상세 GET 상태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로딩·오류·빈 상태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P01/P09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현재 상태 인지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오류 재시도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4380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B-8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OutlinedButton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급여 지연 비교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목록 뒤 보조 행동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P07/P10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맥락 있는 비교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 모달 재사용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4380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B-9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NavigationBar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Wallet형 하단 메뉴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Planning 선택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P04/P07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빠른 기록 유지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중앙 +는 D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8" name="TextBox 97">
            <a:extLst xmlns:a="http://schemas.openxmlformats.org/drawingml/2006/main">
              <a:ext uri="{FF2B5EF4-FFF2-40B4-BE49-F238E27FC236}">
                <a16:creationId xmlns:a16="http://schemas.microsoft.com/office/drawing/2014/main" id="{AA9D397B-6B9F-417D-A352-C9C35C40C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4562856"/>
            <a:ext cx="637336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전체 명칭·STATE·설계 의도는 docs/디자인가이드.md와 코드의 요소 주석에서 추적한다.</a:t>
            </a:r>
          </a:p>
        </p:txBody>
      </p:sp>
    </p:spTree>
    <p:extLst>
      <p:ext uri="{BB962C8B-B14F-4D97-AF65-F5344CB8AC3E}">
        <p14:creationId xmlns:p14="http://schemas.microsoft.com/office/powerpoint/2010/main" val="182085606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AC12703-F5CD-441D-8DC0-538136785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599" y="304800"/>
            <a:ext cx="1606451" cy="200025"/>
          </a:xfrm>
          <a:prstGeom xmlns:a="http://schemas.openxmlformats.org/drawingml/2006/main" prst="roundRect">
            <a:avLst>
              <a:gd name="adj" fmla="val 63492"/>
            </a:avLst>
          </a:prstGeom>
          <a:solidFill xmlns:a="http://schemas.openxmlformats.org/drawingml/2006/main">
            <a:srgbClr val="2E332C"/>
          </a:solidFill>
        </p:spPr>
        <p:txBody>
          <a:bodyPr xmlns:a="http://schemas.openxmlformats.org/drawingml/2006/main" wrap="square" anchor="ctr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BE63E16-65D4-4203-B9CE-730B4D06A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6549" y="342900"/>
            <a:ext cx="1379601" cy="123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· 화면 기획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BD4A3A1D-6C75-4C6C-8E07-364676F29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330101"/>
            <a:ext cx="8290661" cy="1428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APPENDIX B5-4 — 화면별 요소 분석표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3431AAA1-59EF-4D6F-B549-4B5325904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536377"/>
            <a:ext cx="8290661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1498597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 xmlns:a="http://schemas.openxmlformats.org/drawingml/2006/main"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화면 C · 요소 분석 1/1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94" name="Text 92">
            <a:extLst xmlns:a="http://schemas.openxmlformats.org/drawingml/2006/main">
              <a:ext uri="{FF2B5EF4-FFF2-40B4-BE49-F238E27FC236}">
                <a16:creationId xmlns:a16="http://schemas.microsoft.com/office/drawing/2014/main" id="{3F2A50A9-9AA5-4E2A-B213-F64E24FC0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4810125"/>
            <a:ext cx="4542452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5단계 · 7장 기획 "요소 분석 · 기준 · 가이드 글 8"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95" name="Text 93">
            <a:extLst xmlns:a="http://schemas.openxmlformats.org/drawingml/2006/main">
              <a:ext uri="{FF2B5EF4-FFF2-40B4-BE49-F238E27FC236}">
                <a16:creationId xmlns:a16="http://schemas.microsoft.com/office/drawing/2014/main" id="{A2F487B0-968F-4F09-97E0-B0E1D650A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10125"/>
            <a:ext cx="411480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B5-4C1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pic>
        <p:nvPicPr>
          <p:cNvPr id="96" name="Picture 95">
            <a:extLst xmlns:a="http://schemas.openxmlformats.org/drawingml/2006/main">
              <a:ext uri="{FF2B5EF4-FFF2-40B4-BE49-F238E27FC236}">
                <a16:creationId xmlns:a16="http://schemas.microsoft.com/office/drawing/2014/main" id="{FBCEAA8A-AB11-492F-8AD7-7F25CB1D74C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e92be014784dc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38357" y="1188720"/>
            <a:ext cx="1501892" cy="3255264"/>
          </a:xfrm>
          <a:prstGeom xmlns:a="http://schemas.openxmlformats.org/drawingml/2006/main" prst="rect">
            <a:avLst/>
          </a:prstGeom>
        </p:spPr>
      </p:pic>
      <p:graphicFrame>
        <p:nvGraphicFramePr>
          <p:cNvPr id="97" name="Table 96">
            <a:extLst xmlns:a="http://schemas.openxmlformats.org/drawingml/2006/main">
              <a:ext uri="{FF2B5EF4-FFF2-40B4-BE49-F238E27FC236}">
                <a16:creationId xmlns:a16="http://schemas.microsoft.com/office/drawing/2014/main" id="{DC397DB9-DA64-45E6-9FB0-B1AA97A6F719}"/>
              </a:ext>
            </a:extLst>
          </p:cNvPr>
          <p:cNvGraphicFramePr/>
          <p:nvPr/>
        </p:nvGraphicFramePr>
        <p:xfrm>
          <a:off xmlns:a="http://schemas.openxmlformats.org/drawingml/2006/main" x="2240280" y="1143000"/>
          <a:ext xmlns:a="http://schemas.openxmlformats.org/drawingml/2006/main" cx="6391656" cy="3300979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1280160"/>
                <a:gridCol w="1024128"/>
                <a:gridCol w="1115568"/>
                <a:gridCol w="685800"/>
                <a:gridCol w="932688"/>
                <a:gridCol w="941832"/>
              </a:tblGrid>
              <a:tr h="283464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번호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Flutter 위젯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비즈니스 명칭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정보 전달 기준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원칙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편의성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가이드 글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</a:tr>
              <a:tr h="603503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C-1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BottomSheet / Icon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시나리오 닫기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닫기·뒤로 가기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P03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자유롭게 종료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닫기 위치 고정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3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C-2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Text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질문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급여 7일 지연 명시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P02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현실 상황 언어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고정 질문 사용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3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C-3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Row / Card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기본/지연 비교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같은 목표일 두 값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차이 한눈에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날짜·가정 표시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3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C-4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Card / Text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예시 결과 안내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사전 작성 응답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P10/P08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기능 한계 이해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캐릭터는 안내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3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C-5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Text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가정과 제외 항목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고정/변동 범위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P01/P05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결과 전제 확인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AI 조언 아님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8" name="TextBox 97">
            <a:extLst xmlns:a="http://schemas.openxmlformats.org/drawingml/2006/main">
              <a:ext uri="{FF2B5EF4-FFF2-40B4-BE49-F238E27FC236}">
                <a16:creationId xmlns:a16="http://schemas.microsoft.com/office/drawing/2014/main" id="{676CCECC-4FC6-4DC4-A084-313F890B1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4562856"/>
            <a:ext cx="637336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전체 명칭·STATE·설계 의도는 docs/디자인가이드.md와 코드의 요소 주석에서 추적한다.</a:t>
            </a:r>
          </a:p>
        </p:txBody>
      </p:sp>
    </p:spTree>
    <p:extLst>
      <p:ext uri="{BB962C8B-B14F-4D97-AF65-F5344CB8AC3E}">
        <p14:creationId xmlns:p14="http://schemas.microsoft.com/office/powerpoint/2010/main" val="613548462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AC12703-F5CD-441D-8DC0-538136785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599" y="304800"/>
            <a:ext cx="1606451" cy="200025"/>
          </a:xfrm>
          <a:prstGeom xmlns:a="http://schemas.openxmlformats.org/drawingml/2006/main" prst="roundRect">
            <a:avLst>
              <a:gd name="adj" fmla="val 63492"/>
            </a:avLst>
          </a:prstGeom>
          <a:solidFill xmlns:a="http://schemas.openxmlformats.org/drawingml/2006/main">
            <a:srgbClr val="2E332C"/>
          </a:solidFill>
        </p:spPr>
        <p:txBody>
          <a:bodyPr xmlns:a="http://schemas.openxmlformats.org/drawingml/2006/main" wrap="square" anchor="ctr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BE63E16-65D4-4203-B9CE-730B4D06A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6549" y="342900"/>
            <a:ext cx="1379601" cy="123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· 화면 기획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BD4A3A1D-6C75-4C6C-8E07-364676F29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330101"/>
            <a:ext cx="8290661" cy="1428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APPENDIX B5-4 — 화면별 요소 분석표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3431AAA1-59EF-4D6F-B549-4B5325904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536377"/>
            <a:ext cx="8290661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1498597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 xmlns:a="http://schemas.openxmlformats.org/drawingml/2006/main"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화면 D · 요소 분석 1/1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94" name="Text 92">
            <a:extLst xmlns:a="http://schemas.openxmlformats.org/drawingml/2006/main">
              <a:ext uri="{FF2B5EF4-FFF2-40B4-BE49-F238E27FC236}">
                <a16:creationId xmlns:a16="http://schemas.microsoft.com/office/drawing/2014/main" id="{3F2A50A9-9AA5-4E2A-B213-F64E24FC0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4810125"/>
            <a:ext cx="4542452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5단계 · 7장 기획 "요소 분석 · 기준 · 가이드 글 8"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95" name="Text 93">
            <a:extLst xmlns:a="http://schemas.openxmlformats.org/drawingml/2006/main">
              <a:ext uri="{FF2B5EF4-FFF2-40B4-BE49-F238E27FC236}">
                <a16:creationId xmlns:a16="http://schemas.microsoft.com/office/drawing/2014/main" id="{A2F487B0-968F-4F09-97E0-B0E1D650A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10125"/>
            <a:ext cx="411480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B5-4D1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pic>
        <p:nvPicPr>
          <p:cNvPr id="96" name="Picture 95">
            <a:extLst xmlns:a="http://schemas.openxmlformats.org/drawingml/2006/main">
              <a:ext uri="{FF2B5EF4-FFF2-40B4-BE49-F238E27FC236}">
                <a16:creationId xmlns:a16="http://schemas.microsoft.com/office/drawing/2014/main" id="{E2230990-91DB-44CF-AA7F-355A2FBE1C1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adf30ff3c74c2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38357" y="1188720"/>
            <a:ext cx="1501892" cy="3255264"/>
          </a:xfrm>
          <a:prstGeom xmlns:a="http://schemas.openxmlformats.org/drawingml/2006/main" prst="rect">
            <a:avLst/>
          </a:prstGeom>
        </p:spPr>
      </p:pic>
      <p:graphicFrame>
        <p:nvGraphicFramePr>
          <p:cNvPr id="97" name="Table 96">
            <a:extLst xmlns:a="http://schemas.openxmlformats.org/drawingml/2006/main">
              <a:ext uri="{FF2B5EF4-FFF2-40B4-BE49-F238E27FC236}">
                <a16:creationId xmlns:a16="http://schemas.microsoft.com/office/drawing/2014/main" id="{6B593DDD-0649-43E3-B2BA-57B187E4B5B9}"/>
              </a:ext>
            </a:extLst>
          </p:cNvPr>
          <p:cNvGraphicFramePr/>
          <p:nvPr/>
        </p:nvGraphicFramePr>
        <p:xfrm>
          <a:off xmlns:a="http://schemas.openxmlformats.org/drawingml/2006/main" x="2240280" y="1143000"/>
          <a:ext xmlns:a="http://schemas.openxmlformats.org/drawingml/2006/main" cx="6391656" cy="3300978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1280160"/>
                <a:gridCol w="1024128"/>
                <a:gridCol w="1115568"/>
                <a:gridCol w="685800"/>
                <a:gridCol w="932688"/>
                <a:gridCol w="941832"/>
              </a:tblGrid>
              <a:tr h="283464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번호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Flutter 위젯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비즈니스 명칭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정보 전달 기준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원칙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편의성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가이드 글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</a:tr>
              <a:tr h="502919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D-1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SegmentedButton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지출/수입/이체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종류 하나 선택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P07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입력 맥락 설정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선택 강조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19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D-2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TextField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금액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숫자 키보드·통화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P02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핵심 입력 먼저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실제 저장 안 함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19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D-3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ChoiceChip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계좌·통화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KRW/VND 예시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P02/P06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통화 인지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계좌 함께 표시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19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D-4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ChoiceChip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분류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거래별 예시 분류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P07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짧게 선택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선택 상태 표시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19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D-5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Card / ListTile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날짜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오늘 선택값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P02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기록일 확인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가짜 날짜 선택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19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D-6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Button / SnackBar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추가 예시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미저장 안내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P01/P10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결과 피드백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저장 로직 없음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8" name="TextBox 97">
            <a:extLst xmlns:a="http://schemas.openxmlformats.org/drawingml/2006/main">
              <a:ext uri="{FF2B5EF4-FFF2-40B4-BE49-F238E27FC236}">
                <a16:creationId xmlns:a16="http://schemas.microsoft.com/office/drawing/2014/main" id="{A035A3C9-A079-4E09-A6D6-2CEA5A054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4562856"/>
            <a:ext cx="637336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전체 명칭·STATE·설계 의도는 docs/디자인가이드.md와 코드의 요소 주석에서 추적한다.</a:t>
            </a:r>
          </a:p>
        </p:txBody>
      </p:sp>
    </p:spTree>
    <p:extLst>
      <p:ext uri="{BB962C8B-B14F-4D97-AF65-F5344CB8AC3E}">
        <p14:creationId xmlns:p14="http://schemas.microsoft.com/office/powerpoint/2010/main" val="1215815115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ADF7CD4A-B0A3-456B-8B37-88DF22740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1679" y="304800"/>
            <a:ext cx="1394371" cy="200025"/>
          </a:xfrm>
          <a:prstGeom xmlns:a="http://schemas.openxmlformats.org/drawingml/2006/main" prst="roundRect">
            <a:avLst>
              <a:gd name="adj" fmla="val 63492"/>
            </a:avLst>
          </a:prstGeom>
          <a:solidFill xmlns:a="http://schemas.openxmlformats.org/drawingml/2006/main">
            <a:srgbClr val="2E332C"/>
          </a:solidFill>
        </p:spPr>
        <p:txBody>
          <a:bodyPr xmlns:a="http://schemas.openxmlformats.org/drawingml/2006/main" wrap="square" anchor="ctr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1EBEE1A-7780-42E0-9069-E8805CD31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8629" y="342900"/>
            <a:ext cx="1163279" cy="123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B5-5 · 기획 상세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556C8E5-7530-4D25-A804-3099BC3F6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330101"/>
            <a:ext cx="8290661" cy="1428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APPENDIX B5-5 — STATE 포인트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AAB7B85C-E4A6-4092-9798-F87F8CF2D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536377"/>
            <a:ext cx="8290661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1498597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 xmlns:a="http://schemas.openxmlformats.org/drawingml/2006/main"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어떤 데이터가 어느 위젯의 표시를 바꾸는가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72" name="Text 70">
            <a:extLst xmlns:a="http://schemas.openxmlformats.org/drawingml/2006/main">
              <a:ext uri="{FF2B5EF4-FFF2-40B4-BE49-F238E27FC236}">
                <a16:creationId xmlns:a16="http://schemas.microsoft.com/office/drawing/2014/main" id="{AA6B5BA2-8262-45F3-ACC7-766EC57C6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4810125"/>
            <a:ext cx="5053123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· 중간고사 · B5-5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73" name="Text 71">
            <a:extLst xmlns:a="http://schemas.openxmlformats.org/drawingml/2006/main">
              <a:ext uri="{FF2B5EF4-FFF2-40B4-BE49-F238E27FC236}">
                <a16:creationId xmlns:a16="http://schemas.microsoft.com/office/drawing/2014/main" id="{7A7C7EF5-2722-4D20-8ED4-30F99D0E4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3735" y="4810125"/>
            <a:ext cx="185961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B5-5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graphicFrame>
        <p:nvGraphicFramePr>
          <p:cNvPr id="74" name="Table 73">
            <a:extLst xmlns:a="http://schemas.openxmlformats.org/drawingml/2006/main">
              <a:ext uri="{FF2B5EF4-FFF2-40B4-BE49-F238E27FC236}">
                <a16:creationId xmlns:a16="http://schemas.microsoft.com/office/drawing/2014/main" id="{E3ECD16F-D877-49D4-8E28-270228387597}"/>
              </a:ext>
            </a:extLst>
          </p:cNvPr>
          <p:cNvGraphicFramePr/>
          <p:nvPr/>
        </p:nvGraphicFramePr>
        <p:xfrm>
          <a:off xmlns:a="http://schemas.openxmlformats.org/drawingml/2006/main" x="502920" y="1143000"/>
          <a:ext xmlns:a="http://schemas.openxmlformats.org/drawingml/2006/main" cx="8138160" cy="3410712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0120"/>
                <a:gridCol w="2057400"/>
                <a:gridCol w="1280160"/>
                <a:gridCol w="2487168"/>
                <a:gridCol w="1353312"/>
              </a:tblGrid>
              <a:tr h="274320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요소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바뀌는 데이터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사용자 행동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보여 주는 위치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코드 표시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A-3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실제/전망 선택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모드 선택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A-3 선택·A-4 제목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setState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B-2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7/30/목표일 기간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기간 탭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B-2/B-3/B-6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탭 표시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B-4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전체/수입/지출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필터 선택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B-3 목록·B-4 칩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setState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C-1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시나리오 표시 여부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비교/닫기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 BottomSheet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고정 응답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D-1/3/4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거래·계좌·분류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선택 칩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 입력 폼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setState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A-10/B-7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GET 4상태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요청·응답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로딩/오류/빈/목록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FutureBuilder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A-11/B-9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현재 화면 경로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하단 메뉴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NavigationBar 선택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Navigator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5" name="TextBox 74">
            <a:extLst xmlns:a="http://schemas.openxmlformats.org/drawingml/2006/main">
              <a:ext uri="{FF2B5EF4-FFF2-40B4-BE49-F238E27FC236}">
                <a16:creationId xmlns:a16="http://schemas.microsoft.com/office/drawing/2014/main" id="{C5A6FE2E-702C-47DE-963B-27061C58A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581144"/>
            <a:ext cx="81381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STATE는 주석으로 설계 지점을 표시한다. 화면 선택은 setState만 사용하며 Provider/Riverpod/Bloc·영구 저장·금융 계산은 없다.</a:t>
            </a:r>
          </a:p>
        </p:txBody>
      </p:sp>
    </p:spTree>
    <p:extLst>
      <p:ext uri="{BB962C8B-B14F-4D97-AF65-F5344CB8AC3E}">
        <p14:creationId xmlns:p14="http://schemas.microsoft.com/office/powerpoint/2010/main" val="511154930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K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2026-10-28T23:53:08.1910000Z</dcterms:created>
  <dcterms:modified xsi:type="dcterms:W3CDTF">2026-10-28T23:53:08.1920000Z</dcterms:modified>
</coreProperties>
</file>