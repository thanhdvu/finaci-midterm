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README.md; docs/디자인가이드.md; docs/셀프논증.md; docs/prompt-log.md; docs/wallet-review-notes.md. Wallet iOS 5.7.5 screenshots are student observations. Finaci images are actual UI prototype captures. No survey dataset was collected. Fixed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본문 6분에는 넘기지 않는다 — Q&amp;A 때만</a:t>
            </a:r>
            <a:br/>
            <a:br/>
            <a:r>
              <a:t>【이 장에서 말할 것】</a:t>
            </a:r>
            <a:br/>
            <a:r>
              <a:t>발표 중에는 말하지 않는다. 질문에 맞는 부록 장으로 바로 간다.</a:t>
            </a:r>
            <a:br/>
            <a:br/>
            <a:r>
              <a:t>【채우는 요령】</a:t>
            </a:r>
            <a:br/>
            <a:r>
              <a:t>- 이 구분 장은 그대로 둔다. 쓰지 않는 부록 장은 지우고, 모자라면 복제한다(B2 원칙 카드는 P0x마다 1장).</a:t>
            </a:r>
            <a:br/>
            <a:r>
              <a:t>- B4 자가평가 요약은 제출 전 점검용 — 발표 때 지워도 된다.</a:t>
            </a:r>
            <a:br/>
            <a:r>
              <a:t>- B5 기획 상세(사업 요약 · 저니 · 피쉬본/5 Why · 화면별 요소 분석표 · 상태관리 포인트)는 지우지 않는다 — 제출물 ② 발표자료에서 기획 40점의 근거가 되는 장이다(기획 문서 PDF를 따로 내지 않는다).</a:t>
            </a:r>
            <a:br/>
            <a:br/>
            <a:r>
              <a:t>【기준】 7주차 덱 부록 A2 · 40장 "발표 두 층".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UI 구현 25 근거</a:t>
            </a:r>
            <a:br/>
            <a:br/>
            <a:r>
              <a:t>【이 장에서 말할 것】</a:t>
            </a:r>
            <a:br/>
            <a:r>
              <a:t>"다른 화면은요?", "오류가 나면 어떻게 보이나요?"에 이 장을 펼쳐 해당 캡처를 가리킨다.</a:t>
            </a:r>
            <a:br/>
            <a:br/>
            <a:r>
              <a:t>【채우는 요령】</a:t>
            </a:r>
            <a:br/>
            <a:r>
              <a:t>- 위 줄: 본문에 다 못 보인 화면 전체 캡처(요소 번호 표시) — 화면 이름 · 파일은 README 3장 화면 목록과 같게. 넓은 화면 캡처도 하나.</a:t>
            </a:r>
            <a:br/>
            <a:r>
              <a:t>- 아래 줄: 로딩 · 오류 · 빈 상태 캡처 — FutureBuilder 3상태의 증거.</a:t>
            </a:r>
            <a:br/>
            <a:r>
              <a:t>- 영상 · 링크 칸: 데모 1분 · 원칙 클립 p0x.mp4 · 저장소 URL.</a:t>
            </a:r>
            <a:br/>
            <a:r>
              <a:t>- 칸이 모자라면 이 장을 복제한다. 디자인 가이드에 없는 화면은 만들지 않는다(감점).</a:t>
            </a:r>
            <a:br/>
            <a:br/>
            <a:r>
              <a:t>【기준】 안내문 4장 6단계 · 5장 감점 · 6장 제출물 ①.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docs/원칙카드.md; docs/디자인가이드.md; docs/prompt-log.md. P07. Wallet screenshots: student iOS 5.7.5 observation. Finaci screenshot: running UI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docs/원칙카드.md; docs/디자인가이드.md; docs/prompt-log.md. P06. Wallet screenshots: student iOS 5.7.5 observation. Finaci screenshot: running UI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docs/원칙카드.md; docs/디자인가이드.md; docs/prompt-log.md. P01. Wallet screenshots: student iOS 5.7.5 observation. Finaci screenshot: running UI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docs/원칙카드.md; docs/디자인가이드.md; docs/prompt-log.md. P10. Wallet screenshots: student iOS 5.7.5 observation. Finaci screenshot: running UI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셀프 논증 기록 20 증거</a:t>
            </a:r>
            <a:br/>
            <a:br/>
            <a:r>
              <a:t>【이 장에서 말할 것】</a:t>
            </a:r>
            <a:br/>
            <a:r>
              <a:t>"AI를 어떻게 썼나요?"에 한두 행으로 — 요청 → AI 결과 → 내 판단(수용/수정/폐기) → 이유.</a:t>
            </a:r>
            <a:br/>
            <a:br/>
            <a:r>
              <a:t>【채우는 요령】</a:t>
            </a:r>
            <a:br/>
            <a:r>
              <a:t>- AI에게 맡긴 일마다 한 행. 저장소 docs/prompt-log.md와 같은 내용.</a:t>
            </a:r>
            <a:br/>
            <a:r>
              <a:t>- 이유 칸에는 안내문 · 원칙 · 리뷰 근거. 예: AI가 provider를 넣었다 → 상태관리 구현은 감점(안내문 5장) → 지우고 setState만(수정).</a:t>
            </a:r>
            <a:br/>
            <a:r>
              <a:t>- AI가 넣은 실제 동작(저장 · 로그인 등)을 지웠다면 "폐기"로 남긴다(안내문 8장 FAQ).</a:t>
            </a:r>
            <a:br/>
            <a:r>
              <a:t>- 본문 셀프 논증 장에서 인용한 반론 요청(예: "이 화면 설계의 약점을 닐슨 원칙으로 반박해 줘")은 이 표의 몇 번째 행인지 적어 둔다.</a:t>
            </a:r>
            <a:br/>
            <a:br/>
            <a:r>
              <a:t>【기준】 안내문 8장 FAQ · 5장 허용/감점 · 7주차 덱 35장 · 부록 A5.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발표에서 쓰지 않는다 — 제출 전(10/29(목) 15:00 전) 스스로 채우는 점검 장</a:t>
            </a:r>
            <a:br/>
            <a:br/>
            <a:r>
              <a:t>【채우는 요령】</a:t>
            </a:r>
            <a:br/>
            <a:r>
              <a:t>- 배점은 안내문 7장 그대로다(셀프 논증 기록 20). 줄마다 근거 위치에 이 발표 자료의 장 번호(부록 B5 포함) · 저장소 경로를 적는다.</a:t>
            </a:r>
            <a:br/>
            <a:r>
              <a:t>- 근거 위치가 빈 줄이 제출 전에 채울 일이다.</a:t>
            </a:r>
            <a:br/>
            <a:r>
              <a:t>- 감점 항목이 하나도 없는지 확인한다.</a:t>
            </a:r>
            <a:br/>
            <a:r>
              <a:t>- 자가 점수는 개인 점검용이다. 실제 점수는 강사가 매긴다 — 새 점수 규칙이 아니다.</a:t>
            </a:r>
            <a:br/>
            <a:br/>
            <a:r>
              <a:t>【기준】 안내문 5장 · 7장 · 7주차 덱 41장 · 부록 A3.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기획 40(사업 요약 5)</a:t>
            </a:r>
            <a:br/>
            <a:br/>
            <a:r>
              <a:t>【이 장에서 말할 것】</a:t>
            </a:r>
            <a:br/>
            <a:r>
              <a:t>"이 앱을 누구를 위해 왜 고치나요?"라는 질문에 답하는 장. 목표 → 퍼소나 → 해결할 문제 → v2 핵심 가치 순서로 한 문장씩.</a:t>
            </a:r>
            <a:br/>
            <a:br/>
            <a:r>
              <a:t>【채우는 요령】</a:t>
            </a:r>
            <a:br/>
            <a:r>
              <a:t>- 제출물 ② 발표자료가 기획 문서를 대신한다(2026-10-15 변경: 제출물 2종). 기획 1–5단계는 본문 + 부록 B5에 담는다 — 이 장은 지우지 않는다.</a:t>
            </a:r>
            <a:br/>
            <a:r>
              <a:t>- 본문 03장 개요(앱 소개 8칸)와 같은 말을 쓴다. 목표는 숫자로 잴 수 있게(예: 탭 수 · 시간).</a:t>
            </a:r>
            <a:br/>
            <a:r>
              <a:t>- 해결할 문제는 B5-3 근본 원인과 같은 문제여야 한다.</a:t>
            </a:r>
            <a:br/>
            <a:br/>
            <a:r>
              <a:t>【기준】 안내문 4장 2단계 · 7장 기획 "사업 요약 5".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기획 40(저니 8)</a:t>
            </a:r>
            <a:br/>
            <a:br/>
            <a:r>
              <a:t>【이 장에서 말할 것】</a:t>
            </a:r>
            <a:br/>
            <a:r>
              <a:t>목표에서 출발해 단계별로 리뷰 근거와 감정을 짚고, 감정 최저점 단계와 그 이유(리뷰 # · 어긴 원칙)를 말한다.</a:t>
            </a:r>
            <a:br/>
            <a:br/>
            <a:r>
              <a:t>【채우는 요령】</a:t>
            </a:r>
            <a:br/>
            <a:r>
              <a:t>- 본문 06장은 요약, 이 장이 저니 전체다. 단계 이름은 사용자 행동으로 쓴다(예: 검색 → 비교 → 주문).</a:t>
            </a:r>
            <a:br/>
            <a:r>
              <a:t>- 주황 줄 4개가 확장 4줄(사용 기기 · AI 활용 기회 · 어긴 원칙 · 필요한 데이터)이다. 필요한 데이터는 json-server GET 필드와 맞춘다.</a:t>
            </a:r>
            <a:br/>
            <a:r>
              <a:t>- 감정 곡선 그림을 쓰려면 이 장을 복제해 그림을 넣고, 표는 지우지 않는다.</a:t>
            </a:r>
            <a:br/>
            <a:br/>
            <a:r>
              <a:t>【기준】 안내문 4장 3단계 · 7장 기획 "저니 8".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docs/wallet-user-journey-board-ko.png; docs/hanh-trinh-nguoi-dung.md; docs/wallet-review-notes.md. Wallet screenshots from student. Review low point Sync and personal Outlook experience distinguished; emotions AI-assisted estimates, not measured user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기획 40(피쉬본 · 5 Why 5)</a:t>
            </a:r>
            <a:br/>
            <a:br/>
            <a:r>
              <a:t>【이 장에서 말할 것】</a:t>
            </a:r>
            <a:br/>
            <a:r>
              <a:t>피쉬본 머리(저니 감정 최저점 문제) → 여섯 시각 중 고른 우선순위 1개와 이유 → 5 Why → 근본 원인 → v2에서 고칠 화면 · 요소 번호.</a:t>
            </a:r>
            <a:br/>
            <a:br/>
            <a:r>
              <a:t>【채우는 요령】</a:t>
            </a:r>
            <a:br/>
            <a:r>
              <a:t>- 여섯 시각: 모바일 UX · 사용성 · 데이터 · API · 네트워크 · 프로세스. 칸마다 리뷰 #나 저니 단계를 근거로 단다.</a:t>
            </a:r>
            <a:br/>
            <a:r>
              <a:t>- 5 Why의 마지막은 증상이 아니라 원인이어야 한다. UI로 고칠 수 있는 원인을 고른다(실제 로직 구현은 감점).</a:t>
            </a:r>
            <a:br/>
            <a:r>
              <a:t>- 피쉬본 그림을 쓰면 장을 복제해 넣는다.</a:t>
            </a:r>
            <a:br/>
            <a:br/>
            <a:r>
              <a:t>【기준】 안내문 4장 4단계 · 7장 기획 "피쉬본 · 5 Why 5".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A; corresponding lib/screens file; runtime screenshot docs/screenshots/finaci-a.png.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A; corresponding lib/screens file; runtime screenshot docs/screenshots/finaci-a.png.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B; corresponding lib/screens file; runtime screenshot docs/screenshots/finaci-b.png.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B; corresponding lib/screens file; runtime screenshot docs/screenshots/finaci-b.png.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C; corresponding lib/screens file; runtime screenshot docs/screenshots/finaci-c.png.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docs/디자인가이드.md screen D; corresponding lib/screens file; runtime screenshot docs/screenshots/finaci-d.png. Table entries are concise forms of same element IDs, not new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 · 연결 배점】 Q&amp;A 때만 · 기획 40(상태관리 포인트 4)</a:t>
            </a:r>
            <a:br/>
            <a:br/>
            <a:r>
              <a:t>【이 장에서 말할 것】</a:t>
            </a:r>
            <a:br/>
            <a:r>
              <a:t>"어떤 데이터가 바뀌고, 어느 위젯이 그것을 보여 주는가"를 S번호로 짚는다. 구현은 하지 않았다는 것을 분명히 말한다.</a:t>
            </a:r>
            <a:br/>
            <a:br/>
            <a:r>
              <a:t>【채우는 요령】</a:t>
            </a:r>
            <a:br/>
            <a:r>
              <a:t>- 바뀌는 데이터 · 언제 바뀌나(사용자 행동) · 보여질 위젯(요소 번호, B5-4와 같게) · 코드 표시 위치(// STATE: S1).</a:t>
            </a:r>
            <a:br/>
            <a:r>
              <a:t>- Provider · Riverpod · Bloc 등 상태관리 구현, 영구 저장은 감점이다 — 표시만 한다.</a:t>
            </a:r>
            <a:br/>
            <a:r>
              <a:t>- 이 표가 13주 상태관리 수업의 구현 목록이 된다.</a:t>
            </a:r>
            <a:br/>
            <a:br/>
            <a:r>
              <a:t>【기준】 안내문 4장 5단계 · 5장 감점 · 7장 기획 "상태관리 포인트 4".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github.com/thanhdvu/finaci-midterm/blob/main/docs/video/finaci-demo-1min.mp4" TargetMode="External"/><Relationship Id="rId5" Type="http://schemas.openxmlformats.org/officeDocument/2006/relationships/hyperlink" Target="https://flying-fjord-n1xr8rj-thuyanhdv-3408.vercel.app/" TargetMode="Externa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hyperlink" Target="https://github.com/thanhdvu/finaci-midterm/blob/main/docs/video/finaci-demo-1min.mp4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hyperlink" Target="https://github.com/thanhdvu/finaci-midter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s://flying-fjord-n1xr8rj-thuyanhdv-3408.vercel.app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A91B861E-64A9-41A9-93B7-98B977F45EC9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4857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4F5B3A"/>
                </a:solidFill>
                <a:latin typeface="Noto Sans KR"/>
                <a:ea typeface="Noto Sans KR"/>
                <a:cs typeface="Noto Sans KR"/>
              </a:rPr>
              <a:t>GAI3008 · 응용모바일프로그래밍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FCE8643-8275-4B7A-9AA4-3BAED33AA104}"/>
              </a:ext>
            </a:extLst>
          </p:cNvPr>
          <p:cNvSpPr>
            <a:spLocks noGrp="1"/>
          </p:cNvSpPr>
          <p:nvPr/>
        </p:nvSpPr>
        <p:spPr>
          <a:xfrm>
            <a:off x="7620000" y="2857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2026.10.29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C2BE4470-4956-4F40-9E76-2B2653D40310}"/>
              </a:ext>
            </a:extLst>
          </p:cNvPr>
          <p:cNvSpPr>
            <a:spLocks noGrp="1"/>
          </p:cNvSpPr>
          <p:nvPr/>
        </p:nvSpPr>
        <p:spPr>
          <a:xfrm>
            <a:off x="381000" y="952500"/>
            <a:ext cx="3810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4F5B3A"/>
                </a:solidFill>
                <a:latin typeface="Noto Sans KR"/>
                <a:ea typeface="Noto Sans KR"/>
                <a:cs typeface="Noto Sans KR"/>
              </a:rPr>
              <a:t>finaci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001DF1E-BD86-4955-B42E-F847FFEC6258}"/>
              </a:ext>
            </a:extLst>
          </p:cNvPr>
          <p:cNvSpPr>
            <a:spLocks noGrp="1"/>
          </p:cNvSpPr>
          <p:nvPr/>
        </p:nvSpPr>
        <p:spPr>
          <a:xfrm>
            <a:off x="409575" y="177165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F5B3A"/>
                </a:solidFill>
                <a:latin typeface="Noto Sans KR"/>
                <a:ea typeface="Noto Sans KR"/>
                <a:cs typeface="Noto Sans KR"/>
              </a:rPr>
              <a:t>피나시 · 다국가·다중 통화 생활비 계획 도우미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2B35C27-62E6-4334-918E-41A8D237B762}"/>
              </a:ext>
            </a:extLst>
          </p:cNvPr>
          <p:cNvSpPr>
            <a:spLocks noGrp="1"/>
          </p:cNvSpPr>
          <p:nvPr/>
        </p:nvSpPr>
        <p:spPr>
          <a:xfrm>
            <a:off x="381000" y="2257425"/>
            <a:ext cx="3905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기록한 돈을</a:t>
            </a:r>
          </a:p>
          <a:p>
            <a:pPr>
              <a:buNone/>
              <a:def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앞으로의 계획으로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E21FD617-6343-4010-9194-C00D2B6AE7E0}"/>
              </a:ext>
            </a:extLst>
          </p:cNvPr>
          <p:cNvSpPr>
            <a:spLocks noGrp="1"/>
          </p:cNvSpPr>
          <p:nvPr/>
        </p:nvSpPr>
        <p:spPr>
          <a:xfrm>
            <a:off x="409575" y="3248025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Wallet의 예정 항목 재입력 경험에서 출발한</a:t>
            </a:r>
          </a:p>
          <a:p>
            <a:pPr>
              <a:buNone/>
              <a:def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다중 통화 현금흐름 UI 제안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DC414A97-1819-4EBD-891B-917287CB511F}"/>
              </a:ext>
            </a:extLst>
          </p:cNvPr>
          <p:cNvSpPr>
            <a:spLocks noGrp="1"/>
          </p:cNvSpPr>
          <p:nvPr/>
        </p:nvSpPr>
        <p:spPr>
          <a:xfrm>
            <a:off x="409575" y="41624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Dinh Vu Thuy Anh  ·  2024106125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1835FEB-B417-419B-890D-7F7C05E82066}"/>
              </a:ext>
            </a:extLst>
          </p:cNvPr>
          <p:cNvSpPr>
            <a:spLocks noGrp="1"/>
          </p:cNvSpPr>
          <p:nvPr/>
        </p:nvSpPr>
        <p:spPr>
          <a:xfrm>
            <a:off x="409575" y="46482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buNone/>
              <a:def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Wallet 현행 분석 → finaci v2 UX/UI 프로토타입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C28A6509-437A-473A-B0D1-62E7B566C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67450" y="1666875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4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AB4C4C-F2A1-473F-B8AA-3F128F04ADBE}"/>
              </a:ext>
            </a:extLst>
          </p:cNvPr>
          <p:cNvSpPr>
            <a:spLocks noGrp="1"/>
          </p:cNvSpPr>
          <p:nvPr/>
        </p:nvSpPr>
        <p:spPr>
          <a:xfrm>
            <a:off x="7153721" y="304800"/>
            <a:ext cx="1482328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D17F37-6577-4329-9D0C-A7E97536E90D}"/>
              </a:ext>
            </a:extLst>
          </p:cNvPr>
          <p:cNvSpPr>
            <a:spLocks noGrp="1"/>
          </p:cNvSpPr>
          <p:nvPr/>
        </p:nvSpPr>
        <p:spPr>
          <a:xfrm>
            <a:off x="7280672" y="342900"/>
            <a:ext cx="1252996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— · 발표 15 (6분 준수)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F4F0E8-6AE8-4C7D-8FC6-DD8E3628C7A5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1 · 목차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255ADA-6B1E-4579-9E7B-98D74EFE6B1F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발표 순서와 시간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198" name="Text 196">
            <a:extLst>
              <a:ext uri="{FF2B5EF4-FFF2-40B4-BE49-F238E27FC236}">
                <a16:creationId xmlns:a16="http://schemas.microsoft.com/office/drawing/2014/main" id="{69371000-D6B6-4E39-A7B3-79712240CFF5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64173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8단계(발표 6분 + 질의 2분) · 7장 평가(배점 그대로)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99" name="Text 197">
            <a:extLst>
              <a:ext uri="{FF2B5EF4-FFF2-40B4-BE49-F238E27FC236}">
                <a16:creationId xmlns:a16="http://schemas.microsoft.com/office/drawing/2014/main" id="{AABF0692-C478-4F73-BD84-37C46B45D3F4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200" name="Table 199">
            <a:extLst>
              <a:ext uri="{FF2B5EF4-FFF2-40B4-BE49-F238E27FC236}">
                <a16:creationId xmlns:a16="http://schemas.microsoft.com/office/drawing/2014/main" id="{3532FDD1-B365-49BA-AAD3-5BFBBB710FBA}"/>
              </a:ext>
            </a:extLst>
          </p:cNvPr>
          <p:cNvGraphicFramePr/>
          <p:nvPr/>
        </p:nvGraphicFramePr>
        <p:xfrm>
          <a:off x="502920" y="1133856"/>
          <a:ext cx="594360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보여 줄 것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앱과 발표자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 순서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03–04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 개요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대상·가치·현행 대비 개선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0:45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05–06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문제 정의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리뷰·저니·근본 원인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1:00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UX/UI 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요소·위젯·정보·STATE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1:00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셀프 논증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반론과 수정 결정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1:00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설명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GET·전환·3상태·적응형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0:45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A/B/C/D와 예시 범위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1:15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배움과 다음 단계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판단에서 배운 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0:15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Q&amp;A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부록 근거로 응답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2:00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1" name="TextBox 200">
            <a:extLst>
              <a:ext uri="{FF2B5EF4-FFF2-40B4-BE49-F238E27FC236}">
                <a16:creationId xmlns:a16="http://schemas.microsoft.com/office/drawing/2014/main" id="{8C2250C3-182E-47E9-848C-C6F8DB902F8F}"/>
              </a:ext>
            </a:extLst>
          </p:cNvPr>
          <p:cNvSpPr>
            <a:spLocks noGrp="1"/>
          </p:cNvSpPr>
          <p:nvPr/>
        </p:nvSpPr>
        <p:spPr>
          <a:xfrm>
            <a:off x="548640" y="4572000"/>
            <a:ext cx="5486400" cy="1371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본문 합계 6:00 · Q&amp;A 2:00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2804C68-AEEA-4EF9-80E4-5F49E03AE93C}"/>
              </a:ext>
            </a:extLst>
          </p:cNvPr>
          <p:cNvSpPr>
            <a:spLocks noGrp="1"/>
          </p:cNvSpPr>
          <p:nvPr/>
        </p:nvSpPr>
        <p:spPr>
          <a:xfrm>
            <a:off x="6656832" y="1133856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B1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AD4D0F50-A4E9-4B62-83D2-94F8D9F10892}"/>
              </a:ext>
            </a:extLst>
          </p:cNvPr>
          <p:cNvSpPr>
            <a:spLocks noGrp="1"/>
          </p:cNvSpPr>
          <p:nvPr/>
        </p:nvSpPr>
        <p:spPr>
          <a:xfrm>
            <a:off x="7040880" y="1133856"/>
            <a:ext cx="1554480" cy="50292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전체 화면·3상태·URL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72B2877-1593-48F5-879D-4FCEC0667486}"/>
              </a:ext>
            </a:extLst>
          </p:cNvPr>
          <p:cNvSpPr>
            <a:spLocks noGrp="1"/>
          </p:cNvSpPr>
          <p:nvPr/>
        </p:nvSpPr>
        <p:spPr>
          <a:xfrm>
            <a:off x="6656832" y="176479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B2</a:t>
            </a: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EE03BCAD-5114-40A9-BA3C-BABFED780C53}"/>
              </a:ext>
            </a:extLst>
          </p:cNvPr>
          <p:cNvSpPr>
            <a:spLocks noGrp="1"/>
          </p:cNvSpPr>
          <p:nvPr/>
        </p:nvSpPr>
        <p:spPr>
          <a:xfrm>
            <a:off x="7040880" y="1764792"/>
            <a:ext cx="1554480" cy="50292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P07 / P06 / P01 / P10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BC62A93-204F-4E38-BB3C-9CB8B7A322F9}"/>
              </a:ext>
            </a:extLst>
          </p:cNvPr>
          <p:cNvSpPr>
            <a:spLocks noGrp="1"/>
          </p:cNvSpPr>
          <p:nvPr/>
        </p:nvSpPr>
        <p:spPr>
          <a:xfrm>
            <a:off x="6656832" y="239572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B3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1DB45C50-07C3-4E60-A8FB-21A1FE73D573}"/>
              </a:ext>
            </a:extLst>
          </p:cNvPr>
          <p:cNvSpPr>
            <a:spLocks noGrp="1"/>
          </p:cNvSpPr>
          <p:nvPr/>
        </p:nvSpPr>
        <p:spPr>
          <a:xfrm>
            <a:off x="7040880" y="2395728"/>
            <a:ext cx="1554480" cy="50292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실제 대화와 추가 논증 기록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0391B1B-C852-4BEA-831A-5793DBDB0C16}"/>
              </a:ext>
            </a:extLst>
          </p:cNvPr>
          <p:cNvSpPr>
            <a:spLocks noGrp="1"/>
          </p:cNvSpPr>
          <p:nvPr/>
        </p:nvSpPr>
        <p:spPr>
          <a:xfrm>
            <a:off x="6656832" y="3026663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B4</a:t>
            </a: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2BE99102-AC4A-4CFD-96DB-4051189A2EBD}"/>
              </a:ext>
            </a:extLst>
          </p:cNvPr>
          <p:cNvSpPr>
            <a:spLocks noGrp="1"/>
          </p:cNvSpPr>
          <p:nvPr/>
        </p:nvSpPr>
        <p:spPr>
          <a:xfrm>
            <a:off x="7040880" y="3026663"/>
            <a:ext cx="1554480" cy="50292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rubric별 자가평가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868DD1F-6F67-444D-8193-ADEACB33ADC3}"/>
              </a:ext>
            </a:extLst>
          </p:cNvPr>
          <p:cNvSpPr>
            <a:spLocks noGrp="1"/>
          </p:cNvSpPr>
          <p:nvPr/>
        </p:nvSpPr>
        <p:spPr>
          <a:xfrm>
            <a:off x="6656832" y="36576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B5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EC8BC500-6AE3-4B21-BD18-17C74BE17946}"/>
              </a:ext>
            </a:extLst>
          </p:cNvPr>
          <p:cNvSpPr>
            <a:spLocks noGrp="1"/>
          </p:cNvSpPr>
          <p:nvPr/>
        </p:nvSpPr>
        <p:spPr>
          <a:xfrm>
            <a:off x="7040880" y="3657600"/>
            <a:ext cx="1554480" cy="50292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사업·저니·원인·A/B/C/D 요소</a:t>
            </a:r>
          </a:p>
        </p:txBody>
      </p:sp>
    </p:spTree>
    <p:extLst>
      <p:ext uri="{BB962C8B-B14F-4D97-AF65-F5344CB8AC3E}">
        <p14:creationId xmlns:p14="http://schemas.microsoft.com/office/powerpoint/2010/main" val="62448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E98496-5BA6-490D-BFFC-DB3382A31225}"/>
              </a:ext>
            </a:extLst>
          </p:cNvPr>
          <p:cNvSpPr>
            <a:spLocks noGrp="1"/>
          </p:cNvSpPr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7F58E-892E-48C4-87D1-AFD7BBA32CC5}"/>
              </a:ext>
            </a:extLst>
          </p:cNvPr>
          <p:cNvSpPr>
            <a:spLocks noGrp="1"/>
          </p:cNvSpPr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0:45 (2장 합) · 기획 40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F4E3FE-8FEB-458D-B9E5-8E472327E205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2 · 프로젝트 개요 1/2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AC0E01-AF6B-445D-A8E4-7D4379583406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누구를 위한 앱이며, 어떤 결정을 돕는가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ED38F0F-831F-4112-9FAC-E3C48714E9D9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6540809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칸 이름: README "앱 소개" · 요소 이름 · 글자 제한: Apple "App Store product page" 문서 · 안내문 4장 1 · 2단계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16EFF25-96A2-48AA-A7A5-F3CE21F661E6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44EDD9-58CC-45C2-B639-F8ECF582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896112" cy="89611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C844F9B-8EFA-406C-8FAB-5A9AFC7AEC73}"/>
              </a:ext>
            </a:extLst>
          </p:cNvPr>
          <p:cNvSpPr>
            <a:spLocks noGrp="1"/>
          </p:cNvSpPr>
          <p:nvPr/>
        </p:nvSpPr>
        <p:spPr>
          <a:xfrm>
            <a:off x="1627632" y="1115568"/>
            <a:ext cx="342900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앱 이름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855A0DC-21AF-4B37-B8A1-68465D4C3D55}"/>
              </a:ext>
            </a:extLst>
          </p:cNvPr>
          <p:cNvSpPr>
            <a:spLocks noGrp="1"/>
          </p:cNvSpPr>
          <p:nvPr/>
        </p:nvSpPr>
        <p:spPr>
          <a:xfrm>
            <a:off x="1627632" y="1362456"/>
            <a:ext cx="3401568" cy="329184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finaci (피나시)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D58413-D4F8-47F4-B47E-9AB487AD7507}"/>
              </a:ext>
            </a:extLst>
          </p:cNvPr>
          <p:cNvSpPr>
            <a:spLocks noGrp="1"/>
          </p:cNvSpPr>
          <p:nvPr/>
        </p:nvSpPr>
        <p:spPr>
          <a:xfrm>
            <a:off x="1627632" y="1792224"/>
            <a:ext cx="342900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부제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F8C39DB-5D3C-4EA3-B19F-447A92EE6CB6}"/>
              </a:ext>
            </a:extLst>
          </p:cNvPr>
          <p:cNvSpPr>
            <a:spLocks noGrp="1"/>
          </p:cNvSpPr>
          <p:nvPr/>
        </p:nvSpPr>
        <p:spPr>
          <a:xfrm>
            <a:off x="1627632" y="2029968"/>
            <a:ext cx="3401568" cy="36576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다국가·다중 통화 생활비 계획 도우미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050861-9A02-43C6-9B40-848667E18B79}"/>
              </a:ext>
            </a:extLst>
          </p:cNvPr>
          <p:cNvSpPr>
            <a:spLocks noGrp="1"/>
          </p:cNvSpPr>
          <p:nvPr/>
        </p:nvSpPr>
        <p:spPr>
          <a:xfrm>
            <a:off x="502920" y="2542032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카테고리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0F34CC7-CC7F-4B89-91E0-2F5AB3094CD6}"/>
              </a:ext>
            </a:extLst>
          </p:cNvPr>
          <p:cNvSpPr>
            <a:spLocks noGrp="1"/>
          </p:cNvSpPr>
          <p:nvPr/>
        </p:nvSpPr>
        <p:spPr>
          <a:xfrm>
            <a:off x="502920" y="2779776"/>
            <a:ext cx="1143000" cy="34747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3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금융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8F7293-6112-4E18-A523-6B6D95048310}"/>
              </a:ext>
            </a:extLst>
          </p:cNvPr>
          <p:cNvSpPr>
            <a:spLocks noGrp="1"/>
          </p:cNvSpPr>
          <p:nvPr/>
        </p:nvSpPr>
        <p:spPr>
          <a:xfrm>
            <a:off x="1783080" y="2542032"/>
            <a:ext cx="32461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대상 사용자 / 사용 상황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EA61374-695E-4883-8BA0-0AD3F6C748E8}"/>
              </a:ext>
            </a:extLst>
          </p:cNvPr>
          <p:cNvSpPr>
            <a:spLocks noGrp="1"/>
          </p:cNvSpPr>
          <p:nvPr/>
        </p:nvSpPr>
        <p:spPr>
          <a:xfrm>
            <a:off x="1783080" y="2779776"/>
            <a:ext cx="3246120" cy="59436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제품: 다국가·다중 통화 이용자</a:t>
            </a: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시연: 한국 거주 베트남 유학생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A90823-BC63-45E1-85A0-B8B1156A3683}"/>
              </a:ext>
            </a:extLst>
          </p:cNvPr>
          <p:cNvSpPr>
            <a:spLocks noGrp="1"/>
          </p:cNvSpPr>
          <p:nvPr/>
        </p:nvSpPr>
        <p:spPr>
          <a:xfrm>
            <a:off x="502920" y="3520440"/>
            <a:ext cx="45262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63F6438-E67B-464B-9B84-2C7B76AD4793}"/>
              </a:ext>
            </a:extLst>
          </p:cNvPr>
          <p:cNvSpPr>
            <a:spLocks noGrp="1"/>
          </p:cNvSpPr>
          <p:nvPr/>
        </p:nvSpPr>
        <p:spPr>
          <a:xfrm>
            <a:off x="502920" y="3767328"/>
            <a:ext cx="4526280" cy="85953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lang="ko-KR" altLang="en-US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여러 통화의 수입</a:t>
            </a:r>
            <a:r>
              <a:rPr lang="en-US" altLang="ko-KR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·</a:t>
            </a:r>
            <a:r>
              <a:rPr lang="ko-KR" altLang="en-US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지출과 목표 날짜를 함께 본다</a:t>
            </a:r>
            <a:r>
              <a:rPr lang="en-US" altLang="ko-KR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. </a:t>
            </a:r>
            <a:r>
              <a:rPr lang="ko-KR" altLang="en-US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이번 </a:t>
            </a:r>
            <a:r>
              <a:rPr lang="en-US" altLang="ko-KR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VND/KRW </a:t>
            </a:r>
            <a:r>
              <a:rPr lang="ko-KR" altLang="en-US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사례는 시연용이며 제품의 전체 대상을 제한하지 않는다</a:t>
            </a:r>
            <a:r>
              <a:rPr lang="en-US" altLang="ko-KR" sz="1250" b="0">
                <a:solidFill>
                  <a:srgbClr val="2E332C"/>
                </a:solidFill>
                <a:latin typeface="Noto Sans KR" panose="020B0200000000000000" pitchFamily="34" charset="-128"/>
                <a:ea typeface="Noto Sans KR"/>
                <a:cs typeface="Noto Sans KR"/>
              </a:rPr>
              <a:t>.</a:t>
            </a:r>
            <a:endParaRPr sz="1250" b="0">
              <a:solidFill>
                <a:srgbClr val="2E332C"/>
              </a:solidFill>
              <a:latin typeface="Noto Sans KR" panose="020B0200000000000000" pitchFamily="34" charset="-128"/>
              <a:ea typeface="Noto Sans KR"/>
              <a:cs typeface="Noto Sans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B3C702-0034-4BEC-BF36-1EA1790FA2A4}"/>
              </a:ext>
            </a:extLst>
          </p:cNvPr>
          <p:cNvSpPr>
            <a:spLocks noGrp="1"/>
          </p:cNvSpPr>
          <p:nvPr/>
        </p:nvSpPr>
        <p:spPr>
          <a:xfrm>
            <a:off x="5266944" y="1124712"/>
            <a:ext cx="33649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현행 Wallet 평가 및 리뷰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C712B3AD-5B93-425E-9D9A-197CA49FE232}"/>
              </a:ext>
            </a:extLst>
          </p:cNvPr>
          <p:cNvGraphicFramePr/>
          <p:nvPr/>
        </p:nvGraphicFramePr>
        <p:xfrm>
          <a:off x="5266944" y="1472184"/>
          <a:ext cx="336499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스토어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별점 / 평가 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KR iOS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4.8 / 38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 iOS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4.6 / 5.9K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UK iOS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 / 889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2CDA14D3-E39A-4ED5-B6CB-D4938F44C93C}"/>
              </a:ext>
            </a:extLst>
          </p:cNvPr>
          <p:cNvSpPr>
            <a:spLocks noGrp="1"/>
          </p:cNvSpPr>
          <p:nvPr/>
        </p:nvSpPr>
        <p:spPr>
          <a:xfrm>
            <a:off x="5266944" y="2779776"/>
            <a:ext cx="33649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대표 리뷰 R13 · 1★ · 2026-08-29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5CBBDF0-62AA-4D40-BBB6-5AE241823811}"/>
              </a:ext>
            </a:extLst>
          </p:cNvPr>
          <p:cNvSpPr>
            <a:spLocks noGrp="1"/>
          </p:cNvSpPr>
          <p:nvPr/>
        </p:nvSpPr>
        <p:spPr>
          <a:xfrm>
            <a:off x="5266944" y="3090672"/>
            <a:ext cx="3364992" cy="93268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4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“UI is clunky, illogical.”</a:t>
            </a:r>
          </a:p>
          <a:p>
            <a:pPr algn="l">
              <a:spcAft>
                <a:spcPts val="200"/>
              </a:spcAft>
              <a:buNone/>
            </a:pPr>
            <a:r>
              <a:rPr sz="14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미국 Google Play Android 리뷰다. 한국 iOS의 현행 문제로 일반화하지 않는다.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FB776A-C8A3-44A2-83BF-91DDD69E808D}"/>
              </a:ext>
            </a:extLst>
          </p:cNvPr>
          <p:cNvSpPr>
            <a:spLocks noGrp="1"/>
          </p:cNvSpPr>
          <p:nvPr/>
        </p:nvSpPr>
        <p:spPr>
          <a:xfrm>
            <a:off x="5266944" y="4178808"/>
            <a:ext cx="3364992" cy="4297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리뷰 표본 20개 · KR/US/UK iOS, US Android</a:t>
            </a:r>
          </a:p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출처: App Store / Google Play · 2026-10-28 수집</a:t>
            </a:r>
          </a:p>
        </p:txBody>
      </p:sp>
    </p:spTree>
    <p:extLst>
      <p:ext uri="{BB962C8B-B14F-4D97-AF65-F5344CB8AC3E}">
        <p14:creationId xmlns:p14="http://schemas.microsoft.com/office/powerpoint/2010/main" val="6356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036D32-4FE7-43E5-AAF5-250F4E868980}"/>
              </a:ext>
            </a:extLst>
          </p:cNvPr>
          <p:cNvSpPr>
            <a:spLocks noGrp="1"/>
          </p:cNvSpPr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258697-C319-4C63-89EB-5467705A5AB3}"/>
              </a:ext>
            </a:extLst>
          </p:cNvPr>
          <p:cNvSpPr>
            <a:spLocks noGrp="1"/>
          </p:cNvSpPr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0:45 (2장 합) · 기획 40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766EAE-3E5D-4C05-BFE3-D6F8E98CA442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2 · 프로젝트 개요 2/2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B5226C-9CE0-4A39-8897-D0E0AA6B7F2B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Wallet에서 유지할 강점과 바꿀 흐름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172E63C-7161-4742-AFF2-8F8EC8FB87F5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6405095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Screenshots · What's New: Apple "App Store product page" 문서 · README "앱 소개" · 안내문 4장 5단계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B72E963-03B1-4EF5-AC89-5FC1EBB381A3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34E4381-8434-4B3A-9682-8D7179ECBE72}"/>
              </a:ext>
            </a:extLst>
          </p:cNvPr>
          <p:cNvSpPr>
            <a:spLocks noGrp="1"/>
          </p:cNvSpPr>
          <p:nvPr/>
        </p:nvSpPr>
        <p:spPr>
          <a:xfrm>
            <a:off x="502920" y="1124712"/>
            <a:ext cx="91440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8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v1 Wallet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0C86FA2-F424-47D9-8F43-32743ECDF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9994"/>
            <a:ext cx="914400" cy="1982363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5A8F86C-B6CB-458B-9554-DC2BB0B471C3}"/>
              </a:ext>
            </a:extLst>
          </p:cNvPr>
          <p:cNvSpPr>
            <a:spLocks noGrp="1"/>
          </p:cNvSpPr>
          <p:nvPr/>
        </p:nvSpPr>
        <p:spPr>
          <a:xfrm>
            <a:off x="1472184" y="1124712"/>
            <a:ext cx="91440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8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v2 A · 현금흐름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F79462DA-0A9A-4050-8799-68564C98C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1560221"/>
            <a:ext cx="914400" cy="1981908"/>
          </a:xfrm>
          <a:prstGeom prst="rect">
            <a:avLst/>
          </a:prstGeom>
        </p:spPr>
      </p:pic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A5E2D49-CDB9-40C7-80BF-C2C0F05CAC99}"/>
              </a:ext>
            </a:extLst>
          </p:cNvPr>
          <p:cNvSpPr>
            <a:spLocks noGrp="1"/>
          </p:cNvSpPr>
          <p:nvPr/>
        </p:nvSpPr>
        <p:spPr>
          <a:xfrm>
            <a:off x="2441448" y="1124712"/>
            <a:ext cx="91440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8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v2 B · 일정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6C160990-2EF7-4DB4-B4F7-E03D4DE8A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1560221"/>
            <a:ext cx="914400" cy="1981908"/>
          </a:xfrm>
          <a:prstGeom prst="rect">
            <a:avLst/>
          </a:prstGeom>
        </p:spPr>
      </p:pic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42F19DA-AE06-4493-A8ED-A265F7BED974}"/>
              </a:ext>
            </a:extLst>
          </p:cNvPr>
          <p:cNvSpPr>
            <a:spLocks noGrp="1"/>
          </p:cNvSpPr>
          <p:nvPr/>
        </p:nvSpPr>
        <p:spPr>
          <a:xfrm>
            <a:off x="3410712" y="1124712"/>
            <a:ext cx="91440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8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v2 C · 시나리오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CA0816F4-BA36-4535-9643-DC50C05C4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1560221"/>
            <a:ext cx="914400" cy="1981908"/>
          </a:xfrm>
          <a:prstGeom prst="rect">
            <a:avLst/>
          </a:prstGeom>
        </p:spPr>
      </p:pic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C028F55-CA3B-4FAC-B320-7AAEF3CF013F}"/>
              </a:ext>
            </a:extLst>
          </p:cNvPr>
          <p:cNvSpPr>
            <a:spLocks noGrp="1"/>
          </p:cNvSpPr>
          <p:nvPr/>
        </p:nvSpPr>
        <p:spPr>
          <a:xfrm>
            <a:off x="4379976" y="1124712"/>
            <a:ext cx="91440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8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v2 D · 빠른 기록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A0E63C2-C656-4003-B2AB-719B6B82A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976" y="1560221"/>
            <a:ext cx="914400" cy="1981908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8C62A09-A7BC-4D70-8AF4-1CD50347E7A9}"/>
              </a:ext>
            </a:extLst>
          </p:cNvPr>
          <p:cNvSpPr>
            <a:spLocks noGrp="1"/>
          </p:cNvSpPr>
          <p:nvPr/>
        </p:nvSpPr>
        <p:spPr>
          <a:xfrm>
            <a:off x="5468112" y="1124712"/>
            <a:ext cx="3163824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새로운 기능</a:t>
            </a:r>
          </a:p>
        </p:txBody>
      </p: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02E391B4-52AB-4EDA-B338-A82384867D3A}"/>
              </a:ext>
            </a:extLst>
          </p:cNvPr>
          <p:cNvGraphicFramePr/>
          <p:nvPr/>
        </p:nvGraphicFramePr>
        <p:xfrm>
          <a:off x="5468112" y="1453896"/>
          <a:ext cx="3163824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바뀐 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A-2/A-3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통화별 계좌와 실제·전망을 구분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Wallet 계좌 카드의 장점 유지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A-5/B-3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등록한 예정 항목 재사용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Outlook 재입력: 개인 관찰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A-4/B-5/C-5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예시·포함/제외·기간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미래 잔액의 불확실성에 대한 설계 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C3787D17-4AF8-45F6-B0F1-2E3DD912C143}"/>
              </a:ext>
            </a:extLst>
          </p:cNvPr>
          <p:cNvSpPr>
            <a:spLocks noGrp="1"/>
          </p:cNvSpPr>
          <p:nvPr/>
        </p:nvSpPr>
        <p:spPr>
          <a:xfrm>
            <a:off x="502920" y="3931920"/>
            <a:ext cx="484632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이어받은 강점: 통화별 계좌 카드와 중앙 + 빠른 입력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E44448-9211-491F-8836-899FF9412FB2}"/>
              </a:ext>
            </a:extLst>
          </p:cNvPr>
          <p:cNvSpPr>
            <a:spLocks noGrp="1"/>
          </p:cNvSpPr>
          <p:nvPr/>
        </p:nvSpPr>
        <p:spPr>
          <a:xfrm>
            <a:off x="502920" y="4471416"/>
            <a:ext cx="8138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현행 Wallet 캡처는 수업 분석용 인용. 금융 값은 가림 처리.</a:t>
            </a:r>
          </a:p>
        </p:txBody>
      </p:sp>
    </p:spTree>
    <p:extLst>
      <p:ext uri="{BB962C8B-B14F-4D97-AF65-F5344CB8AC3E}">
        <p14:creationId xmlns:p14="http://schemas.microsoft.com/office/powerpoint/2010/main" val="51095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F575A6-9B74-4B5C-8905-D351D026870A}"/>
              </a:ext>
            </a:extLst>
          </p:cNvPr>
          <p:cNvSpPr>
            <a:spLocks noGrp="1"/>
          </p:cNvSpPr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848639-C18A-4611-9397-B2830415FB7F}"/>
              </a:ext>
            </a:extLst>
          </p:cNvPr>
          <p:cNvSpPr>
            <a:spLocks noGrp="1"/>
          </p:cNvSpPr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1:00 (2장 합) · 기획 40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A8624F-24D9-4CED-85BA-0EED940FB61D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3 · 문제 정의 1/2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E4C44B-EEF5-484A-A1E8-99500D96EE7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20개 리뷰에서 찾은 신호, 직접 확인한 문제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86935709-93DF-427E-8AF1-4E679AF1FCB0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152403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1단계 · 8장 FAQ(리뷰 인용) · 7장 기획 "현행 분석 · 리뷰 근거 10"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36EA5E31-9D02-44D7-8628-994EAB713F97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6F04AD-61DE-4AD3-90DF-860B5EB4594B}"/>
              </a:ext>
            </a:extLst>
          </p:cNvPr>
          <p:cNvSpPr>
            <a:spLocks noGrp="1"/>
          </p:cNvSpPr>
          <p:nvPr/>
        </p:nvSpPr>
        <p:spPr>
          <a:xfrm>
            <a:off x="502920" y="1124712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별점 분포 · Google Play US Phone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5EBF377-BCBE-4717-A8D8-5D67D37DB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5697"/>
            <a:ext cx="2286000" cy="849085"/>
          </a:xfrm>
          <a:prstGeom prst="rect">
            <a:avLst/>
          </a:prstGeom>
        </p:spPr>
      </p:pic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A4B2344E-F618-46AB-8AC1-AEE4BFA539BD}"/>
              </a:ext>
            </a:extLst>
          </p:cNvPr>
          <p:cNvGraphicFramePr/>
          <p:nvPr/>
        </p:nvGraphicFramePr>
        <p:xfrm>
          <a:off x="502920" y="2523744"/>
          <a:ext cx="228600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317,051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27,451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8,845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7,079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19,472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153DE9F3-2ECC-4605-92C1-11065A17A05D}"/>
              </a:ext>
            </a:extLst>
          </p:cNvPr>
          <p:cNvSpPr>
            <a:spLocks noGrp="1"/>
          </p:cNvSpPr>
          <p:nvPr/>
        </p:nvSpPr>
        <p:spPr>
          <a:xfrm>
            <a:off x="502920" y="4315968"/>
            <a:ext cx="22860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US Phone · 2026-10-29 · n=379,898</a:t>
            </a:r>
          </a:p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표시 380K. 앱 상단 전체 388K와 구분.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5F82B5-7983-4AA8-BE3C-31C4331453CD}"/>
              </a:ext>
            </a:extLst>
          </p:cNvPr>
          <p:cNvSpPr>
            <a:spLocks noGrp="1"/>
          </p:cNvSpPr>
          <p:nvPr/>
        </p:nvSpPr>
        <p:spPr>
          <a:xfrm>
            <a:off x="2953512" y="1124712"/>
            <a:ext cx="29718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리뷰 인용 · 원문/날짜/별점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44B43F9-41C8-4C3B-A4F4-F3572CE57160}"/>
              </a:ext>
            </a:extLst>
          </p:cNvPr>
          <p:cNvSpPr>
            <a:spLocks noGrp="1"/>
          </p:cNvSpPr>
          <p:nvPr/>
        </p:nvSpPr>
        <p:spPr>
          <a:xfrm>
            <a:off x="2953512" y="1472184"/>
            <a:ext cx="2971800" cy="94183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R13 · 1★ · 2026-08-29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“UI is clunky, illogical.”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US Android. 현행 iOS 문제로 단정하지 않음.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FA0648F0-056A-43B0-B6C6-CEBADFCA5A6D}"/>
              </a:ext>
            </a:extLst>
          </p:cNvPr>
          <p:cNvSpPr>
            <a:spLocks noGrp="1"/>
          </p:cNvSpPr>
          <p:nvPr/>
        </p:nvSpPr>
        <p:spPr>
          <a:xfrm>
            <a:off x="2953512" y="2532888"/>
            <a:ext cx="2971800" cy="94183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R15 · 5★ · 2026-04-01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“too many options.”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US iOS. 기능 복잡도에 대한 개별 의견.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EEA2099-CE28-4F4F-A84F-703414B95AA4}"/>
              </a:ext>
            </a:extLst>
          </p:cNvPr>
          <p:cNvSpPr>
            <a:spLocks noGrp="1"/>
          </p:cNvSpPr>
          <p:nvPr/>
        </p:nvSpPr>
        <p:spPr>
          <a:xfrm>
            <a:off x="2953512" y="3593591"/>
            <a:ext cx="2971800" cy="94183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R03 · 5★ · 2026-06-29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“how much money we are starting the month with.”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US iOS. 시작 잔액 표시 요청.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AF8A5D-060E-4195-B8FC-B9C579070503}"/>
              </a:ext>
            </a:extLst>
          </p:cNvPr>
          <p:cNvSpPr>
            <a:spLocks noGrp="1"/>
          </p:cNvSpPr>
          <p:nvPr/>
        </p:nvSpPr>
        <p:spPr>
          <a:xfrm>
            <a:off x="6108192" y="1124712"/>
            <a:ext cx="2523744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20개 리뷰 · 주제 중복 분류</a:t>
            </a:r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6FBDC859-9CA9-427D-97A6-07421290CE98}"/>
              </a:ext>
            </a:extLst>
          </p:cNvPr>
          <p:cNvGraphicFramePr/>
          <p:nvPr/>
        </p:nvGraphicFramePr>
        <p:xfrm>
          <a:off x="6108192" y="1472184"/>
          <a:ext cx="252374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신뢰·동기화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R06/R09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조작·입력 효율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R13/R15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표시·기능 요청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R03/R05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강점·기능 요청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R07/R11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838F3B21-0FA0-4948-9828-9A2D2BD07E71}"/>
              </a:ext>
            </a:extLst>
          </p:cNvPr>
          <p:cNvSpPr>
            <a:spLocks noGrp="1"/>
          </p:cNvSpPr>
          <p:nvPr/>
        </p:nvSpPr>
        <p:spPr>
          <a:xfrm>
            <a:off x="6108192" y="3675887"/>
            <a:ext cx="2523744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Wallet의 강점 · 개선 기준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EE2738FC-E008-4616-94B5-39995F8498F5}"/>
              </a:ext>
            </a:extLst>
          </p:cNvPr>
          <p:cNvSpPr>
            <a:spLocks noGrp="1"/>
          </p:cNvSpPr>
          <p:nvPr/>
        </p:nvSpPr>
        <p:spPr>
          <a:xfrm>
            <a:off x="6108192" y="4005072"/>
            <a:ext cx="2523744" cy="630936"/>
          </a:xfrm>
          <a:prstGeom prst="roundRect">
            <a:avLst/>
          </a:prstGeom>
          <a:solidFill>
            <a:srgbClr val="EDF1E9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P02: 통화별 계좌와 익숙한 분류</a:t>
            </a:r>
          </a:p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P07/P06: 개인 관찰인 예정 항목 재입력을 개선</a:t>
            </a:r>
          </a:p>
        </p:txBody>
      </p:sp>
    </p:spTree>
    <p:extLst>
      <p:ext uri="{BB962C8B-B14F-4D97-AF65-F5344CB8AC3E}">
        <p14:creationId xmlns:p14="http://schemas.microsoft.com/office/powerpoint/2010/main" val="9607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759341-5D09-4EC0-BB82-F36A44AFF1DF}"/>
              </a:ext>
            </a:extLst>
          </p:cNvPr>
          <p:cNvSpPr>
            <a:spLocks noGrp="1"/>
          </p:cNvSpPr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42B24C-E489-4AF9-987D-15FFF36B5FEA}"/>
              </a:ext>
            </a:extLst>
          </p:cNvPr>
          <p:cNvSpPr>
            <a:spLocks noGrp="1"/>
          </p:cNvSpPr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1:00 (2장 합) · 기획 40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096B03-BCEB-48F8-9BBA-2BF3EC44084E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3 · 문제 정의 2/2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D907DE-0F46-49BA-A082-8FA5179B1061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Sync 불만보다 재입력 문제를 먼저 고른 이유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3DDBCC5-AA34-4541-B4D7-DC2F9048AD3D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62793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3 · 4단계 · 7장 기획 "저니 8 · 피쉬본 · 5 Why 5"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51734A9-1289-4B6B-A46B-06E2D5C0E8B9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06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1BBB492-5F20-4D33-B0D3-B7FDCEAA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500"/>
          <a:stretch>
            <a:fillRect/>
          </a:stretch>
        </p:blipFill>
        <p:spPr>
          <a:xfrm>
            <a:off x="502920" y="1137433"/>
            <a:ext cx="8138160" cy="24068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45DD837-71F8-4A0F-AB90-19989E65B903}"/>
              </a:ext>
            </a:extLst>
          </p:cNvPr>
          <p:cNvSpPr>
            <a:spLocks noGrp="1"/>
          </p:cNvSpPr>
          <p:nvPr/>
        </p:nvSpPr>
        <p:spPr>
          <a:xfrm>
            <a:off x="502920" y="3675887"/>
            <a:ext cx="393192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개인 경험의 최저점: Outlook 재입력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A53ECC6-8000-452D-9ED9-BCF76F6F28DD}"/>
              </a:ext>
            </a:extLst>
          </p:cNvPr>
          <p:cNvSpPr>
            <a:spLocks noGrp="1"/>
          </p:cNvSpPr>
          <p:nvPr/>
        </p:nvSpPr>
        <p:spPr>
          <a:xfrm>
            <a:off x="502920" y="3968496"/>
            <a:ext cx="3931920" cy="65836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내가 확인하려던 예정 항목을 Outlook에서 다시 입력해야 했다. 이 과업의 불편은 직접 경험이며, 공개 리뷰의 최저점인 Sync와 다른 근거다.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B5C532-5C49-4BD2-9546-3AB3E0C6A1DC}"/>
              </a:ext>
            </a:extLst>
          </p:cNvPr>
          <p:cNvSpPr>
            <a:spLocks noGrp="1"/>
          </p:cNvSpPr>
          <p:nvPr/>
        </p:nvSpPr>
        <p:spPr>
          <a:xfrm>
            <a:off x="4681728" y="3675887"/>
            <a:ext cx="395020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UX 근본 원인과 v2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F2FAB2C-6216-44C4-8330-54D5B3272002}"/>
              </a:ext>
            </a:extLst>
          </p:cNvPr>
          <p:cNvSpPr>
            <a:spLocks noGrp="1"/>
          </p:cNvSpPr>
          <p:nvPr/>
        </p:nvSpPr>
        <p:spPr>
          <a:xfrm>
            <a:off x="4681728" y="3968496"/>
            <a:ext cx="3950208" cy="658368"/>
          </a:xfrm>
          <a:prstGeom prst="roundRect">
            <a:avLst/>
          </a:prstGeom>
          <a:solidFill>
            <a:srgbClr val="EDF1E9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5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Sync는 은행 제휴와 서비스 범위에 좌우된다. 이번 과제에서는 화면으로 개선 가능한 재입력을 우선했다. 내부 원인은 단정하지 않고 UX 연결 부족을 가설로 둔다.</a:t>
            </a:r>
          </a:p>
        </p:txBody>
      </p:sp>
    </p:spTree>
    <p:extLst>
      <p:ext uri="{BB962C8B-B14F-4D97-AF65-F5344CB8AC3E}">
        <p14:creationId xmlns:p14="http://schemas.microsoft.com/office/powerpoint/2010/main" val="374735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FA0424-CC32-4871-84E3-FC950189C437}"/>
              </a:ext>
            </a:extLst>
          </p:cNvPr>
          <p:cNvSpPr>
            <a:spLocks noGrp="1"/>
          </p:cNvSpPr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1DF141-910F-425D-AE00-5B6FF7C30311}"/>
              </a:ext>
            </a:extLst>
          </p:cNvPr>
          <p:cNvSpPr>
            <a:spLocks noGrp="1"/>
          </p:cNvSpPr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1:00 · 기획 40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EBADD5-2762-4E63-9F1B-2FF64585E75B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4 · 해결 방법 — UX/UI 기획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192CA3-048B-4918-92C8-01F4FC1DAECF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A에서 전망을 읽고 B에서 근거를 확인한다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9D7EA73-B179-4BC0-A7A3-D72472B58FA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07149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5장 감점(상태관리 구현 · 가이드에 없는 화면) · 7장 기획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199DEBD-4394-4A6A-AD3E-1CB9495F57F0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5903A3-80E7-458C-9B38-2E81030652D8}"/>
              </a:ext>
            </a:extLst>
          </p:cNvPr>
          <p:cNvSpPr>
            <a:spLocks noGrp="1"/>
          </p:cNvSpPr>
          <p:nvPr/>
        </p:nvSpPr>
        <p:spPr>
          <a:xfrm>
            <a:off x="502920" y="1124712"/>
            <a:ext cx="286207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화면 흐름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22E444C3-DB2B-4B7D-982F-35C3C97E1C73}"/>
              </a:ext>
            </a:extLst>
          </p:cNvPr>
          <p:cNvSpPr>
            <a:spLocks noGrp="1"/>
          </p:cNvSpPr>
          <p:nvPr/>
        </p:nvSpPr>
        <p:spPr>
          <a:xfrm>
            <a:off x="502920" y="1426464"/>
            <a:ext cx="2862072" cy="70408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 → B: Navigator.push</a:t>
            </a: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B 기간: TabBar / TabBarView</a:t>
            </a: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A/B → C/D: BottomSheet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F66D017F-756F-4378-B6B9-2C9162769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293" y="2221991"/>
            <a:ext cx="1105325" cy="2395728"/>
          </a:xfrm>
          <a:prstGeom prst="rect">
            <a:avLst/>
          </a:prstGeom>
        </p:spPr>
      </p:pic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C3C885C3-15C2-459E-B895-38E1DED06E73}"/>
              </a:ext>
            </a:extLst>
          </p:cNvPr>
          <p:cNvGraphicFramePr/>
          <p:nvPr/>
        </p:nvGraphicFramePr>
        <p:xfrm>
          <a:off x="3611880" y="1133856"/>
          <a:ext cx="4983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Scaffold / AppBar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현금흐름 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Wrap / Card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통화별 계좌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SegmentedButton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/ 전망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Row / Container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날짜별 잔액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ListTile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 예정 항목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DBFF205C-4CDE-450D-BAE4-30DBDD7D6092}"/>
              </a:ext>
            </a:extLst>
          </p:cNvPr>
          <p:cNvSpPr>
            <a:spLocks noGrp="1"/>
          </p:cNvSpPr>
          <p:nvPr/>
        </p:nvSpPr>
        <p:spPr>
          <a:xfrm>
            <a:off x="3611880" y="3447288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정보 전달 기준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A50D64D-C9EE-402A-ABC6-71DEF69D17B4}"/>
              </a:ext>
            </a:extLst>
          </p:cNvPr>
          <p:cNvSpPr>
            <a:spLocks noGrp="1"/>
          </p:cNvSpPr>
          <p:nvPr/>
        </p:nvSpPr>
        <p:spPr>
          <a:xfrm>
            <a:off x="3611880" y="3712463"/>
            <a:ext cx="2423160" cy="61264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A: 통화별 잔액과 목표일까지의 전망을 본다.</a:t>
            </a:r>
          </a:p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B: 어떤 예정 항목이 반영됐는지 확인한다.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AC4360-6A1F-499B-8898-9509AC0BD7C5}"/>
              </a:ext>
            </a:extLst>
          </p:cNvPr>
          <p:cNvSpPr>
            <a:spLocks noGrp="1"/>
          </p:cNvSpPr>
          <p:nvPr/>
        </p:nvSpPr>
        <p:spPr>
          <a:xfrm>
            <a:off x="6190488" y="3447288"/>
            <a:ext cx="244144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디자인 가이드 / STATE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671EE1DA-9153-4042-86A2-CE0240AA0C1B}"/>
              </a:ext>
            </a:extLst>
          </p:cNvPr>
          <p:cNvSpPr>
            <a:spLocks noGrp="1"/>
          </p:cNvSpPr>
          <p:nvPr/>
        </p:nvSpPr>
        <p:spPr>
          <a:xfrm>
            <a:off x="6190488" y="3712463"/>
            <a:ext cx="2441448" cy="88696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실제·전망을 분명히 구분한다. 선택값은 화면 표시만 바꾼다.</a:t>
            </a:r>
          </a:p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STATE: 보기 A-3/A-4, 기간 B-2/B-3/B-6</a:t>
            </a:r>
          </a:p>
        </p:txBody>
      </p:sp>
    </p:spTree>
    <p:extLst>
      <p:ext uri="{BB962C8B-B14F-4D97-AF65-F5344CB8AC3E}">
        <p14:creationId xmlns:p14="http://schemas.microsoft.com/office/powerpoint/2010/main" val="93862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B0BA97-79D8-47B7-97CA-F0F729BB85EF}"/>
              </a:ext>
            </a:extLst>
          </p:cNvPr>
          <p:cNvSpPr>
            <a:spLocks noGrp="1"/>
          </p:cNvSpPr>
          <p:nvPr/>
        </p:nvSpPr>
        <p:spPr>
          <a:xfrm>
            <a:off x="7071568" y="304800"/>
            <a:ext cx="156448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064D8E-0A6D-416B-BE1B-85D6E83D8D24}"/>
              </a:ext>
            </a:extLst>
          </p:cNvPr>
          <p:cNvSpPr>
            <a:spLocks noGrp="1"/>
          </p:cNvSpPr>
          <p:nvPr/>
        </p:nvSpPr>
        <p:spPr>
          <a:xfrm>
            <a:off x="7198519" y="342900"/>
            <a:ext cx="1336792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1:00 · 셀프 논증 기록 20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442326-283C-47CC-92F9-49D58DC3B3A3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5 · 셀프 논증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141256-33F0-4353-B0F7-EB6F3CF0E087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AI 반론 뒤 무엇을 유지하고 수정했는가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0494819-07A8-44E7-8EEE-99B555918A4F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119309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7단계 · 7장 셀프 논증 기록 20 · 8장 FAQ(AI 반론은 어떻게 받나)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ACDF5E5-5C8F-4DE5-9E9E-B80F145C4C89}"/>
              </a:ext>
            </a:extLst>
          </p:cNvPr>
          <p:cNvSpPr>
            <a:spLocks noGrp="1"/>
          </p:cNvSpPr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08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8D5DE2DE-C514-42A4-A676-96EA849136F1}"/>
              </a:ext>
            </a:extLst>
          </p:cNvPr>
          <p:cNvGraphicFramePr/>
          <p:nvPr/>
        </p:nvGraphicFramePr>
        <p:xfrm>
          <a:off x="502920" y="1124712"/>
          <a:ext cx="8138159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쟁점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 주장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반론 (AI·나)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 / 재반론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결론·근거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항목 재입력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등록한 Planned Payment를 전망에서 재사용한다.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AI: Sync가 더 넓은 문제 아닌가?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나: 제휴 범위에 좌우된다.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직접 겪은 재입력 경험을 우선하고 Sync는 보조 발견으로 남긴다.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P07/P06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관찰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예상 잔액의 오해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“예상” 안내로 한계를 알 수 있다.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AI: 사용자가 보장 잔액으로 읽을 수 있다.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나: 숫자가 경고보다 먼저 보인다.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예시 전망·기준일·기간·포함/제외를 함께 표시하고 실제/예상을 구분한다.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P01/P10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논증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6551AA22-8D14-44AE-B2C5-3FDE969E1E39}"/>
              </a:ext>
            </a:extLst>
          </p:cNvPr>
          <p:cNvSpPr>
            <a:spLocks noGrp="1"/>
          </p:cNvSpPr>
          <p:nvPr/>
        </p:nvSpPr>
        <p:spPr>
          <a:xfrm>
            <a:off x="502920" y="3136392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추가 논증 질문과 판단 · 10/29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91B0AE6-0ACE-46B7-9855-5D756C56E336}"/>
              </a:ext>
            </a:extLst>
          </p:cNvPr>
          <p:cNvSpPr>
            <a:spLocks noGrp="1"/>
          </p:cNvSpPr>
          <p:nvPr/>
        </p:nvSpPr>
        <p:spPr>
          <a:xfrm>
            <a:off x="502920" y="3447288"/>
            <a:ext cx="3063240" cy="1170432"/>
          </a:xfrm>
          <a:prstGeom prst="roundRect">
            <a:avLst/>
          </a:prstGeom>
          <a:solidFill>
            <a:srgbClr val="F6EDE5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“예정 항목을 재사용하면 어떤 위험이 남을까?”</a:t>
            </a:r>
          </a:p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반론: 재사용만으로 전망의 신뢰성이 보장되지는 않는다.</a:t>
            </a:r>
          </a:p>
          <a:p>
            <a:pPr algn="l">
              <a:spcAft>
                <a:spcPts val="200"/>
              </a:spcAft>
              <a:buNone/>
            </a:pPr>
            <a:r>
              <a:rPr sz="113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판단: 범위는 유지하고 예시·가정을 함께 표시한다.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4DC1EBD-7953-42B2-AF1A-C2A678BC6828}"/>
              </a:ext>
            </a:extLst>
          </p:cNvPr>
          <p:cNvSpPr>
            <a:spLocks noGrp="1"/>
          </p:cNvSpPr>
          <p:nvPr/>
        </p:nvSpPr>
        <p:spPr>
          <a:xfrm>
            <a:off x="3739896" y="3136392"/>
            <a:ext cx="237744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 · Wallet 예정 항목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BDB97CF-B471-4BEA-B0DB-27C8AB832303}"/>
              </a:ext>
            </a:extLst>
          </p:cNvPr>
          <p:cNvSpPr>
            <a:spLocks noGrp="1"/>
          </p:cNvSpPr>
          <p:nvPr/>
        </p:nvSpPr>
        <p:spPr>
          <a:xfrm>
            <a:off x="6254496" y="3136392"/>
            <a:ext cx="237744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 · finaci A/B 재사용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02BCDA4-7266-4E81-A441-9FD1C4B7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0" b="25000"/>
          <a:stretch>
            <a:fillRect/>
          </a:stretch>
        </p:blipFill>
        <p:spPr>
          <a:xfrm>
            <a:off x="4437813" y="3438144"/>
            <a:ext cx="981604" cy="117043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91F95B1-4E62-4315-9505-F791ED4CC9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00" b="25000"/>
          <a:stretch>
            <a:fillRect/>
          </a:stretch>
        </p:blipFill>
        <p:spPr>
          <a:xfrm>
            <a:off x="6993210" y="3438144"/>
            <a:ext cx="900010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2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FA0424-CC32-4871-84E3-FC950189C437}"/>
              </a:ext>
            </a:extLst>
          </p:cNvPr>
          <p:cNvSpPr>
            <a:spLocks noGrp="1"/>
          </p:cNvSpPr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1DF141-910F-425D-AE00-5B6FF7C30311}"/>
              </a:ext>
            </a:extLst>
          </p:cNvPr>
          <p:cNvSpPr>
            <a:spLocks noGrp="1"/>
          </p:cNvSpPr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0:45 · UI 25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EBADD5-2762-4E63-9F1B-2FF64585E75B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6 · Flutter 기술을 활용한 기능 설명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192CA3-048B-4918-92C8-01F4FC1DAECF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수업에서 배운 위젯으로 구현한 네 화면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9D7EA73-B179-4BC0-A7A3-D72472B58FA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07149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5장 감점(상태관리 구현 · 가이드에 없는 화면) · 7장 기획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199DEBD-4394-4A6A-AD3E-1CB9495F57F0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09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75B16FD-7E94-4F7A-968D-F862FBA70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9" y="1143000"/>
            <a:ext cx="1611580" cy="3493008"/>
          </a:xfrm>
          <a:prstGeom prst="rect">
            <a:avLst/>
          </a:prstGeom>
        </p:spPr>
      </p:pic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E742CBCE-74D3-4543-A222-4FEB9249BBAE}"/>
              </a:ext>
            </a:extLst>
          </p:cNvPr>
          <p:cNvGraphicFramePr/>
          <p:nvPr/>
        </p:nvGraphicFramePr>
        <p:xfrm>
          <a:off x="2414016" y="1143000"/>
          <a:ext cx="6217920" cy="227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목적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사용한 Flutter 구성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보여 주는 동작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구조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Scaffold / AppBar / Card / ListTile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목록과 금융 정보를 묶음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이동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Navigator / TabBar / BottomSheet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쌓기·옆으로·덮기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FutureBuilder + 상태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로딩·오류·빈 상태 / 목록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적응형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LayoutBuilder / Row / Column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 너비로 1열/2열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표시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StatefulWidget + setState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탭·필터·보기만 변경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36689FEB-2992-420D-B98C-CD0E3BAB5475}"/>
              </a:ext>
            </a:extLst>
          </p:cNvPr>
          <p:cNvSpPr>
            <a:spLocks noGrp="1"/>
          </p:cNvSpPr>
          <p:nvPr/>
        </p:nvSpPr>
        <p:spPr>
          <a:xfrm>
            <a:off x="2414016" y="3575304"/>
            <a:ext cx="621792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GET 요청은 lib/api.dart 한곳에 둔다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B903853-9FFC-4E4F-AEC4-E8BB03400845}"/>
              </a:ext>
            </a:extLst>
          </p:cNvPr>
          <p:cNvSpPr>
            <a:spLocks noGrp="1"/>
          </p:cNvSpPr>
          <p:nvPr/>
        </p:nvSpPr>
        <p:spPr>
          <a:xfrm>
            <a:off x="2414016" y="3867912"/>
            <a:ext cx="6217920" cy="466344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res = await http.get(Uri.parse(url))</a:t>
            </a: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    .timeout(const Duration(seconds: 5));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D6A565-43BF-4B0E-862E-9682F19A06DE}"/>
              </a:ext>
            </a:extLst>
          </p:cNvPr>
          <p:cNvSpPr>
            <a:spLocks noGrp="1"/>
          </p:cNvSpPr>
          <p:nvPr/>
        </p:nvSpPr>
        <p:spPr>
          <a:xfrm>
            <a:off x="2414016" y="4453128"/>
            <a:ext cx="62179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고정 JSON 표시 · 실제 금융 계산 / 저장 / AI 호출 없음</a:t>
            </a:r>
          </a:p>
        </p:txBody>
      </p:sp>
    </p:spTree>
    <p:extLst>
      <p:ext uri="{BB962C8B-B14F-4D97-AF65-F5344CB8AC3E}">
        <p14:creationId xmlns:p14="http://schemas.microsoft.com/office/powerpoint/2010/main" val="213581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B31EC6-22AD-494D-998D-D9817923ADBB}"/>
              </a:ext>
            </a:extLst>
          </p:cNvPr>
          <p:cNvSpPr>
            <a:spLocks noGrp="1"/>
          </p:cNvSpPr>
          <p:nvPr/>
        </p:nvSpPr>
        <p:spPr>
          <a:xfrm>
            <a:off x="7659886" y="304800"/>
            <a:ext cx="976164" cy="190500"/>
          </a:xfrm>
          <a:prstGeom prst="roundRect">
            <a:avLst>
              <a:gd name="adj" fmla="val 66667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96F875-825C-4822-B1F1-37674F19BA5B}"/>
              </a:ext>
            </a:extLst>
          </p:cNvPr>
          <p:cNvSpPr>
            <a:spLocks noGrp="1"/>
          </p:cNvSpPr>
          <p:nvPr/>
        </p:nvSpPr>
        <p:spPr>
          <a:xfrm>
            <a:off x="7786836" y="342900"/>
            <a:ext cx="736708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1:15 · UI 25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20C7CF-A034-44E4-8D78-60276D17FCCE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7 · 데모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ACE691-2996-481C-A713-30A71B8ED3D4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시연: 전망 확인 → 일정 확인 → 상황 비교 → 빠른 기록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1B89F05-B39D-45BF-A389-AA587068D651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633906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6단계 · 6장 제출물 ①(README의 데모 영상 1분 또는 배포 URL) · 7장 UI 구현 25 · 발표 15(데모)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D91A2B6-7F37-4F57-8952-BD820096DDC8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10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BD5DBE-AFA6-4B57-8047-40D639CF7DDD}"/>
              </a:ext>
            </a:extLst>
          </p:cNvPr>
          <p:cNvSpPr>
            <a:spLocks noGrp="1"/>
          </p:cNvSpPr>
          <p:nvPr/>
        </p:nvSpPr>
        <p:spPr>
          <a:xfrm>
            <a:off x="5175504" y="1124712"/>
            <a:ext cx="3456432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웹 데모 · Vercel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373F4F1-3149-49C1-838C-4622E036F1C1}"/>
              </a:ext>
            </a:extLst>
          </p:cNvPr>
          <p:cNvSpPr>
            <a:spLocks noGrp="1"/>
          </p:cNvSpPr>
          <p:nvPr/>
        </p:nvSpPr>
        <p:spPr>
          <a:xfrm>
            <a:off x="5175504" y="1417320"/>
            <a:ext cx="3456432" cy="384048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  <a:hlinkClick r:id="rId5"/>
              </a:rPr>
              <a:t>Finaci 웹 데모 열기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1485FDC-48F1-453E-B7E0-D2288C35436C}"/>
              </a:ext>
            </a:extLst>
          </p:cNvPr>
          <p:cNvGraphicFramePr/>
          <p:nvPr/>
        </p:nvGraphicFramePr>
        <p:xfrm>
          <a:off x="5175504" y="1938528"/>
          <a:ext cx="345643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설명·시연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Navigator / TabBar / BottomSheet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lib/api.dart의 GET, json-server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FutureBuilder: 로딩·오류·빈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적응형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LayoutBuilder: 390px / 1280px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 재사용, P01 고정 예시·가정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 순서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0–12초 / B 12–27초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27–40초 / D 40–52초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한계 52–60초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" name="Hình chữ nhật 63">
            <a:extLst>
              <a:ext uri="{FF2B5EF4-FFF2-40B4-BE49-F238E27FC236}">
                <a16:creationId xmlns:a16="http://schemas.microsoft.com/office/drawing/2014/main" id="{DDCAA079-FD87-4E27-82AC-DB12151A13E6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영상 재생 · 약1분</a:t>
            </a:r>
          </a:p>
        </p:txBody>
      </p:sp>
      <p:sp>
        <p:nvSpPr>
          <p:cNvPr id="65" name="Hình chữ nhật 64">
            <a:extLst>
              <a:ext uri="{FF2B5EF4-FFF2-40B4-BE49-F238E27FC236}">
                <a16:creationId xmlns:a16="http://schemas.microsoft.com/office/drawing/2014/main" id="{B27C98DC-1181-4654-86A6-6A6929D6FBD6}"/>
              </a:ext>
            </a:extLst>
          </p:cNvPr>
          <p:cNvSpPr>
            <a:spLocks noGrp="1"/>
          </p:cNvSpPr>
          <p:nvPr/>
        </p:nvSpPr>
        <p:spPr>
          <a:xfrm>
            <a:off x="2476500" y="143827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def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한 사례로 보는 공통 흐름</a:t>
            </a:r>
          </a:p>
        </p:txBody>
      </p:sp>
      <p:sp>
        <p:nvSpPr>
          <p:cNvPr id="66" name="Hình chữ nhật 65">
            <a:extLst>
              <a:ext uri="{FF2B5EF4-FFF2-40B4-BE49-F238E27FC236}">
                <a16:creationId xmlns:a16="http://schemas.microsoft.com/office/drawing/2014/main" id="{3C2BC569-098E-4172-A2CB-A7FC96BC6837}"/>
              </a:ext>
            </a:extLst>
          </p:cNvPr>
          <p:cNvSpPr>
            <a:spLocks noGrp="1"/>
          </p:cNvSpPr>
          <p:nvPr/>
        </p:nvSpPr>
        <p:spPr>
          <a:xfrm>
            <a:off x="2476500" y="1933575"/>
            <a:ext cx="2476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01  전망의 숫자와 근거를 확인</a:t>
            </a:r>
          </a:p>
          <a:p>
            <a:endParaRPr sz="1050">
              <a:solidFill>
                <a:srgbClr val="292D27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02  목표일을 넘는 수입 지연 비교</a:t>
            </a:r>
          </a:p>
          <a:p>
            <a:endParaRPr sz="1050">
              <a:solidFill>
                <a:srgbClr val="292D27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03  빠른 기록에서 거래 통화 선택</a:t>
            </a:r>
          </a:p>
        </p:txBody>
      </p:sp>
      <p:sp>
        <p:nvSpPr>
          <p:cNvPr id="67" name="Hình chữ nhật 66">
            <a:extLst>
              <a:ext uri="{FF2B5EF4-FFF2-40B4-BE49-F238E27FC236}">
                <a16:creationId xmlns:a16="http://schemas.microsoft.com/office/drawing/2014/main" id="{401E74A1-DC7A-4DFA-8FE7-68FD5AC3455A}"/>
              </a:ext>
            </a:extLst>
          </p:cNvPr>
          <p:cNvSpPr>
            <a:spLocks noGrp="1"/>
          </p:cNvSpPr>
          <p:nvPr/>
        </p:nvSpPr>
        <p:spPr>
          <a:xfrm>
            <a:off x="2476500" y="3943350"/>
            <a:ext cx="247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VND·KRW는 예시 데이터입니다.</a:t>
            </a:r>
          </a:p>
          <a:p>
            <a:pPr>
              <a:def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292D27"/>
                </a:solidFill>
                <a:latin typeface="Noto Sans KR"/>
                <a:ea typeface="Noto Sans KR"/>
                <a:cs typeface="Noto Sans KR"/>
              </a:rPr>
              <a:t>제품 대상은 다중 통화 이용자입니다.</a:t>
            </a:r>
          </a:p>
        </p:txBody>
      </p:sp>
      <p:sp>
        <p:nvSpPr>
          <p:cNvPr id="68" name="Hình chữ nhật 67">
            <a:hlinkClick r:id="rId6"/>
            <a:extLst>
              <a:ext uri="{FF2B5EF4-FFF2-40B4-BE49-F238E27FC236}">
                <a16:creationId xmlns:a16="http://schemas.microsoft.com/office/drawing/2014/main" id="{7D42D1ED-E1A5-485D-B19F-19931640D05F}"/>
              </a:ext>
            </a:extLst>
          </p:cNvPr>
          <p:cNvSpPr>
            <a:spLocks noGrp="1"/>
          </p:cNvSpPr>
          <p:nvPr/>
        </p:nvSpPr>
        <p:spPr>
          <a:xfrm>
            <a:off x="514350" y="457200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defPPr>
            <a:lvl1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1pPr>
            <a:lvl2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2pPr>
            <a:lvl3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3pPr>
            <a:lvl4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4pPr>
            <a:lvl5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5pPr>
            <a:lvl6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6pPr>
            <a:lvl7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7pPr>
            <a:lvl8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8pPr>
            <a:lvl9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pPr>
              <a:def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F5B3A"/>
                </a:solidFill>
                <a:latin typeface="Noto Sans KR"/>
                <a:ea typeface="Noto Sans KR"/>
                <a:cs typeface="Noto Sans KR"/>
              </a:rPr>
              <a:t>PDF에서 영상 열기</a:t>
            </a:r>
          </a:p>
        </p:txBody>
      </p:sp>
      <p:pic>
        <p:nvPicPr>
          <p:cNvPr id="6" name="Finaci_Embedded_Demo" descr="finaci 다중 통화 UI 시연. VND/KRW는 예시 데이터.">
            <a:hlinkClick action="ppaction://media"/>
            <a:extLst>
              <a:ext uri="{FF2B5EF4-FFF2-40B4-BE49-F238E27FC236}">
                <a16:creationId xmlns:a16="http://schemas.microsoft.com/office/drawing/2014/main" id="{05BFC723-B25B-D68C-EE1C-E8FF8BAAE1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33400" y="1447801"/>
            <a:ext cx="1295052" cy="30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6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2D5F8B-64D1-49D4-8A6D-6EE53177ADBC}"/>
              </a:ext>
            </a:extLst>
          </p:cNvPr>
          <p:cNvSpPr>
            <a:spLocks noGrp="1"/>
          </p:cNvSpPr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A37761-8D90-4BA4-AB14-5A825EB97416}"/>
              </a:ext>
            </a:extLst>
          </p:cNvPr>
          <p:cNvSpPr>
            <a:spLocks noGrp="1"/>
          </p:cNvSpPr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0:15 · 발표 15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99B9D2-73E7-4DDA-BF54-61CBFA4104E1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8 · 배움과 다음 단계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2F47E2-6B5D-4B83-BB1E-8150030944F9}"/>
              </a:ext>
            </a:extLst>
          </p:cNvPr>
          <p:cNvSpPr>
            <a:spLocks noGrp="1"/>
          </p:cNvSpPr>
          <p:nvPr/>
        </p:nvSpPr>
        <p:spPr>
          <a:xfrm>
            <a:off x="507950" y="526852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직접 써 보고, 우선순위를 좁히며 배운 점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829FC69-3408-483B-B873-45BF34B48A71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3831095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7장 발표 15 · 8장 FAQ(AI 사용)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354B6A0-2B62-42B1-8753-B8DC771B215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11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F1E1739-B10F-4F61-B6EB-335DE1E96790}"/>
              </a:ext>
            </a:extLst>
          </p:cNvPr>
          <p:cNvSpPr>
            <a:spLocks noGrp="1"/>
          </p:cNvSpPr>
          <p:nvPr/>
        </p:nvSpPr>
        <p:spPr>
          <a:xfrm>
            <a:off x="502920" y="1143000"/>
            <a:ext cx="2642616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 배운 것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A38C87D-BE22-472D-AE1F-53FD2F286EDB}"/>
              </a:ext>
            </a:extLst>
          </p:cNvPr>
          <p:cNvSpPr>
            <a:spLocks noGrp="1"/>
          </p:cNvSpPr>
          <p:nvPr/>
        </p:nvSpPr>
        <p:spPr>
          <a:xfrm>
            <a:off x="502920" y="1536192"/>
            <a:ext cx="2642616" cy="178308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8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기록한 돈을 보는 일과 날짜별 생활비를 계획하는 일은 다르다.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77589-A568-4BC1-961A-D4873D777ECD}"/>
              </a:ext>
            </a:extLst>
          </p:cNvPr>
          <p:cNvSpPr>
            <a:spLocks noGrp="1"/>
          </p:cNvSpPr>
          <p:nvPr/>
        </p:nvSpPr>
        <p:spPr>
          <a:xfrm>
            <a:off x="502920" y="3602736"/>
            <a:ext cx="2642616" cy="8778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같은 예정 항목을 전망에서 재사용하도록 설계했다.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2A3A5AE-8DBF-44F9-9F70-A68DE2CC2E26}"/>
              </a:ext>
            </a:extLst>
          </p:cNvPr>
          <p:cNvSpPr>
            <a:spLocks noGrp="1"/>
          </p:cNvSpPr>
          <p:nvPr/>
        </p:nvSpPr>
        <p:spPr>
          <a:xfrm>
            <a:off x="3246120" y="1143000"/>
            <a:ext cx="2642616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 셀프 논증 회고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74AB6A2-89A5-4010-ACC6-2C0254E2E63F}"/>
              </a:ext>
            </a:extLst>
          </p:cNvPr>
          <p:cNvSpPr>
            <a:spLocks noGrp="1"/>
          </p:cNvSpPr>
          <p:nvPr/>
        </p:nvSpPr>
        <p:spPr>
          <a:xfrm>
            <a:off x="3246120" y="1536192"/>
            <a:ext cx="2642616" cy="178308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8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가장 넓은 문제보다 직접 확인하고 설명할 수 있는 문제를 우선했다.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851B7-A27A-4EB6-A8C6-9751A9E96EF1}"/>
              </a:ext>
            </a:extLst>
          </p:cNvPr>
          <p:cNvSpPr>
            <a:spLocks noGrp="1"/>
          </p:cNvSpPr>
          <p:nvPr/>
        </p:nvSpPr>
        <p:spPr>
          <a:xfrm>
            <a:off x="3246120" y="3602736"/>
            <a:ext cx="2642616" cy="8778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구두 의견은 기록된 설문 결과로 계산하지 않았다.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CC39479-D28E-4820-9F06-9EE64C5224B5}"/>
              </a:ext>
            </a:extLst>
          </p:cNvPr>
          <p:cNvSpPr>
            <a:spLocks noGrp="1"/>
          </p:cNvSpPr>
          <p:nvPr/>
        </p:nvSpPr>
        <p:spPr>
          <a:xfrm>
            <a:off x="5989320" y="1143000"/>
            <a:ext cx="2642616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  다음 v3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857EFAE-B9BE-4804-8EED-41BD49840B9F}"/>
              </a:ext>
            </a:extLst>
          </p:cNvPr>
          <p:cNvSpPr>
            <a:spLocks noGrp="1"/>
          </p:cNvSpPr>
          <p:nvPr/>
        </p:nvSpPr>
        <p:spPr>
          <a:xfrm>
            <a:off x="5989320" y="1536192"/>
            <a:ext cx="2642616" cy="1783080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8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사용자가 고정 예시 전망을 보장 잔액으로 오해하지 않는지 확인한다.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F78B61-72AC-4C05-A914-0C688C8BDD10}"/>
              </a:ext>
            </a:extLst>
          </p:cNvPr>
          <p:cNvSpPr>
            <a:spLocks noGrp="1"/>
          </p:cNvSpPr>
          <p:nvPr/>
        </p:nvSpPr>
        <p:spPr>
          <a:xfrm>
            <a:off x="5989320" y="3602736"/>
            <a:ext cx="2642616" cy="8778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환율 변동·불규칙 지출·급여 지연 상황으로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864218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753EB1-B4B4-42F3-9243-FE676B96C500}"/>
              </a:ext>
            </a:extLst>
          </p:cNvPr>
          <p:cNvSpPr>
            <a:spLocks noGrp="1"/>
          </p:cNvSpPr>
          <p:nvPr/>
        </p:nvSpPr>
        <p:spPr>
          <a:xfrm>
            <a:off x="6974235" y="304800"/>
            <a:ext cx="1661815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9949FF-DCDD-4831-81F4-032137DC296D}"/>
              </a:ext>
            </a:extLst>
          </p:cNvPr>
          <p:cNvSpPr>
            <a:spLocks noGrp="1"/>
          </p:cNvSpPr>
          <p:nvPr/>
        </p:nvSpPr>
        <p:spPr>
          <a:xfrm>
            <a:off x="7101185" y="342900"/>
            <a:ext cx="1436072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2:00 · 발표 15 (질의 응답)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8DAA86-1478-48F5-A007-BB4806479A8B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9 · Q&amp;A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53AFE5-DDAB-49E0-97AE-43494CD8AB6F}"/>
              </a:ext>
            </a:extLst>
          </p:cNvPr>
          <p:cNvSpPr>
            <a:spLocks noGrp="1"/>
          </p:cNvSpPr>
          <p:nvPr/>
        </p:nvSpPr>
        <p:spPr>
          <a:xfrm>
            <a:off x="507950" y="526852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질의응답 · 판단의 이유와 구현 범위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7BE6759-0FEB-47B5-A1B4-E35A2A0CDD25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28575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8단계(질의 2분) · 7장 발표 15(질의 응답)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85D3E2B-E081-4A99-B3AD-7079F9B0FF14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12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AAB76D1D-8AA7-41FA-871A-1817019849AE}"/>
              </a:ext>
            </a:extLst>
          </p:cNvPr>
          <p:cNvGraphicFramePr/>
          <p:nvPr/>
        </p:nvGraphicFramePr>
        <p:xfrm>
          <a:off x="502920" y="1143000"/>
          <a:ext cx="576072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예상 질문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답변과 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실제 예측·AI를 넣지 않았나요?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과제 범위는 UI다. 고정 GET 데이터와 미리 쓴 시나리오를 보여 준다. 실제 계산·AI 호출·저장은 구현하지 않았다.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근거: README / B1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Goals가 핵심 문제를 흐리지 않나요?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목표는 A의 보조 카드다. 핵심은 예정 항목 재입력 감소다. 날짜별 전망의 사용 이유를 목표로 보여 준다.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4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근거: B5-1 / B2 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54F35771-560F-4095-A9F6-820CB1C8588A}"/>
              </a:ext>
            </a:extLst>
          </p:cNvPr>
          <p:cNvSpPr>
            <a:spLocks noGrp="1"/>
          </p:cNvSpPr>
          <p:nvPr/>
        </p:nvSpPr>
        <p:spPr>
          <a:xfrm>
            <a:off x="6492240" y="1143000"/>
            <a:ext cx="365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B1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8F4FB14-DFA7-493C-BAE4-8478AA5CE650}"/>
              </a:ext>
            </a:extLst>
          </p:cNvPr>
          <p:cNvSpPr>
            <a:spLocks noGrp="1"/>
          </p:cNvSpPr>
          <p:nvPr/>
        </p:nvSpPr>
        <p:spPr>
          <a:xfrm>
            <a:off x="6922008" y="1143000"/>
            <a:ext cx="1709928" cy="53949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실행 화면·3상태·URL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7B6A42-FE3D-440B-A2EB-52A358A1F50D}"/>
              </a:ext>
            </a:extLst>
          </p:cNvPr>
          <p:cNvSpPr>
            <a:spLocks noGrp="1"/>
          </p:cNvSpPr>
          <p:nvPr/>
        </p:nvSpPr>
        <p:spPr>
          <a:xfrm>
            <a:off x="6492240" y="1792224"/>
            <a:ext cx="365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B2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945D746-4910-4AEC-8FD8-5F7D2C3C0480}"/>
              </a:ext>
            </a:extLst>
          </p:cNvPr>
          <p:cNvSpPr>
            <a:spLocks noGrp="1"/>
          </p:cNvSpPr>
          <p:nvPr/>
        </p:nvSpPr>
        <p:spPr>
          <a:xfrm>
            <a:off x="6922008" y="1792224"/>
            <a:ext cx="1709928" cy="53949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원칙 카드 네 장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13D03-B4F5-4504-87ED-ADF863D2F67C}"/>
              </a:ext>
            </a:extLst>
          </p:cNvPr>
          <p:cNvSpPr>
            <a:spLocks noGrp="1"/>
          </p:cNvSpPr>
          <p:nvPr/>
        </p:nvSpPr>
        <p:spPr>
          <a:xfrm>
            <a:off x="6492240" y="2441448"/>
            <a:ext cx="365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B3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7C958A37-E225-42AE-A71C-CC8B5FA9389B}"/>
              </a:ext>
            </a:extLst>
          </p:cNvPr>
          <p:cNvSpPr>
            <a:spLocks noGrp="1"/>
          </p:cNvSpPr>
          <p:nvPr/>
        </p:nvSpPr>
        <p:spPr>
          <a:xfrm>
            <a:off x="6922008" y="2441448"/>
            <a:ext cx="1709928" cy="53949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AI 반론·내 판단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35B7F0-35D0-4D9B-9F87-DE7E6D1CCFEE}"/>
              </a:ext>
            </a:extLst>
          </p:cNvPr>
          <p:cNvSpPr>
            <a:spLocks noGrp="1"/>
          </p:cNvSpPr>
          <p:nvPr/>
        </p:nvSpPr>
        <p:spPr>
          <a:xfrm>
            <a:off x="6492240" y="3090672"/>
            <a:ext cx="365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B4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4C655D4-5F50-474C-92DC-5822F2174EAF}"/>
              </a:ext>
            </a:extLst>
          </p:cNvPr>
          <p:cNvSpPr>
            <a:spLocks noGrp="1"/>
          </p:cNvSpPr>
          <p:nvPr/>
        </p:nvSpPr>
        <p:spPr>
          <a:xfrm>
            <a:off x="6922008" y="3090672"/>
            <a:ext cx="1709928" cy="53949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자가평가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3C6FAF-EACF-4D1E-BBB5-B83AACF86623}"/>
              </a:ext>
            </a:extLst>
          </p:cNvPr>
          <p:cNvSpPr>
            <a:spLocks noGrp="1"/>
          </p:cNvSpPr>
          <p:nvPr/>
        </p:nvSpPr>
        <p:spPr>
          <a:xfrm>
            <a:off x="6492240" y="3739896"/>
            <a:ext cx="365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B5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45B8DAF-E7F7-4242-9DAD-2846B8306A5F}"/>
              </a:ext>
            </a:extLst>
          </p:cNvPr>
          <p:cNvSpPr>
            <a:spLocks noGrp="1"/>
          </p:cNvSpPr>
          <p:nvPr/>
        </p:nvSpPr>
        <p:spPr>
          <a:xfrm>
            <a:off x="6922008" y="3739896"/>
            <a:ext cx="1709928" cy="539496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기획·A/B/C/D 분석</a:t>
            </a:r>
          </a:p>
        </p:txBody>
      </p:sp>
    </p:spTree>
    <p:extLst>
      <p:ext uri="{BB962C8B-B14F-4D97-AF65-F5344CB8AC3E}">
        <p14:creationId xmlns:p14="http://schemas.microsoft.com/office/powerpoint/2010/main" val="145533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317BF3-E3E9-4ED4-BD49-ACA42381193C}"/>
              </a:ext>
            </a:extLst>
          </p:cNvPr>
          <p:cNvSpPr>
            <a:spLocks noGrp="1"/>
          </p:cNvSpPr>
          <p:nvPr/>
        </p:nvSpPr>
        <p:spPr>
          <a:xfrm>
            <a:off x="507950" y="1341090"/>
            <a:ext cx="3886200" cy="1428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29A78"/>
                </a:solidFill>
                <a:latin typeface="Noto Sans KR"/>
                <a:ea typeface="Noto Sans KR"/>
                <a:cs typeface="Noto Sans KR"/>
              </a:rPr>
              <a:t>APPENDIX — Q&amp;A 2분에 펼치는 근거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364210-2AB8-4239-B10C-06235B9C33F6}"/>
              </a:ext>
            </a:extLst>
          </p:cNvPr>
          <p:cNvSpPr>
            <a:spLocks noGrp="1"/>
          </p:cNvSpPr>
          <p:nvPr/>
        </p:nvSpPr>
        <p:spPr>
          <a:xfrm>
            <a:off x="507950" y="1547366"/>
            <a:ext cx="3886200" cy="6858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erif KR"/>
                <a:ea typeface="Noto Serif KR"/>
                <a:cs typeface="Noto Serif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5400"/>
              </a:lnSpc>
              <a:spcAft>
                <a:spcPts val="1000"/>
              </a:spcAft>
              <a:buNone/>
              <a:defRPr>
                <a:latin typeface="Noto Serif KR"/>
                <a:ea typeface="Noto Serif KR"/>
                <a:cs typeface="Noto Serif KR"/>
              </a:defRPr>
            </a:pPr>
            <a:r>
              <a:rPr sz="5400" b="1">
                <a:solidFill>
                  <a:srgbClr val="829A78"/>
                </a:solidFill>
                <a:latin typeface="Noto Serif KR"/>
                <a:ea typeface="Noto Serif KR"/>
                <a:cs typeface="Noto Serif KR"/>
              </a:rPr>
              <a:t>부록</a:t>
            </a:r>
            <a:endParaRPr sz="54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C652A5-4E89-475E-A4F5-8F4C60EA443A}"/>
              </a:ext>
            </a:extLst>
          </p:cNvPr>
          <p:cNvSpPr>
            <a:spLocks noGrp="1"/>
          </p:cNvSpPr>
          <p:nvPr/>
        </p:nvSpPr>
        <p:spPr>
          <a:xfrm>
            <a:off x="507950" y="2360116"/>
            <a:ext cx="3810000" cy="1188541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312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37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본문 6분을 지키고 질의 때만 근거 자료를 연다</a:t>
            </a:r>
            <a:endParaRPr sz="237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A3CFCA-1B23-443A-8352-18E7912B5D09}"/>
              </a:ext>
            </a:extLst>
          </p:cNvPr>
          <p:cNvSpPr>
            <a:spLocks noGrp="1"/>
          </p:cNvSpPr>
          <p:nvPr/>
        </p:nvSpPr>
        <p:spPr>
          <a:xfrm>
            <a:off x="507950" y="3675608"/>
            <a:ext cx="3886200" cy="126653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999"/>
              </a:lnSpc>
              <a:spcBef>
                <a:spcPts val="1000"/>
              </a:spcBef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0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화면·원칙·기획 근거를 질문에 맞춰 제시</a:t>
            </a:r>
            <a:endParaRPr sz="74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058918-CE6D-40D0-9D58-C31623F5D9AF}"/>
              </a:ext>
            </a:extLst>
          </p:cNvPr>
          <p:cNvSpPr>
            <a:spLocks noGrp="1"/>
          </p:cNvSpPr>
          <p:nvPr/>
        </p:nvSpPr>
        <p:spPr>
          <a:xfrm>
            <a:off x="4724400" y="1163836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F8CC097-48CC-4AE7-8753-EF4942290129}"/>
              </a:ext>
            </a:extLst>
          </p:cNvPr>
          <p:cNvSpPr>
            <a:spLocks noGrp="1"/>
          </p:cNvSpPr>
          <p:nvPr/>
        </p:nvSpPr>
        <p:spPr>
          <a:xfrm>
            <a:off x="4724400" y="1168598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271FA0-E031-49A2-AE6C-39DDFD2551AF}"/>
              </a:ext>
            </a:extLst>
          </p:cNvPr>
          <p:cNvSpPr>
            <a:spLocks noGrp="1"/>
          </p:cNvSpPr>
          <p:nvPr/>
        </p:nvSpPr>
        <p:spPr>
          <a:xfrm>
            <a:off x="8631138" y="1163836"/>
            <a:ext cx="0" cy="493961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395C5A7-CEA5-46B1-AB3E-C1FBF0553E3D}"/>
              </a:ext>
            </a:extLst>
          </p:cNvPr>
          <p:cNvSpPr>
            <a:spLocks noGrp="1"/>
          </p:cNvSpPr>
          <p:nvPr/>
        </p:nvSpPr>
        <p:spPr>
          <a:xfrm>
            <a:off x="4724400" y="1653034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1ECD58C-5C62-42E6-A95E-3F7F8E575E20}"/>
              </a:ext>
            </a:extLst>
          </p:cNvPr>
          <p:cNvSpPr>
            <a:spLocks noGrp="1"/>
          </p:cNvSpPr>
          <p:nvPr/>
        </p:nvSpPr>
        <p:spPr>
          <a:xfrm>
            <a:off x="4743450" y="1163836"/>
            <a:ext cx="0" cy="493961"/>
          </a:xfrm>
          <a:prstGeom prst="line">
            <a:avLst/>
          </a:prstGeom>
          <a:noFill/>
          <a:ln w="38100">
            <a:solidFill>
              <a:srgbClr val="5C7457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9B8A5D-208B-45F3-9FA9-1E579EF9BCCB}"/>
              </a:ext>
            </a:extLst>
          </p:cNvPr>
          <p:cNvSpPr>
            <a:spLocks noGrp="1"/>
          </p:cNvSpPr>
          <p:nvPr/>
        </p:nvSpPr>
        <p:spPr>
          <a:xfrm>
            <a:off x="4889450" y="1262211"/>
            <a:ext cx="3682174" cy="1143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829A78"/>
                </a:solidFill>
                <a:latin typeface="Noto Sans KR"/>
                <a:ea typeface="Noto Sans KR"/>
                <a:cs typeface="Noto Sans KR"/>
              </a:rPr>
              <a:t>B1 · 참조: 데모 및 스크린샷</a:t>
            </a:r>
            <a:endParaRPr sz="76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4C0CBB-CD12-405C-8ACB-CCC3653A8E95}"/>
              </a:ext>
            </a:extLst>
          </p:cNvPr>
          <p:cNvSpPr>
            <a:spLocks noGrp="1"/>
          </p:cNvSpPr>
          <p:nvPr/>
        </p:nvSpPr>
        <p:spPr>
          <a:xfrm>
            <a:off x="4889450" y="1401812"/>
            <a:ext cx="3682174" cy="157609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1242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E5EADF"/>
                </a:solidFill>
                <a:latin typeface="Noto Sans KR"/>
                <a:ea typeface="Noto Sans KR"/>
                <a:cs typeface="Noto Sans KR"/>
              </a:rPr>
              <a:t>전체 화면 캡처 · 빈 · 로딩 · 오류 상태 · 영상 링크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5224D2-4CAE-45B4-ABC5-03802D1A9410}"/>
              </a:ext>
            </a:extLst>
          </p:cNvPr>
          <p:cNvSpPr>
            <a:spLocks noGrp="1"/>
          </p:cNvSpPr>
          <p:nvPr/>
        </p:nvSpPr>
        <p:spPr>
          <a:xfrm>
            <a:off x="4724400" y="1746647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87E673E-570F-424B-B28B-4FA26451FE20}"/>
              </a:ext>
            </a:extLst>
          </p:cNvPr>
          <p:cNvSpPr>
            <a:spLocks noGrp="1"/>
          </p:cNvSpPr>
          <p:nvPr/>
        </p:nvSpPr>
        <p:spPr>
          <a:xfrm>
            <a:off x="4724400" y="1751409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949D4C0-A796-450D-A0A8-1A342D537414}"/>
              </a:ext>
            </a:extLst>
          </p:cNvPr>
          <p:cNvSpPr>
            <a:spLocks noGrp="1"/>
          </p:cNvSpPr>
          <p:nvPr/>
        </p:nvSpPr>
        <p:spPr>
          <a:xfrm>
            <a:off x="8631138" y="1746647"/>
            <a:ext cx="0" cy="493961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D57262-F9D8-43F6-9168-E0BA7470543F}"/>
              </a:ext>
            </a:extLst>
          </p:cNvPr>
          <p:cNvSpPr>
            <a:spLocks noGrp="1"/>
          </p:cNvSpPr>
          <p:nvPr/>
        </p:nvSpPr>
        <p:spPr>
          <a:xfrm>
            <a:off x="4724400" y="2235845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8303354-5ADC-4096-90FC-9E0C9B7A380B}"/>
              </a:ext>
            </a:extLst>
          </p:cNvPr>
          <p:cNvSpPr>
            <a:spLocks noGrp="1"/>
          </p:cNvSpPr>
          <p:nvPr/>
        </p:nvSpPr>
        <p:spPr>
          <a:xfrm>
            <a:off x="4743450" y="1746647"/>
            <a:ext cx="0" cy="493961"/>
          </a:xfrm>
          <a:prstGeom prst="line">
            <a:avLst/>
          </a:prstGeom>
          <a:noFill/>
          <a:ln w="38100">
            <a:solidFill>
              <a:srgbClr val="5C7457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54EE44-8CDF-4742-A4E4-89BAD98EE1B1}"/>
              </a:ext>
            </a:extLst>
          </p:cNvPr>
          <p:cNvSpPr>
            <a:spLocks noGrp="1"/>
          </p:cNvSpPr>
          <p:nvPr/>
        </p:nvSpPr>
        <p:spPr>
          <a:xfrm>
            <a:off x="4889450" y="1845022"/>
            <a:ext cx="3682174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B2 · 원칙 카드 P07 / P06 / P01 / P10</a:t>
            </a:r>
            <a:endParaRPr sz="76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E3B0CB-A182-48BA-A960-1A955597852C}"/>
              </a:ext>
            </a:extLst>
          </p:cNvPr>
          <p:cNvSpPr>
            <a:spLocks noGrp="1"/>
          </p:cNvSpPr>
          <p:nvPr/>
        </p:nvSpPr>
        <p:spPr>
          <a:xfrm>
            <a:off x="4889450" y="1984623"/>
            <a:ext cx="3682174" cy="157609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1242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E5EADF"/>
                </a:solidFill>
                <a:latin typeface="Noto Sans KR"/>
                <a:ea typeface="Noto Sans KR"/>
                <a:cs typeface="Noto Sans KR"/>
              </a:rPr>
              <a:t>고친 원칙마다 1장 — 원칙 · 근거 · 적용 · 시연 · 판단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F29B32-5BC9-44DB-8708-A8C4D264CA96}"/>
              </a:ext>
            </a:extLst>
          </p:cNvPr>
          <p:cNvSpPr>
            <a:spLocks noGrp="1"/>
          </p:cNvSpPr>
          <p:nvPr/>
        </p:nvSpPr>
        <p:spPr>
          <a:xfrm>
            <a:off x="4724400" y="2329458"/>
            <a:ext cx="3911501" cy="484436"/>
          </a:xfrm>
          <a:prstGeom prst="roundRect">
            <a:avLst>
              <a:gd name="adj" fmla="val 15730"/>
            </a:avLst>
          </a:prstGeom>
          <a:solidFill>
            <a:srgbClr val="111827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8614C0D-9CC2-400B-A47F-80083F310F5D}"/>
              </a:ext>
            </a:extLst>
          </p:cNvPr>
          <p:cNvSpPr>
            <a:spLocks noGrp="1"/>
          </p:cNvSpPr>
          <p:nvPr/>
        </p:nvSpPr>
        <p:spPr>
          <a:xfrm>
            <a:off x="4724400" y="2334220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EE22DBA-0029-4BD1-814E-DA6EA74D0925}"/>
              </a:ext>
            </a:extLst>
          </p:cNvPr>
          <p:cNvSpPr>
            <a:spLocks noGrp="1"/>
          </p:cNvSpPr>
          <p:nvPr/>
        </p:nvSpPr>
        <p:spPr>
          <a:xfrm>
            <a:off x="8631138" y="2329458"/>
            <a:ext cx="0" cy="484436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6037BB-0FEE-45CD-A828-690096A99BD1}"/>
              </a:ext>
            </a:extLst>
          </p:cNvPr>
          <p:cNvSpPr>
            <a:spLocks noGrp="1"/>
          </p:cNvSpPr>
          <p:nvPr/>
        </p:nvSpPr>
        <p:spPr>
          <a:xfrm>
            <a:off x="4724400" y="2809131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6866FAE-19EE-47E0-9835-A7A306BA7A07}"/>
              </a:ext>
            </a:extLst>
          </p:cNvPr>
          <p:cNvSpPr>
            <a:spLocks noGrp="1"/>
          </p:cNvSpPr>
          <p:nvPr/>
        </p:nvSpPr>
        <p:spPr>
          <a:xfrm>
            <a:off x="4743450" y="2329458"/>
            <a:ext cx="0" cy="484436"/>
          </a:xfrm>
          <a:prstGeom prst="line">
            <a:avLst/>
          </a:prstGeom>
          <a:noFill/>
          <a:ln w="38100">
            <a:solidFill>
              <a:srgbClr val="5C7457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310DDF3-2880-4229-8AB7-15BEED470DB1}"/>
              </a:ext>
            </a:extLst>
          </p:cNvPr>
          <p:cNvSpPr>
            <a:spLocks noGrp="1"/>
          </p:cNvSpPr>
          <p:nvPr/>
        </p:nvSpPr>
        <p:spPr>
          <a:xfrm>
            <a:off x="4889450" y="2427833"/>
            <a:ext cx="368217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829A78"/>
                </a:solidFill>
                <a:latin typeface="Noto Sans KR"/>
                <a:ea typeface="Noto Sans KR"/>
                <a:cs typeface="Noto Sans KR"/>
              </a:rPr>
              <a:t>B3 · prompt-log</a:t>
            </a:r>
            <a:endParaRPr sz="76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6784626-97EE-4DD9-8D13-2C880BE8170B}"/>
              </a:ext>
            </a:extLst>
          </p:cNvPr>
          <p:cNvSpPr>
            <a:spLocks noGrp="1"/>
          </p:cNvSpPr>
          <p:nvPr/>
        </p:nvSpPr>
        <p:spPr>
          <a:xfrm>
            <a:off x="4889450" y="2557909"/>
            <a:ext cx="3682174" cy="157609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1242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E5EADF"/>
                </a:solidFill>
                <a:latin typeface="Noto Sans KR"/>
                <a:ea typeface="Noto Sans KR"/>
                <a:cs typeface="Noto Sans KR"/>
              </a:rPr>
              <a:t>AI 지문 · 결과 · 내 판단(수용/수정/폐기) · 이유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16FEFC4-8021-4C6A-96FD-3B794AAF3AFC}"/>
              </a:ext>
            </a:extLst>
          </p:cNvPr>
          <p:cNvSpPr>
            <a:spLocks noGrp="1"/>
          </p:cNvSpPr>
          <p:nvPr/>
        </p:nvSpPr>
        <p:spPr>
          <a:xfrm>
            <a:off x="4724400" y="2902744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0510E73-C9CF-4B6C-A1B1-B29D490A6328}"/>
              </a:ext>
            </a:extLst>
          </p:cNvPr>
          <p:cNvSpPr>
            <a:spLocks noGrp="1"/>
          </p:cNvSpPr>
          <p:nvPr/>
        </p:nvSpPr>
        <p:spPr>
          <a:xfrm>
            <a:off x="4724400" y="2907506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0947D20-88A8-43A1-BDB8-2B897538CA09}"/>
              </a:ext>
            </a:extLst>
          </p:cNvPr>
          <p:cNvSpPr>
            <a:spLocks noGrp="1"/>
          </p:cNvSpPr>
          <p:nvPr/>
        </p:nvSpPr>
        <p:spPr>
          <a:xfrm>
            <a:off x="8631138" y="2902744"/>
            <a:ext cx="0" cy="493961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602F8A3-AA8B-491F-BE99-32E1839D68B2}"/>
              </a:ext>
            </a:extLst>
          </p:cNvPr>
          <p:cNvSpPr>
            <a:spLocks noGrp="1"/>
          </p:cNvSpPr>
          <p:nvPr/>
        </p:nvSpPr>
        <p:spPr>
          <a:xfrm>
            <a:off x="4724400" y="3391942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2295234-4435-4EAD-B749-A885BB842894}"/>
              </a:ext>
            </a:extLst>
          </p:cNvPr>
          <p:cNvSpPr>
            <a:spLocks noGrp="1"/>
          </p:cNvSpPr>
          <p:nvPr/>
        </p:nvSpPr>
        <p:spPr>
          <a:xfrm>
            <a:off x="4743450" y="2902744"/>
            <a:ext cx="0" cy="493961"/>
          </a:xfrm>
          <a:prstGeom prst="line">
            <a:avLst/>
          </a:prstGeom>
          <a:noFill/>
          <a:ln w="38100">
            <a:solidFill>
              <a:srgbClr val="5C7457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5DD2ED0-2AE4-41CB-BF64-3386D7C049F8}"/>
              </a:ext>
            </a:extLst>
          </p:cNvPr>
          <p:cNvSpPr>
            <a:spLocks noGrp="1"/>
          </p:cNvSpPr>
          <p:nvPr/>
        </p:nvSpPr>
        <p:spPr>
          <a:xfrm>
            <a:off x="4889450" y="3001119"/>
            <a:ext cx="3682174" cy="1143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829A78"/>
                </a:solidFill>
                <a:latin typeface="Noto Sans KR"/>
                <a:ea typeface="Noto Sans KR"/>
                <a:cs typeface="Noto Sans KR"/>
              </a:rPr>
              <a:t>B4 · 자가평가 요약</a:t>
            </a:r>
            <a:endParaRPr sz="76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091035B-14C9-4798-B8B6-99BCD2EC439A}"/>
              </a:ext>
            </a:extLst>
          </p:cNvPr>
          <p:cNvSpPr>
            <a:spLocks noGrp="1"/>
          </p:cNvSpPr>
          <p:nvPr/>
        </p:nvSpPr>
        <p:spPr>
          <a:xfrm>
            <a:off x="4889450" y="3140720"/>
            <a:ext cx="3682174" cy="157609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1242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E5EADF"/>
                </a:solidFill>
                <a:latin typeface="Noto Sans KR"/>
                <a:ea typeface="Noto Sans KR"/>
                <a:cs typeface="Noto Sans KR"/>
              </a:rPr>
              <a:t>제출 전 개인 점검 — 공개 배점 그대로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3F62F4E-75AF-458C-87BE-A7018F12D3CE}"/>
              </a:ext>
            </a:extLst>
          </p:cNvPr>
          <p:cNvSpPr>
            <a:spLocks noGrp="1"/>
          </p:cNvSpPr>
          <p:nvPr/>
        </p:nvSpPr>
        <p:spPr>
          <a:xfrm>
            <a:off x="4724400" y="3485555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69063C7-D923-482E-A069-777EE6A5F489}"/>
              </a:ext>
            </a:extLst>
          </p:cNvPr>
          <p:cNvSpPr>
            <a:spLocks noGrp="1"/>
          </p:cNvSpPr>
          <p:nvPr/>
        </p:nvSpPr>
        <p:spPr>
          <a:xfrm>
            <a:off x="4724400" y="3490317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2C3DF91-ABDA-437D-9970-C0B4E07A6B62}"/>
              </a:ext>
            </a:extLst>
          </p:cNvPr>
          <p:cNvSpPr>
            <a:spLocks noGrp="1"/>
          </p:cNvSpPr>
          <p:nvPr/>
        </p:nvSpPr>
        <p:spPr>
          <a:xfrm>
            <a:off x="8631138" y="3485555"/>
            <a:ext cx="0" cy="493961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751FFCF-CFEE-49EB-9EAF-1541A02D5A39}"/>
              </a:ext>
            </a:extLst>
          </p:cNvPr>
          <p:cNvSpPr>
            <a:spLocks noGrp="1"/>
          </p:cNvSpPr>
          <p:nvPr/>
        </p:nvSpPr>
        <p:spPr>
          <a:xfrm>
            <a:off x="4724400" y="3974753"/>
            <a:ext cx="3911501" cy="0"/>
          </a:xfrm>
          <a:prstGeom prst="line">
            <a:avLst/>
          </a:prstGeom>
          <a:noFill/>
          <a:ln w="9525">
            <a:solidFill>
              <a:srgbClr val="3C4338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D7236DE-63D9-4856-A0B0-15C06531A853}"/>
              </a:ext>
            </a:extLst>
          </p:cNvPr>
          <p:cNvSpPr>
            <a:spLocks noGrp="1"/>
          </p:cNvSpPr>
          <p:nvPr/>
        </p:nvSpPr>
        <p:spPr>
          <a:xfrm>
            <a:off x="4743450" y="3485555"/>
            <a:ext cx="0" cy="493961"/>
          </a:xfrm>
          <a:prstGeom prst="line">
            <a:avLst/>
          </a:prstGeom>
          <a:noFill/>
          <a:ln w="38100">
            <a:solidFill>
              <a:srgbClr val="BA7657"/>
            </a:solidFill>
            <a:prstDash val="solid"/>
          </a:ln>
        </p:spPr>
        <p:txBody>
          <a:bodyPr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41FD6AE-CE1A-4779-B5F4-4F656DB22682}"/>
              </a:ext>
            </a:extLst>
          </p:cNvPr>
          <p:cNvSpPr>
            <a:spLocks noGrp="1"/>
          </p:cNvSpPr>
          <p:nvPr/>
        </p:nvSpPr>
        <p:spPr>
          <a:xfrm>
            <a:off x="4889450" y="3583930"/>
            <a:ext cx="3682174" cy="1143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60" b="1">
                <a:solidFill>
                  <a:srgbClr val="F5B562"/>
                </a:solidFill>
                <a:latin typeface="Noto Sans KR"/>
                <a:ea typeface="Noto Sans KR"/>
                <a:cs typeface="Noto Sans KR"/>
              </a:rPr>
              <a:t>B5 · 기획 상세</a:t>
            </a:r>
            <a:endParaRPr sz="76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4BCC820-66B4-4148-9309-96133A2736E7}"/>
              </a:ext>
            </a:extLst>
          </p:cNvPr>
          <p:cNvSpPr>
            <a:spLocks noGrp="1"/>
          </p:cNvSpPr>
          <p:nvPr/>
        </p:nvSpPr>
        <p:spPr>
          <a:xfrm>
            <a:off x="4889450" y="3723531"/>
            <a:ext cx="3682174" cy="157609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lnSpc>
                <a:spcPts val="1242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E5EADF"/>
                </a:solidFill>
                <a:latin typeface="Noto Sans KR"/>
                <a:ea typeface="Noto Sans KR"/>
                <a:cs typeface="Noto Sans KR"/>
              </a:rPr>
              <a:t>사업 요약 · 저니 · 피쉬본/5 Why · 화면별 요소 분석표 · 상태관리 포인트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C34AE1E-8D7E-4198-9794-61050A54C5CC}"/>
              </a:ext>
            </a:extLst>
          </p:cNvPr>
          <p:cNvSpPr>
            <a:spLocks noGrp="1"/>
          </p:cNvSpPr>
          <p:nvPr/>
        </p:nvSpPr>
        <p:spPr>
          <a:xfrm>
            <a:off x="507950" y="4800600"/>
            <a:ext cx="3690979" cy="1143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73796D"/>
                </a:solidFill>
                <a:latin typeface="Noto Sans KR"/>
                <a:ea typeface="Noto Sans KR"/>
                <a:cs typeface="Noto Sans KR"/>
              </a:rPr>
              <a:t>GAI3008-01 중간고사 발표 양식 v1.0.0 · 부록 층: 7주차 덱 부록 A2 · 기준: 중간고사_안내.md</a:t>
            </a:r>
            <a:endParaRPr sz="7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587F28E-FBB8-4753-84A5-83C1523B426D}"/>
              </a:ext>
            </a:extLst>
          </p:cNvPr>
          <p:cNvSpPr>
            <a:spLocks noGrp="1"/>
          </p:cNvSpPr>
          <p:nvPr/>
        </p:nvSpPr>
        <p:spPr>
          <a:xfrm>
            <a:off x="8519517" y="4800600"/>
            <a:ext cx="118863" cy="114300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750">
                <a:solidFill>
                  <a:srgbClr val="73796D"/>
                </a:solidFill>
                <a:latin typeface="Noto Sans KR"/>
                <a:ea typeface="Noto Sans KR"/>
                <a:cs typeface="Noto Sans KR"/>
              </a:rPr>
              <a:t>B0</a:t>
            </a:r>
            <a:endParaRPr sz="750"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17820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FC5B8E-59A7-4531-98B9-C6E0C64F640D}"/>
              </a:ext>
            </a:extLst>
          </p:cNvPr>
          <p:cNvSpPr>
            <a:spLocks noGrp="1"/>
          </p:cNvSpPr>
          <p:nvPr/>
        </p:nvSpPr>
        <p:spPr>
          <a:xfrm>
            <a:off x="7363123" y="304800"/>
            <a:ext cx="1272927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DF0A34-B652-4158-9A4E-F4ADD6B7786E}"/>
              </a:ext>
            </a:extLst>
          </p:cNvPr>
          <p:cNvSpPr>
            <a:spLocks noGrp="1"/>
          </p:cNvSpPr>
          <p:nvPr/>
        </p:nvSpPr>
        <p:spPr>
          <a:xfrm>
            <a:off x="7490073" y="342900"/>
            <a:ext cx="1039407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B1 · 질의 때만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6FD44D-1C20-46DB-8224-177A8EF96F6C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B1 — 데모·스크린샷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10F2C3-F062-4FE3-BB4A-FBC85F305D04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finaci 실행 화면과 GET 세 상태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630633A6-AFB8-482E-8D93-4DBD3A10AE17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63704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6단계(로딩/오류/빈 상태 · 적응형) · 6장 제출물 ①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19E966ED-6362-41FA-9B45-9A45C057D999}"/>
              </a:ext>
            </a:extLst>
          </p:cNvPr>
          <p:cNvSpPr>
            <a:spLocks noGrp="1"/>
          </p:cNvSpPr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5263D292-BD0A-411A-8A59-225C4F474848}"/>
              </a:ext>
            </a:extLst>
          </p:cNvPr>
          <p:cNvSpPr>
            <a:spLocks noGrp="1"/>
          </p:cNvSpPr>
          <p:nvPr/>
        </p:nvSpPr>
        <p:spPr>
          <a:xfrm>
            <a:off x="502920" y="1124712"/>
            <a:ext cx="155448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 · 홈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7E76776-509F-4095-8BA9-4BA45636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09" y="1435608"/>
            <a:ext cx="696101" cy="1508760"/>
          </a:xfrm>
          <a:prstGeom prst="rect">
            <a:avLst/>
          </a:prstGeom>
        </p:spPr>
      </p:pic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14C0ED3-A3B9-461E-BC13-BCA3CA721403}"/>
              </a:ext>
            </a:extLst>
          </p:cNvPr>
          <p:cNvSpPr>
            <a:spLocks noGrp="1"/>
          </p:cNvSpPr>
          <p:nvPr/>
        </p:nvSpPr>
        <p:spPr>
          <a:xfrm>
            <a:off x="2148840" y="1124712"/>
            <a:ext cx="155448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 · 일정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EF8AF72-91F5-421F-AA8F-5824737CF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029" y="1435608"/>
            <a:ext cx="696101" cy="1508760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A0DFCC2-4A34-478B-9F26-E26C7FD31AE0}"/>
              </a:ext>
            </a:extLst>
          </p:cNvPr>
          <p:cNvSpPr>
            <a:spLocks noGrp="1"/>
          </p:cNvSpPr>
          <p:nvPr/>
        </p:nvSpPr>
        <p:spPr>
          <a:xfrm>
            <a:off x="3794760" y="1124712"/>
            <a:ext cx="155448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 · 상황 비교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FC41C05-9FD9-42EF-8F9B-A7C31903E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949" y="1435608"/>
            <a:ext cx="696101" cy="1508760"/>
          </a:xfrm>
          <a:prstGeom prst="rect">
            <a:avLst/>
          </a:prstGeom>
        </p:spPr>
      </p:pic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603EA2E-4C57-4A82-BB24-350BD9BF347F}"/>
              </a:ext>
            </a:extLst>
          </p:cNvPr>
          <p:cNvSpPr>
            <a:spLocks noGrp="1"/>
          </p:cNvSpPr>
          <p:nvPr/>
        </p:nvSpPr>
        <p:spPr>
          <a:xfrm>
            <a:off x="5440680" y="1124712"/>
            <a:ext cx="155448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 · 빠른 기록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BB3BC43-518B-4B67-BF34-8BC0712EC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9869" y="1435608"/>
            <a:ext cx="696101" cy="1508760"/>
          </a:xfrm>
          <a:prstGeom prst="rect">
            <a:avLst/>
          </a:prstGeom>
        </p:spPr>
      </p:pic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F52FBBE-5901-4D76-866C-2697B06F0E3B}"/>
              </a:ext>
            </a:extLst>
          </p:cNvPr>
          <p:cNvSpPr>
            <a:spLocks noGrp="1"/>
          </p:cNvSpPr>
          <p:nvPr/>
        </p:nvSpPr>
        <p:spPr>
          <a:xfrm>
            <a:off x="7086600" y="1124712"/>
            <a:ext cx="1554480" cy="210312"/>
          </a:xfrm>
          <a:prstGeom prst="roundRect">
            <a:avLst/>
          </a:prstGeom>
          <a:solidFill>
            <a:srgbClr val="5C74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넓은 화면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C1715D98-F927-4651-8289-3DDF31058C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643491"/>
            <a:ext cx="1554480" cy="1092993"/>
          </a:xfrm>
          <a:prstGeom prst="rect">
            <a:avLst/>
          </a:prstGeom>
        </p:spPr>
      </p:pic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8FFC95C-FE9C-4097-9721-B87B6CD50C83}"/>
              </a:ext>
            </a:extLst>
          </p:cNvPr>
          <p:cNvSpPr>
            <a:spLocks noGrp="1"/>
          </p:cNvSpPr>
          <p:nvPr/>
        </p:nvSpPr>
        <p:spPr>
          <a:xfrm>
            <a:off x="502920" y="3154680"/>
            <a:ext cx="1737360" cy="210312"/>
          </a:xfrm>
          <a:prstGeom prst="roundRect">
            <a:avLst/>
          </a:prstGeom>
          <a:solidFill>
            <a:srgbClr val="BA76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로딩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77726F4-8180-4DAD-A3CD-C71CD7F4D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21" y="3474720"/>
            <a:ext cx="1732957" cy="1088136"/>
          </a:xfrm>
          <a:prstGeom prst="rect">
            <a:avLst/>
          </a:prstGeom>
        </p:spPr>
      </p:pic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A85C3B0-1168-453E-A26B-619978F923DE}"/>
              </a:ext>
            </a:extLst>
          </p:cNvPr>
          <p:cNvSpPr>
            <a:spLocks noGrp="1"/>
          </p:cNvSpPr>
          <p:nvPr/>
        </p:nvSpPr>
        <p:spPr>
          <a:xfrm>
            <a:off x="2359152" y="3154680"/>
            <a:ext cx="1737360" cy="210312"/>
          </a:xfrm>
          <a:prstGeom prst="roundRect">
            <a:avLst/>
          </a:prstGeom>
          <a:solidFill>
            <a:srgbClr val="BA76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오류·재시도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0CC528D-4738-44F2-A855-584D66137B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1110" y="3474720"/>
            <a:ext cx="1613443" cy="1088136"/>
          </a:xfrm>
          <a:prstGeom prst="rect">
            <a:avLst/>
          </a:prstGeom>
        </p:spPr>
      </p:pic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A431B5A4-7529-4B9D-B024-10DC852A0D13}"/>
              </a:ext>
            </a:extLst>
          </p:cNvPr>
          <p:cNvSpPr>
            <a:spLocks noGrp="1"/>
          </p:cNvSpPr>
          <p:nvPr/>
        </p:nvSpPr>
        <p:spPr>
          <a:xfrm>
            <a:off x="4215383" y="3154680"/>
            <a:ext cx="1737360" cy="210312"/>
          </a:xfrm>
          <a:prstGeom prst="roundRect">
            <a:avLst/>
          </a:prstGeom>
          <a:solidFill>
            <a:srgbClr val="BA7657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3716" rIns="13716" bIns="13716" anchor="ctr"/>
          <a:lstStyle/>
          <a:p>
            <a:pPr algn="ctr">
              <a:spcAft>
                <a:spcPts val="200"/>
              </a:spcAft>
              <a:buNone/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빈 상태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1C1D518-DFF4-4C44-9FA3-BF23C524BD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8530" y="3474720"/>
            <a:ext cx="1671066" cy="1088136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FC5E993F-6089-4908-AC0D-C98670FE406B}"/>
              </a:ext>
            </a:extLst>
          </p:cNvPr>
          <p:cNvSpPr>
            <a:spLocks noGrp="1"/>
          </p:cNvSpPr>
          <p:nvPr/>
        </p:nvSpPr>
        <p:spPr>
          <a:xfrm>
            <a:off x="6181344" y="3154680"/>
            <a:ext cx="2450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실행·시연 링크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D09C7A4B-8B38-4E40-B4ED-49846DC9C61D}"/>
              </a:ext>
            </a:extLst>
          </p:cNvPr>
          <p:cNvSpPr>
            <a:spLocks noGrp="1"/>
          </p:cNvSpPr>
          <p:nvPr/>
        </p:nvSpPr>
        <p:spPr>
          <a:xfrm>
            <a:off x="6181344" y="3465576"/>
            <a:ext cx="2450592" cy="112471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A→B→C→D, 세 상태와 적응형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0ECA58-D6C5-4094-A2EE-B501DD4B9621}"/>
              </a:ext>
            </a:extLst>
          </p:cNvPr>
          <p:cNvSpPr>
            <a:spLocks noGrp="1"/>
          </p:cNvSpPr>
          <p:nvPr/>
        </p:nvSpPr>
        <p:spPr>
          <a:xfrm>
            <a:off x="6318504" y="3822191"/>
            <a:ext cx="2167128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  <a:hlinkClick r:id="rId11"/>
              </a:rPr>
              <a:t>웹 데모 · Vercel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C8D5A6-4E81-42DE-9F46-21326A48A8F1}"/>
              </a:ext>
            </a:extLst>
          </p:cNvPr>
          <p:cNvSpPr>
            <a:spLocks noGrp="1"/>
          </p:cNvSpPr>
          <p:nvPr/>
        </p:nvSpPr>
        <p:spPr>
          <a:xfrm>
            <a:off x="6318504" y="4096512"/>
            <a:ext cx="2167128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  <a:hlinkClick r:id="rId12"/>
              </a:rPr>
              <a:t>GitHub 저장소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DDA75CA-C589-49B7-82B9-FA14B66EEF85}"/>
              </a:ext>
            </a:extLst>
          </p:cNvPr>
          <p:cNvSpPr>
            <a:spLocks noGrp="1"/>
          </p:cNvSpPr>
          <p:nvPr/>
        </p:nvSpPr>
        <p:spPr>
          <a:xfrm>
            <a:off x="6318504" y="4370832"/>
            <a:ext cx="2167128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  <a:hlinkClick r:id="rId13"/>
              </a:rPr>
              <a:t>1분 데모 영상</a:t>
            </a:r>
          </a:p>
        </p:txBody>
      </p:sp>
    </p:spTree>
    <p:extLst>
      <p:ext uri="{BB962C8B-B14F-4D97-AF65-F5344CB8AC3E}">
        <p14:creationId xmlns:p14="http://schemas.microsoft.com/office/powerpoint/2010/main" val="213794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FB982A-1E28-4BCB-947C-ED054DDAB511}"/>
              </a:ext>
            </a:extLst>
          </p:cNvPr>
          <p:cNvSpPr>
            <a:spLocks noGrp="1"/>
          </p:cNvSpPr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4F261-8161-4665-835D-B6F4EB7303F6}"/>
              </a:ext>
            </a:extLst>
          </p:cNvPr>
          <p:cNvSpPr>
            <a:spLocks noGrp="1"/>
          </p:cNvSpPr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B2 · 원칙 카드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E9524-CEB4-40B9-B452-3CC64A8AEB0F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B2 — 원칙 카드 1/4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95D-5B92-44B3-A8D1-F44A574E0261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P07 · 유연성과 효율성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F8E56F8-AA10-4CD8-98CC-146C806B65D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4장 1 · 5 · 7단계 · 7주차 덱 부록 A4(원칙 카드 5칸)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CC79587-7E63-45F2-8AC3-E360522A03DF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B2-P07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C8FE8A0-C11E-4176-8C01-1F131085CB28}"/>
              </a:ext>
            </a:extLst>
          </p:cNvPr>
          <p:cNvGraphicFramePr/>
          <p:nvPr/>
        </p:nvGraphicFramePr>
        <p:xfrm>
          <a:off x="502920" y="1143000"/>
          <a:ext cx="5605272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자주 하는 작업을 빠르게 하고 반복 입력을 줄인다.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관찰: Planned Payments에 등록한 항목을 Outlook에서 다시 입력해야 했다. R01–R20에는 직접 해당 리뷰가 없다.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A-5 / B-3에 같은 예정 항목의 날짜·이름·금액·통화를 표시한다. GET 응답만 보여 준다.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A의 등록 항목과 B의 일정을 대조한다. 별도 입력 없이 같은 항목이 전망의 근거로 나타난다.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유지. Bank Sync는 지역·제휴 범위에 좌우되므로 이번 우선 문제에서 제외한다.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2B653A92-0425-48C0-8504-354E3DBF96F5}"/>
              </a:ext>
            </a:extLst>
          </p:cNvPr>
          <p:cNvSpPr>
            <a:spLocks noGrp="1"/>
          </p:cNvSpPr>
          <p:nvPr/>
        </p:nvSpPr>
        <p:spPr>
          <a:xfrm>
            <a:off x="6345936" y="1143000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근거 · Wallet / 개인 관찰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E6D61C-0C62-4D6E-A594-74926A8FB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00" b="24000"/>
          <a:stretch>
            <a:fillRect/>
          </a:stretch>
        </p:blipFill>
        <p:spPr>
          <a:xfrm>
            <a:off x="6949990" y="1508760"/>
            <a:ext cx="1077890" cy="126187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887BC84-A100-4F42-A263-BB1C63D8DE3B}"/>
              </a:ext>
            </a:extLst>
          </p:cNvPr>
          <p:cNvSpPr>
            <a:spLocks noGrp="1"/>
          </p:cNvSpPr>
          <p:nvPr/>
        </p:nvSpPr>
        <p:spPr>
          <a:xfrm>
            <a:off x="6345936" y="3035808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적용 · finaci 실행 UI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3D064C0-DDD1-4F4C-9443-2A09A5C0D6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00" b="25000"/>
          <a:stretch>
            <a:fillRect/>
          </a:stretch>
        </p:blipFill>
        <p:spPr>
          <a:xfrm>
            <a:off x="7022101" y="3374136"/>
            <a:ext cx="933668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6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FB982A-1E28-4BCB-947C-ED054DDAB511}"/>
              </a:ext>
            </a:extLst>
          </p:cNvPr>
          <p:cNvSpPr>
            <a:spLocks noGrp="1"/>
          </p:cNvSpPr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4F261-8161-4665-835D-B6F4EB7303F6}"/>
              </a:ext>
            </a:extLst>
          </p:cNvPr>
          <p:cNvSpPr>
            <a:spLocks noGrp="1"/>
          </p:cNvSpPr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B2 · 원칙 카드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E9524-CEB4-40B9-B452-3CC64A8AEB0F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B2 — 원칙 카드 2/4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95D-5B92-44B3-A8D1-F44A574E0261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P06 · 기억보다 재인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F8E56F8-AA10-4CD8-98CC-146C806B65D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4장 1 · 5 · 7단계 · 7주차 덱 부록 A4(원칙 카드 5칸)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CC79587-7E63-45F2-8AC3-E360522A03DF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B2-P06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A379289-104D-4A60-87CE-7969EDE9ADAF}"/>
              </a:ext>
            </a:extLst>
          </p:cNvPr>
          <p:cNvGraphicFramePr/>
          <p:nvPr/>
        </p:nvGraphicFramePr>
        <p:xfrm>
          <a:off x="502920" y="1143000"/>
          <a:ext cx="5605272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사용자가 이미 입력한 정보를 기억해 다시 옮기지 않도록 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경험: Planned Payments와 Outlook이 분리되어 같은 예정 항목을 다시 입력했다. P07을 보조한다.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A-5 / B-3에서 등록 출처, 날짜와 통화 금액을 같이 보여 포함된 항목을 알아보게 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A의 예정 수입·지출과 B 일정의 같은 항목명을 비교한다. 금액·날짜가 일관되게 나타난다.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유지. 동일한 고정 GET 데이터를 두 화면에서 표현한다. 실제 저장·자동 연결은 구현하지 않는다.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FDAB585B-69A0-40D3-9695-C8F2A638B6CA}"/>
              </a:ext>
            </a:extLst>
          </p:cNvPr>
          <p:cNvSpPr>
            <a:spLocks noGrp="1"/>
          </p:cNvSpPr>
          <p:nvPr/>
        </p:nvSpPr>
        <p:spPr>
          <a:xfrm>
            <a:off x="6345936" y="1143000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근거 · Wallet / 개인 관찰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9EABEC3-FCCA-43AE-A2BB-D4C8B8B2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00" b="24000"/>
          <a:stretch>
            <a:fillRect/>
          </a:stretch>
        </p:blipFill>
        <p:spPr>
          <a:xfrm>
            <a:off x="6949990" y="1508760"/>
            <a:ext cx="1077890" cy="126187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0C8CF18-8EF1-47D6-AC8D-CEBC78BAEFD3}"/>
              </a:ext>
            </a:extLst>
          </p:cNvPr>
          <p:cNvSpPr>
            <a:spLocks noGrp="1"/>
          </p:cNvSpPr>
          <p:nvPr/>
        </p:nvSpPr>
        <p:spPr>
          <a:xfrm>
            <a:off x="6345936" y="3035808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적용 · finaci 실행 UI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89AA5A5-02FB-42AA-9DFD-1B3FF4671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00" b="25000"/>
          <a:stretch>
            <a:fillRect/>
          </a:stretch>
        </p:blipFill>
        <p:spPr>
          <a:xfrm>
            <a:off x="7022101" y="3374136"/>
            <a:ext cx="933668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2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FB982A-1E28-4BCB-947C-ED054DDAB511}"/>
              </a:ext>
            </a:extLst>
          </p:cNvPr>
          <p:cNvSpPr>
            <a:spLocks noGrp="1"/>
          </p:cNvSpPr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4F261-8161-4665-835D-B6F4EB7303F6}"/>
              </a:ext>
            </a:extLst>
          </p:cNvPr>
          <p:cNvSpPr>
            <a:spLocks noGrp="1"/>
          </p:cNvSpPr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B2 · 원칙 카드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E9524-CEB4-40B9-B452-3CC64A8AEB0F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B2 — 원칙 카드 3/4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95D-5B92-44B3-A8D1-F44A574E0261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P01 · 시스템 상태의 가시성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F8E56F8-AA10-4CD8-98CC-146C806B65D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4장 1 · 5 · 7단계 · 7주차 덱 부록 A4(원칙 카드 5칸)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CC79587-7E63-45F2-8AC3-E360522A03DF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B2-P01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F20CEF6-DDB1-4E17-AF23-D60BF005861F}"/>
              </a:ext>
            </a:extLst>
          </p:cNvPr>
          <p:cNvGraphicFramePr/>
          <p:nvPr/>
        </p:nvGraphicFramePr>
        <p:xfrm>
          <a:off x="502920" y="1143000"/>
          <a:ext cx="5605272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상태와 고정 예시 전망, 데이터의 기준 시점과 범위를 분명히 보여 준다.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논증: “예상”이라는 단어만으로 숫자를 확정 잔액처럼 읽는 위험을 줄이기 어렵다.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A-3/A-4, B-2/B-5/B-6에 고정 예시 전망·기간·포함/제외 항목을 가깝게 둔다.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실제/전망을 전환하고 목표일까지의 날짜 범위를 확인한다. 기본·지연 두 예시를 비교한다.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수정. 실제·전망을 나누고 가정을 금액 옆에 표시한다. 실제 사용자 이해 여부는 후속 검증한다.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627340A6-48AE-4DD9-82BC-27732B14B73B}"/>
              </a:ext>
            </a:extLst>
          </p:cNvPr>
          <p:cNvSpPr>
            <a:spLocks noGrp="1"/>
          </p:cNvSpPr>
          <p:nvPr/>
        </p:nvSpPr>
        <p:spPr>
          <a:xfrm>
            <a:off x="6345936" y="1143000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고정 예시 전망의 표시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089676-AD83-4B89-AF08-1AF5C206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00" b="5000"/>
          <a:stretch>
            <a:fillRect/>
          </a:stretch>
        </p:blipFill>
        <p:spPr>
          <a:xfrm>
            <a:off x="7003774" y="1508760"/>
            <a:ext cx="970323" cy="126187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2822A11-50EC-44C9-A2EA-E1378BB54BDC}"/>
              </a:ext>
            </a:extLst>
          </p:cNvPr>
          <p:cNvSpPr>
            <a:spLocks noGrp="1"/>
          </p:cNvSpPr>
          <p:nvPr/>
        </p:nvSpPr>
        <p:spPr>
          <a:xfrm>
            <a:off x="6345936" y="3035808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적용 · finaci 실행 UI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94E91B1-539A-490D-A0F7-768A4A6DA8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00" b="25000"/>
          <a:stretch>
            <a:fillRect/>
          </a:stretch>
        </p:blipFill>
        <p:spPr>
          <a:xfrm>
            <a:off x="7022101" y="3374136"/>
            <a:ext cx="933668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49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FB982A-1E28-4BCB-947C-ED054DDAB511}"/>
              </a:ext>
            </a:extLst>
          </p:cNvPr>
          <p:cNvSpPr>
            <a:spLocks noGrp="1"/>
          </p:cNvSpPr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4F261-8161-4665-835D-B6F4EB7303F6}"/>
              </a:ext>
            </a:extLst>
          </p:cNvPr>
          <p:cNvSpPr>
            <a:spLocks noGrp="1"/>
          </p:cNvSpPr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B2 · 원칙 카드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E9524-CEB4-40B9-B452-3CC64A8AEB0F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B2 — 원칙 카드 4/4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B4895D-5B92-44B3-A8D1-F44A574E0261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P10 · 도움말과 문서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F8E56F8-AA10-4CD8-98CC-146C806B65DC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4장 1 · 5 · 7단계 · 7주차 덱 부록 A4(원칙 카드 5칸)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CC79587-7E63-45F2-8AC3-E360522A03DF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B2-P10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020C6BB-A4F1-478C-85E8-0BEA945F08BC}"/>
              </a:ext>
            </a:extLst>
          </p:cNvPr>
          <p:cNvGraphicFramePr/>
          <p:nvPr/>
        </p:nvGraphicFramePr>
        <p:xfrm>
          <a:off x="502920" y="1143000"/>
          <a:ext cx="5605272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기능의 목적과 가정을 필요한 곳에서 짧게 설명한다.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C는 급여가 7일 늦는 고정 사례다. 실제 AI가 사용자의 재무 상태를 계산한 결과가 아니다.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C-4/C-5에 사전 작성 예시 응답, 실제 AI·금융 조언 아님, 반영·제외 항목을 적는다.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BottomSheet를 열어 기본/지연 결과와 한계 안내를 확인하고 닫는다.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5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유지. 외부 LLM/API를 호출하지 않고 미리 작성한 설명으로 UI만 시연한다.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984FD32C-9E95-4A27-AE99-809FE8D1AA75}"/>
              </a:ext>
            </a:extLst>
          </p:cNvPr>
          <p:cNvSpPr>
            <a:spLocks noGrp="1"/>
          </p:cNvSpPr>
          <p:nvPr/>
        </p:nvSpPr>
        <p:spPr>
          <a:xfrm>
            <a:off x="6345936" y="1143000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고정 시나리오 질문·결과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0C43BCA-FF3A-4123-97E3-83C67EC20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0" b="40000"/>
          <a:stretch>
            <a:fillRect/>
          </a:stretch>
        </p:blipFill>
        <p:spPr>
          <a:xfrm>
            <a:off x="6978239" y="1508760"/>
            <a:ext cx="1021393" cy="126187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441FE0F-C63F-4201-8843-0C48B15FFB4C}"/>
              </a:ext>
            </a:extLst>
          </p:cNvPr>
          <p:cNvSpPr>
            <a:spLocks noGrp="1"/>
          </p:cNvSpPr>
          <p:nvPr/>
        </p:nvSpPr>
        <p:spPr>
          <a:xfrm>
            <a:off x="6345936" y="3035808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5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사전 작성 응답·가정 안내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35C921F-D10D-4CAE-ABB9-E9C347728F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b="3000"/>
          <a:stretch>
            <a:fillRect/>
          </a:stretch>
        </p:blipFill>
        <p:spPr>
          <a:xfrm>
            <a:off x="6883044" y="3374136"/>
            <a:ext cx="1211782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705D64-15F4-4C9D-9441-38BD3BDFB4D5}"/>
              </a:ext>
            </a:extLst>
          </p:cNvPr>
          <p:cNvSpPr>
            <a:spLocks noGrp="1"/>
          </p:cNvSpPr>
          <p:nvPr/>
        </p:nvSpPr>
        <p:spPr>
          <a:xfrm>
            <a:off x="7963942" y="304800"/>
            <a:ext cx="672108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F3296A-8020-4898-BBA6-9157005A0D1D}"/>
              </a:ext>
            </a:extLst>
          </p:cNvPr>
          <p:cNvSpPr>
            <a:spLocks noGrp="1"/>
          </p:cNvSpPr>
          <p:nvPr/>
        </p:nvSpPr>
        <p:spPr>
          <a:xfrm>
            <a:off x="8090892" y="342900"/>
            <a:ext cx="426571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B3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49AD3E-4689-4D90-95A6-8F9F94D22E19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B3 — prompt-log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C90D12-7E0F-4591-9EBA-CA273B73295A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AI 반론과 판단의 근거를 기록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D82CACB0-BDB7-42A9-A01C-5F6E7719A8E7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464513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8장 FAQ("지문과 판정 결과를 기획 문서에 남긴다") · 5장 허용/감점 · 7주차 덱 부록 A5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24479C8-6E5F-4B14-9C9A-2AD553D337E8}"/>
              </a:ext>
            </a:extLst>
          </p:cNvPr>
          <p:cNvSpPr>
            <a:spLocks noGrp="1"/>
          </p:cNvSpPr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B3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14B3A654-487C-43D0-BDE4-9A8DD7659BA5}"/>
              </a:ext>
            </a:extLst>
          </p:cNvPr>
          <p:cNvGraphicFramePr/>
          <p:nvPr/>
        </p:nvGraphicFramePr>
        <p:xfrm>
          <a:off x="502920" y="1143000"/>
          <a:ext cx="8138158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요청 요약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반론·제안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재입력과 Sync 중 우선 문제는?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Sync가 더 넓고 직접적인 문제일 수 있음.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경험을 우선. 제휴 범위는 통제하기 어려움.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재입력과 맞는 Nielsen은?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효율성 P07, 기억보다 재인 P06.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 우선, P06 보조로 선택.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근본 원인을 어디까지 말할까?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내부 기술 원인은 미확인.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UX 원인만 확정. Why3–5는 가설.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전망의 기본 기간은?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30일이 한 달 계획에 간단함.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사용자는 목표일까지를 선택. 7/30일도 제공.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중앙 +의 역할은?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저장까지 구현하면 범위 초과.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 BottomSheet. 선택만 바꾸고 저장 안 함.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10/29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예상 안내만으로 충분한가?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보장 잔액으로 읽힐 위험이 남음.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예시·기간·포함/제외·실제/전망 구분을 추가.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1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804EC52F-8BAE-4A2D-A86B-34614A7D4634}"/>
              </a:ext>
            </a:extLst>
          </p:cNvPr>
          <p:cNvSpPr>
            <a:spLocks noGrp="1"/>
          </p:cNvSpPr>
          <p:nvPr/>
        </p:nvSpPr>
        <p:spPr>
          <a:xfrm>
            <a:off x="502920" y="4526280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역사적 대화는 요약으로 표기. 마지막 행은 10/29 추가 논증이며 과거 대화로 소급하지 않는다. 전체 기록: docs/prompt-log.md</a:t>
            </a:r>
          </a:p>
        </p:txBody>
      </p:sp>
    </p:spTree>
    <p:extLst>
      <p:ext uri="{BB962C8B-B14F-4D97-AF65-F5344CB8AC3E}">
        <p14:creationId xmlns:p14="http://schemas.microsoft.com/office/powerpoint/2010/main" val="134937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F205AA-8EA7-49C7-80D6-405013143CE6}"/>
              </a:ext>
            </a:extLst>
          </p:cNvPr>
          <p:cNvSpPr>
            <a:spLocks noGrp="1"/>
          </p:cNvSpPr>
          <p:nvPr/>
        </p:nvSpPr>
        <p:spPr>
          <a:xfrm>
            <a:off x="7214295" y="304800"/>
            <a:ext cx="1421755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F7E634-2A08-45E6-BAE2-648507A71666}"/>
              </a:ext>
            </a:extLst>
          </p:cNvPr>
          <p:cNvSpPr>
            <a:spLocks noGrp="1"/>
          </p:cNvSpPr>
          <p:nvPr/>
        </p:nvSpPr>
        <p:spPr>
          <a:xfrm>
            <a:off x="7341245" y="342900"/>
            <a:ext cx="1191211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B4 · 제출 전 점검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8E7003-5C30-4163-9973-DE9F3D2BBDEE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B4 — 자가평가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EA5871-E3E9-422D-87AC-356EBD5FBC5F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rubric 기준 자가평가와 남은 확인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145" name="Text 143">
            <a:extLst>
              <a:ext uri="{FF2B5EF4-FFF2-40B4-BE49-F238E27FC236}">
                <a16:creationId xmlns:a16="http://schemas.microsoft.com/office/drawing/2014/main" id="{4F6CD8D6-2A6D-462A-AE7D-6CE1F103B395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3577277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7장 평가(배점 그대로) · 5장 감점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46" name="Text 144">
            <a:extLst>
              <a:ext uri="{FF2B5EF4-FFF2-40B4-BE49-F238E27FC236}">
                <a16:creationId xmlns:a16="http://schemas.microsoft.com/office/drawing/2014/main" id="{BBD3C385-4375-42F7-9515-22A30591EAEC}"/>
              </a:ext>
            </a:extLst>
          </p:cNvPr>
          <p:cNvSpPr>
            <a:spLocks noGrp="1"/>
          </p:cNvSpPr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B4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C80A9206-8B48-4106-9AA5-D195BB7534FD}"/>
              </a:ext>
            </a:extLst>
          </p:cNvPr>
          <p:cNvGraphicFramePr/>
          <p:nvPr/>
        </p:nvGraphicFramePr>
        <p:xfrm>
          <a:off x="502920" y="1143000"/>
          <a:ext cx="7406640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현행 분석·리뷰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리뷰20개·지역/플랫폼 구분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B5·review notes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 / 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앱 요약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목표·대상·문제·핵심 가치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/ 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목표·단계별 리뷰·감정·확장4줄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Fishbone·5Why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여섯 관점·UX원인·가설 구분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/ 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요소·기준·가이드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A/B/C/D 요소·위젯·원칙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B5-4A–D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 / 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STATE 포인트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변화 데이터·위치·위젯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B5-5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/ 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논증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주장·반론·결론·전후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논증 포함, 근거 추적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B2·B3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/ 20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GET·전환·3상태·적응형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UI-only·분석/빌드 확인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B1·README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 / 25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6분·데모·질의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덱/시연 준비, 실제 발표 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본문·Q&amp;A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 / 15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8" name="TextBox 147">
            <a:extLst>
              <a:ext uri="{FF2B5EF4-FFF2-40B4-BE49-F238E27FC236}">
                <a16:creationId xmlns:a16="http://schemas.microsoft.com/office/drawing/2014/main" id="{4C3E51CF-BA6D-471B-B0AA-93165C401407}"/>
              </a:ext>
            </a:extLst>
          </p:cNvPr>
          <p:cNvSpPr>
            <a:spLocks noGrp="1"/>
          </p:cNvSpPr>
          <p:nvPr/>
        </p:nvSpPr>
        <p:spPr>
          <a:xfrm>
            <a:off x="502920" y="4215384"/>
            <a:ext cx="81381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기본 자가평가 86 / 100 · 가산: +5 / 5 · Vercel 웹·GET 검증 · 합계 91 / 100 (잠정)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84B0633-8B6B-4FAA-8F12-7900FF72AA13}"/>
              </a:ext>
            </a:extLst>
          </p:cNvPr>
          <p:cNvSpPr>
            <a:spLocks noGrp="1"/>
          </p:cNvSpPr>
          <p:nvPr/>
        </p:nvSpPr>
        <p:spPr>
          <a:xfrm>
            <a:off x="502920" y="4562856"/>
            <a:ext cx="8138160" cy="19202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발표 점수는 리허설·실제 질의 전의 예상치. 자동 검사 결과가 학습 이해나 교수 평가를 대신하지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2893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56FDC2-729F-4D4B-B0F3-7C55061608D1}"/>
              </a:ext>
            </a:extLst>
          </p:cNvPr>
          <p:cNvSpPr>
            <a:spLocks noGrp="1"/>
          </p:cNvSpPr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C13C4-D6DD-4AAA-843D-AC37938CAC73}"/>
              </a:ext>
            </a:extLst>
          </p:cNvPr>
          <p:cNvSpPr>
            <a:spLocks noGrp="1"/>
          </p:cNvSpPr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B5-1 · 기획 상세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5B12C7-928A-44FB-BC65-0F420F9C4FF1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B5-1 — 사업 요약 1쪽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4F418-9888-4845-AF99-09B6FE317A6C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누구의 돈 흐름을 어떻게 계획 가능하게 하는가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44D595-3F50-4418-B149-C058DA7BD358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390472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2단계 · 7장 기획 "사업 요약 5"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BAB87C2-4539-4F2B-A029-5B4D8C36315A}"/>
              </a:ext>
            </a:extLst>
          </p:cNvPr>
          <p:cNvSpPr>
            <a:spLocks noGrp="1"/>
          </p:cNvSpPr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B5-1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672C2-0682-4C31-8CCC-037B9DCE5B2A}"/>
              </a:ext>
            </a:extLst>
          </p:cNvPr>
          <p:cNvSpPr>
            <a:spLocks noGrp="1"/>
          </p:cNvSpPr>
          <p:nvPr/>
        </p:nvSpPr>
        <p:spPr>
          <a:xfrm>
            <a:off x="502920" y="1143000"/>
            <a:ext cx="3995928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F36AC8-50F4-4BFC-A97D-5246DB995ED2}"/>
              </a:ext>
            </a:extLst>
          </p:cNvPr>
          <p:cNvSpPr>
            <a:spLocks noGrp="1"/>
          </p:cNvSpPr>
          <p:nvPr/>
        </p:nvSpPr>
        <p:spPr>
          <a:xfrm>
            <a:off x="4709160" y="1143000"/>
            <a:ext cx="3922776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대상 사용자 / prototype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B3DEB-990A-4575-BF6E-796DAABEF876}"/>
              </a:ext>
            </a:extLst>
          </p:cNvPr>
          <p:cNvSpPr>
            <a:spLocks noGrp="1"/>
          </p:cNvSpPr>
          <p:nvPr/>
        </p:nvSpPr>
        <p:spPr>
          <a:xfrm>
            <a:off x="502920" y="3008376"/>
            <a:ext cx="3995928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해결할 문제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6E8E12-2A92-49EE-8556-9B95E826F1D6}"/>
              </a:ext>
            </a:extLst>
          </p:cNvPr>
          <p:cNvSpPr>
            <a:spLocks noGrp="1"/>
          </p:cNvSpPr>
          <p:nvPr/>
        </p:nvSpPr>
        <p:spPr>
          <a:xfrm>
            <a:off x="4709160" y="3008376"/>
            <a:ext cx="3922776" cy="2103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v2 핵심 가치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4A26514-E1A3-4EEE-8179-380F831CFC72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3995928" cy="126187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여러 통화의 잔액과 등록된 반복 수입·지출을 날짜별 전망으로 연결한다. 오늘부터 목표일까지 예정된 항목과 잔액 흐름을 한곳에서 확인한다.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67A675F-C8B1-4E38-B1F7-3FAC44CBCBCE}"/>
              </a:ext>
            </a:extLst>
          </p:cNvPr>
          <p:cNvSpPr>
            <a:spLocks noGrp="1"/>
          </p:cNvSpPr>
          <p:nvPr/>
        </p:nvSpPr>
        <p:spPr>
          <a:xfrm>
            <a:off x="4709160" y="1499616"/>
            <a:ext cx="3922776" cy="126187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다국가·다중 통화 이용자.</a:t>
            </a:r>
          </a:p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prototype: 한국 거주 베트남 유학생이 VND 원격 급여, KRW 아르바이트 급여와 가족 지원을 함께 계획한다.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DC4569A-0680-4CD4-8D0F-1FCF3901C046}"/>
              </a:ext>
            </a:extLst>
          </p:cNvPr>
          <p:cNvSpPr>
            <a:spLocks noGrp="1"/>
          </p:cNvSpPr>
          <p:nvPr/>
        </p:nvSpPr>
        <p:spPr>
          <a:xfrm>
            <a:off x="502920" y="3355848"/>
            <a:ext cx="3995928" cy="1261872"/>
          </a:xfrm>
          <a:prstGeom prst="roundRect">
            <a:avLst/>
          </a:prstGeom>
          <a:solidFill>
            <a:srgbClr val="F8F7F0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Wallet 5.7.5 개인 관찰에서 예정 항목을 Outlook에 다시 입력해야 했다. R01–R20은 이 이슈의 직접 증거가 아니다.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2E88A8A-D7A3-4D5E-A76E-26ACCEF055F5}"/>
              </a:ext>
            </a:extLst>
          </p:cNvPr>
          <p:cNvSpPr>
            <a:spLocks noGrp="1"/>
          </p:cNvSpPr>
          <p:nvPr/>
        </p:nvSpPr>
        <p:spPr>
          <a:xfrm>
            <a:off x="4709160" y="3355848"/>
            <a:ext cx="3922776" cy="1261872"/>
          </a:xfrm>
          <a:prstGeom prst="roundRect">
            <a:avLst/>
          </a:prstGeom>
          <a:solidFill>
            <a:srgbClr val="EDF1E9"/>
          </a:solidFill>
          <a:ln w="8890">
            <a:solidFill>
              <a:srgbClr val="D4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anchor="ctr"/>
          <a:lstStyle/>
          <a:p>
            <a:pPr algn="l">
              <a:spcAft>
                <a:spcPts val="200"/>
              </a:spcAft>
              <a:buNone/>
            </a:pPr>
            <a:r>
              <a:rPr sz="1500" b="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재입력 없이 등록 항목을 재사용한다. 실제 잔액과 고정 예시 전망, 포함·제외 조건을 구분한다. Goals는 보조 use case다.</a:t>
            </a:r>
          </a:p>
        </p:txBody>
      </p:sp>
    </p:spTree>
    <p:extLst>
      <p:ext uri="{BB962C8B-B14F-4D97-AF65-F5344CB8AC3E}">
        <p14:creationId xmlns:p14="http://schemas.microsoft.com/office/powerpoint/2010/main" val="49808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E372B-0CF2-478A-BD61-17F756574F80}"/>
              </a:ext>
            </a:extLst>
          </p:cNvPr>
          <p:cNvSpPr>
            <a:spLocks noGrp="1"/>
          </p:cNvSpPr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EE572-B50E-4AB3-A4C6-E3AB1B533189}"/>
              </a:ext>
            </a:extLst>
          </p:cNvPr>
          <p:cNvSpPr>
            <a:spLocks noGrp="1"/>
          </p:cNvSpPr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B5-2 · 기획 상세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958E13-C02F-4736-ACE3-8A75586440B7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B5-2a — 확장 사용자 저니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0EB75C-B830-4D6C-AEBF-1B6B7F024308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Wallet 사용자 저니 · 목표와 단계별 판단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BFB92A75-58C7-4522-BC14-00494708C7A6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372802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3단계 · 7장 기획 "저니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87A7C330-726E-451F-8FA5-0422DF136F88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B5-2a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1078C9-A09B-4DAC-A353-E99D8C6A39E2}"/>
              </a:ext>
            </a:extLst>
          </p:cNvPr>
          <p:cNvSpPr>
            <a:spLocks noGrp="1"/>
          </p:cNvSpPr>
          <p:nvPr/>
        </p:nvSpPr>
        <p:spPr>
          <a:xfrm>
            <a:off x="502920" y="1106424"/>
            <a:ext cx="81381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목표: KRW/VND 잔액과 반복 수입·지출을 확인해 가까운 시점의 현금흐름을 이해한다.</a:t>
            </a: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0DC7491D-CF35-4E04-A816-DA2A355118E9}"/>
              </a:ext>
            </a:extLst>
          </p:cNvPr>
          <p:cNvGraphicFramePr/>
          <p:nvPr/>
        </p:nvGraphicFramePr>
        <p:xfrm>
          <a:off x="502920" y="1508760"/>
          <a:ext cx="8138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단계·근거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기기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기회 (v2)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 후보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데이터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잔액 확인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R03/R12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iPhone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 Pro Max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KRW/VND 잔액의 기준 통화 설명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 상태 가시성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계좌별 잔액·통화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 통화·계좌/Sync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R06/R09/R18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Wallet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5.7.5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불가 시 수동 입력 경로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P09 복구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국가·지원 은행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 Quick Add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R11/R13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기기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자연어 기록 초안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 입력 효율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금액·통화·계좌·분류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Planned Payments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R05/R19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기기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일정과 미래 흐름 설명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 현재/예상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수입·지출·주기·날짜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Budgets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R15/R16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기기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목표일 기준 예시 저축 계획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P06 기간 인지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기간·금액·계좌·분류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Statistics/Outlook</a:t>
                      </a:r>
                    </a:p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관찰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미기록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기기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등록한 예정 항목을 전망과 연결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 우선/P06 보조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잔액·일정·가정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3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737BC4D0-AB61-4E59-A612-E28CC80E0767}"/>
              </a:ext>
            </a:extLst>
          </p:cNvPr>
          <p:cNvSpPr>
            <a:spLocks noGrp="1"/>
          </p:cNvSpPr>
          <p:nvPr/>
        </p:nvSpPr>
        <p:spPr>
          <a:xfrm>
            <a:off x="502920" y="4590288"/>
            <a:ext cx="8138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감정 0/−1/0/0/−1/−2는 AI가 제안하고 사용자가 진행을 승인한 추정값이다. 직접 측정값·연속 세션 기록이 아니다.</a:t>
            </a:r>
          </a:p>
        </p:txBody>
      </p:sp>
    </p:spTree>
    <p:extLst>
      <p:ext uri="{BB962C8B-B14F-4D97-AF65-F5344CB8AC3E}">
        <p14:creationId xmlns:p14="http://schemas.microsoft.com/office/powerpoint/2010/main" val="77611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E372B-0CF2-478A-BD61-17F756574F80}"/>
              </a:ext>
            </a:extLst>
          </p:cNvPr>
          <p:cNvSpPr>
            <a:spLocks noGrp="1"/>
          </p:cNvSpPr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EE572-B50E-4AB3-A4C6-E3AB1B533189}"/>
              </a:ext>
            </a:extLst>
          </p:cNvPr>
          <p:cNvSpPr>
            <a:spLocks noGrp="1"/>
          </p:cNvSpPr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질의 근거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958E13-C02F-4736-ACE3-8A75586440B7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B5-2b — 저니와 화면·리뷰 근거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0EB75C-B830-4D6C-AEBF-1B6B7F024308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여섯 단계의 실제 화면과 리뷰를 연결한다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BFB92A75-58C7-4522-BC14-00494708C7A6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372802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3단계 · 7장 기획 "저니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87A7C330-726E-451F-8FA5-0422DF136F88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B5-2b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E3E791C-6F46-4AB1-A07B-6B5B6338C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53" y="1115568"/>
            <a:ext cx="6346693" cy="35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18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4FB26D-3201-4E8E-B627-B48FB6F388E8}"/>
              </a:ext>
            </a:extLst>
          </p:cNvPr>
          <p:cNvSpPr>
            <a:spLocks noGrp="1"/>
          </p:cNvSpPr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1A1F6D-B088-48B9-AD61-DDC815127111}"/>
              </a:ext>
            </a:extLst>
          </p:cNvPr>
          <p:cNvSpPr>
            <a:spLocks noGrp="1"/>
          </p:cNvSpPr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B5-3 · 기획 상세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E26FCB-487F-4E65-8E0C-56AE994DF6E3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B5-3 — Fishbone · 5 Why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CC1861-7DE8-4C50-A84D-E1DAEE047F42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UX 원인: 예정 항목이 전망에서 재사용되지 않음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8F51737-A79D-4DBE-B044-FC2EB279AC48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131820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4단계 · 7장 기획 "피쉬본 · 5 Why 5"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4AE1E8A-A17B-41BE-9AE9-DDC39EBB87F5}"/>
              </a:ext>
            </a:extLst>
          </p:cNvPr>
          <p:cNvSpPr>
            <a:spLocks noGrp="1"/>
          </p:cNvSpPr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B5-3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F4A3876-708E-4C7A-A8CF-402DE8DA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2715"/>
            <a:ext cx="8138160" cy="320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24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A · 요소 분석 1/2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B5-4A1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E7665F24-F230-4F5E-8AE0-B5C83A91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66DB9F96-99E3-45BD-9EB7-4996390BCF32}"/>
              </a:ext>
            </a:extLst>
          </p:cNvPr>
          <p:cNvGraphicFramePr/>
          <p:nvPr/>
        </p:nvGraphicFramePr>
        <p:xfrm>
          <a:off x="2240280" y="1143000"/>
          <a:ext cx="6391656" cy="3300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Scaffold / AppBar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현금흐름 홈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브랜드·기준 날짜 상단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P04/P08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정보부터 확인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마스코트 작게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Wrap / Card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통화별 계좌·추가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국가·통화·금액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P02/P08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계좌별 구분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 가독성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SegmentedButton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/ 전망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상태 강조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보기 빠른 전환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색+라벨 구분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Row / Container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날짜별 예시 전망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목표일까지 고정 값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 흐름 파악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예시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ListTile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등록 예정 항목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날짜·명칭·통화 금액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P06/P07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재입력 감소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출처가 보임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Text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전망 범위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포함·제외 그래프 옆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한계 먼저 이해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캐릭터는 보조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CEEB0AF6-3229-49E3-A826-AD99340B7FAC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1357598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A · 요소 분석 2/2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B5-4A2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5CCD4E8-F90F-4F9E-AEB3-9FCFD87B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44ABAC46-AE86-4EDE-89D0-63E2D1108D2A}"/>
              </a:ext>
            </a:extLst>
          </p:cNvPr>
          <p:cNvGraphicFramePr/>
          <p:nvPr/>
        </p:nvGraphicFramePr>
        <p:xfrm>
          <a:off x="2240280" y="1143000"/>
          <a:ext cx="6391656" cy="3300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Progress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요약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현재·목표·기한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계획 이유 연결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보조 카드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FilledButton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 자세히 보기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상세 이동 CTA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번에 상세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명확한 동사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TextButton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급여 지연 비교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선택적 시나리오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 미리 보기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BottomSheet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FutureBuilder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로딩·오류·빈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원인·복구 행동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재시도 버튼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NavigationBar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Wallet형 하단 메뉴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탭·중앙 +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P04/P07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익숙한 빠른 입력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통계/더보기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7ED20694-BD50-453D-9431-B9C5C864E892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7704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B · 요소 분석 1/2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B5-4B1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E9A10E7B-E540-43EC-85D2-E41980ADA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81DF9A2E-06F8-4462-81F7-E9D2BD81DEE6}"/>
              </a:ext>
            </a:extLst>
          </p:cNvPr>
          <p:cNvGraphicFramePr/>
          <p:nvPr/>
        </p:nvGraphicFramePr>
        <p:xfrm>
          <a:off x="2240280" y="1143000"/>
          <a:ext cx="6391656" cy="3300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AppBar / Back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 상세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A에서 온 맥락 유지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P03/P04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홈 복귀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일관된 제목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TabBar / TabView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7/30/목표일까지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목표일 기본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 빠른 비교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탭 강조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ListView / Card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예정 항목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날짜·분류·통화 금액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P02/P06/P07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항목을 재인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설명 축약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FilterChip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전체/수입/지출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종류만 필터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항목 훑기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단순한 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ListTile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포함/제외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항목/변동 제외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오해 예방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 가까이에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87E2E7E8-0564-4F30-9BB8-1DA1CC319F0E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2044240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B · 요소 분석 2/2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B5-4B2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C379E55-063A-4F7C-B9DA-AB0230F6D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6DA93C61-DC0C-4978-A8C7-E1C13B248300}"/>
              </a:ext>
            </a:extLst>
          </p:cNvPr>
          <p:cNvGraphicFramePr/>
          <p:nvPr/>
        </p:nvGraphicFramePr>
        <p:xfrm>
          <a:off x="2240280" y="1143000"/>
          <a:ext cx="6391656" cy="330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Text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날짜별 잔액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JSON 정적 값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일정과 잔액 연결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계산 아님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FutureBuilder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상세 GET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로딩·오류·빈 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상태 인지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오류 재시도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OutlinedButton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급여 지연 비교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목록 뒤 보조 행동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P07/P10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맥락 있는 비교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모달 재사용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NavigationBar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Wallet형 하단 메뉴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Planning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P04/P07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빠른 기록 유지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중앙 +는 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AA9D397B-6B9F-417D-A352-C9C35C40C1F2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182085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C · 요소 분석 1/1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B5-4C1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34EA3FC-C4EA-4ACE-924D-64AE70734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39385714-E38D-4C42-8483-B4029F156830}"/>
              </a:ext>
            </a:extLst>
          </p:cNvPr>
          <p:cNvGraphicFramePr/>
          <p:nvPr/>
        </p:nvGraphicFramePr>
        <p:xfrm>
          <a:off x="2240280" y="1143000"/>
          <a:ext cx="6391656" cy="3300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BottomSheet / Icon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시나리오 닫기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닫기·뒤로 가기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자유롭게 종료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닫기 위치 고정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Text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급여 7일 지연 명시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현실 상황 언어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질문 사용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Row / Card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기본/지연 비교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목표일 두 값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차이 한눈에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날짜·가정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Text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예시 결과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사전 작성 응답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P10/P08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기능 한계 이해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캐릭터는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Text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가정과 제외 항목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고정/변동 범위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P01/P05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전제 확인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조언 아님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676CCECC-4FC6-4DC4-A084-313F890B1D07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613548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C12703-F5CD-441D-8DC0-538136785F58}"/>
              </a:ext>
            </a:extLst>
          </p:cNvPr>
          <p:cNvSpPr>
            <a:spLocks noGrp="1"/>
          </p:cNvSpPr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E63E16-65D4-4203-B9CE-730B4D06ADB7}"/>
              </a:ext>
            </a:extLst>
          </p:cNvPr>
          <p:cNvSpPr>
            <a:spLocks noGrp="1"/>
          </p:cNvSpPr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· 화면 기획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4A3A1D-6C75-4C6C-8E07-364676F295A4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B5-4 — 화면별 요소 분석표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1AAA1-59EF-4D6F-B549-4B5325904C69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화면 D · 요소 분석 1/1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F2A50A9-9AA5-4E2A-B213-F64E24FC0DAA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중간고사 발표 양식 v1.0.0 · 기준: 중간고사_안내.md · 안내문 4장 5단계 · 7장 기획 "요소 분석 · 기준 · 가이드 글 8"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2F487B0-968F-4F09-97E0-B0E1D650A82E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411480" cy="1047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0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B5-4D1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A21E0893-B392-4CD9-AB77-7C0BFE308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" y="1188720"/>
            <a:ext cx="1501892" cy="3255264"/>
          </a:xfrm>
          <a:prstGeom prst="rect">
            <a:avLst/>
          </a:prstGeom>
        </p:spPr>
      </p:pic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4E807ECF-06A9-4691-A2D1-61D2A1D23868}"/>
              </a:ext>
            </a:extLst>
          </p:cNvPr>
          <p:cNvGraphicFramePr/>
          <p:nvPr/>
        </p:nvGraphicFramePr>
        <p:xfrm>
          <a:off x="2240280" y="1143000"/>
          <a:ext cx="6391656" cy="3300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Flutter 위젯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비즈니스 명칭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전달 기준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편의성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86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가이드 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SegmentedButton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지출/수입/이체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종류 하나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맥락 설정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강조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TextField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숫자 키보드·통화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입력 먼저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저장 안 함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ChoiceChip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거래 통화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 통화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P02/P06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 인지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 코드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ChoiceChip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거래별 예시 분류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짧게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상태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D-5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Card / ListTile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 선택값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기록일 확인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가짜 날짜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Button / SnackBar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예시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미저장 안내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P01/P10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피드백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919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 로직 없음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A035A3C9-A079-4E09-A6D6-2CEA5A054617}"/>
              </a:ext>
            </a:extLst>
          </p:cNvPr>
          <p:cNvSpPr>
            <a:spLocks noGrp="1"/>
          </p:cNvSpPr>
          <p:nvPr/>
        </p:nvSpPr>
        <p:spPr>
          <a:xfrm>
            <a:off x="2240280" y="4562856"/>
            <a:ext cx="6373368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전체 명칭·STATE·설계 의도는 docs/디자인가이드.md와 코드의 요소 주석에서 추적한다.</a:t>
            </a:r>
          </a:p>
        </p:txBody>
      </p:sp>
    </p:spTree>
    <p:extLst>
      <p:ext uri="{BB962C8B-B14F-4D97-AF65-F5344CB8AC3E}">
        <p14:creationId xmlns:p14="http://schemas.microsoft.com/office/powerpoint/2010/main" val="1215815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7CD4A-B0A3-456B-8B37-88DF22740E9B}"/>
              </a:ext>
            </a:extLst>
          </p:cNvPr>
          <p:cNvSpPr>
            <a:spLocks noGrp="1"/>
          </p:cNvSpPr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2E332C"/>
          </a:solidFill>
        </p:spPr>
        <p:txBody>
          <a:bodyPr wrap="square" anchor="ctr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>
              <a:buNone/>
            </a:pP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EBEE1A-7780-42E0-9069-E8805CD31700}"/>
              </a:ext>
            </a:extLst>
          </p:cNvPr>
          <p:cNvSpPr>
            <a:spLocks noGrp="1"/>
          </p:cNvSpPr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부록 B5-5 · 기획 상세</a:t>
            </a:r>
            <a:endParaRPr sz="85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56C8E5-7530-4D25-A804-3099BC3F6FFE}"/>
              </a:ext>
            </a:extLst>
          </p:cNvPr>
          <p:cNvSpPr>
            <a:spLocks noGrp="1"/>
          </p:cNvSpPr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spcAft>
                <a:spcPts val="500"/>
              </a:spcAft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5C7457"/>
                </a:solidFill>
                <a:latin typeface="Noto Sans KR"/>
                <a:ea typeface="Noto Sans KR"/>
                <a:cs typeface="Noto Sans KR"/>
              </a:rPr>
              <a:t>APPENDIX B5-5 — STATE 포인트</a:t>
            </a:r>
            <a:endParaRPr sz="9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B7B85C-E4A6-4092-9798-F87F8CF2DB54}"/>
              </a:ext>
            </a:extLst>
          </p:cNvPr>
          <p:cNvSpPr>
            <a:spLocks noGrp="1"/>
          </p:cNvSpPr>
          <p:nvPr/>
        </p:nvSpPr>
        <p:spPr>
          <a:xfrm>
            <a:off x="507950" y="536377"/>
            <a:ext cx="8290661" cy="438912"/>
          </a:xfrm>
          <a:prstGeom prst="rect">
            <a:avLst/>
          </a:prstGeom>
          <a:noFill/>
        </p:spPr>
        <p:txBody>
          <a:bodyPr wrap="square" lIns="0" tIns="0" rIns="1498597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erif KR"/>
                <a:ea typeface="Noto Serif KR"/>
                <a:cs typeface="Noto Serif KR"/>
              </a:defRPr>
            </a:lvl1pPr>
            <a:lvl2pPr>
              <a:buNone/>
              <a:defRPr>
                <a:latin typeface="Noto Serif KR"/>
                <a:ea typeface="Noto Serif KR"/>
                <a:cs typeface="Noto Serif KR"/>
              </a:defRPr>
            </a:lvl2pPr>
            <a:lvl3pPr>
              <a:buNone/>
              <a:defRPr>
                <a:latin typeface="Noto Serif KR"/>
                <a:ea typeface="Noto Serif KR"/>
                <a:cs typeface="Noto Serif KR"/>
              </a:defRPr>
            </a:lvl3pPr>
            <a:lvl4pPr>
              <a:buNone/>
              <a:defRPr>
                <a:latin typeface="Noto Serif KR"/>
                <a:ea typeface="Noto Serif KR"/>
                <a:cs typeface="Noto Serif KR"/>
              </a:defRPr>
            </a:lvl4pPr>
            <a:lvl5pPr>
              <a:buNone/>
              <a:defRPr>
                <a:latin typeface="Noto Serif KR"/>
                <a:ea typeface="Noto Serif KR"/>
                <a:cs typeface="Noto Serif KR"/>
              </a:defRPr>
            </a:lvl5pPr>
            <a:lvl6pPr>
              <a:buNone/>
              <a:defRPr>
                <a:latin typeface="Noto Serif KR"/>
                <a:ea typeface="Noto Serif KR"/>
                <a:cs typeface="Noto Serif KR"/>
              </a:defRPr>
            </a:lvl6pPr>
            <a:lvl7pPr>
              <a:buNone/>
              <a:defRPr>
                <a:latin typeface="Noto Serif KR"/>
                <a:ea typeface="Noto Serif KR"/>
                <a:cs typeface="Noto Serif KR"/>
              </a:defRPr>
            </a:lvl7pPr>
            <a:lvl8pPr>
              <a:buNone/>
              <a:defRPr>
                <a:latin typeface="Noto Serif KR"/>
                <a:ea typeface="Noto Serif KR"/>
                <a:cs typeface="Noto Serif KR"/>
              </a:defRPr>
            </a:lvl8pPr>
            <a:lvl9pPr>
              <a:buNone/>
              <a:defRPr>
                <a:latin typeface="Noto Serif KR"/>
                <a:ea typeface="Noto Serif KR"/>
                <a:cs typeface="Noto Serif KR"/>
              </a:defRPr>
            </a:lvl9pPr>
          </a:lstStyle>
          <a:p>
            <a:pPr marL="0" indent="0" algn="l">
              <a:lnSpc>
                <a:spcPts val="247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>
                <a:solidFill>
                  <a:srgbClr val="2E332C"/>
                </a:solidFill>
                <a:latin typeface="Noto Sans KR"/>
                <a:ea typeface="Noto Sans KR"/>
                <a:cs typeface="Noto Sans KR"/>
              </a:rPr>
              <a:t>어떤 데이터가 어느 위젯의 표시를 바꾸는가</a:t>
            </a:r>
            <a:endParaRPr sz="1900"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A6B5BA2-8262-45F3-ACC7-766EC57C65EE}"/>
              </a:ext>
            </a:extLst>
          </p:cNvPr>
          <p:cNvSpPr>
            <a:spLocks noGrp="1"/>
          </p:cNvSpPr>
          <p:nvPr/>
        </p:nvSpPr>
        <p:spPr>
          <a:xfrm>
            <a:off x="507950" y="4810125"/>
            <a:ext cx="5053123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GAI3008-01 · 중간고사 · B5-5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7A7C7EF5-2722-4D20-8ED4-30F99D0E454F}"/>
              </a:ext>
            </a:extLst>
          </p:cNvPr>
          <p:cNvSpPr>
            <a:spLocks noGrp="1"/>
          </p:cNvSpPr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</p:spPr>
        <p:txBody>
          <a:bodyPr wrap="none" lIns="0" tIns="0" rIns="0" bIns="0" anchor="t"/>
          <a:lstStyle>
            <a:defPPr>
              <a:defRPr>
                <a:latin typeface="Noto Sans KR"/>
                <a:ea typeface="Noto Sans KR"/>
                <a:cs typeface="Noto Sans KR"/>
              </a:defRPr>
            </a:defPPr>
            <a:lvl1pPr>
              <a:buNone/>
              <a:defRPr>
                <a:latin typeface="Noto Sans KR"/>
                <a:ea typeface="Noto Sans KR"/>
                <a:cs typeface="Noto Sans KR"/>
              </a:defRPr>
            </a:lvl1pPr>
            <a:lvl2pPr>
              <a:buNone/>
              <a:defRPr>
                <a:latin typeface="Noto Sans KR"/>
                <a:ea typeface="Noto Sans KR"/>
                <a:cs typeface="Noto Sans KR"/>
              </a:defRPr>
            </a:lvl2pPr>
            <a:lvl3pPr>
              <a:buNone/>
              <a:defRPr>
                <a:latin typeface="Noto Sans KR"/>
                <a:ea typeface="Noto Sans KR"/>
                <a:cs typeface="Noto Sans KR"/>
              </a:defRPr>
            </a:lvl3pPr>
            <a:lvl4pPr>
              <a:buNone/>
              <a:defRPr>
                <a:latin typeface="Noto Sans KR"/>
                <a:ea typeface="Noto Sans KR"/>
                <a:cs typeface="Noto Sans KR"/>
              </a:defRPr>
            </a:lvl4pPr>
            <a:lvl5pPr>
              <a:buNone/>
              <a:defRPr>
                <a:latin typeface="Noto Sans KR"/>
                <a:ea typeface="Noto Sans KR"/>
                <a:cs typeface="Noto Sans KR"/>
              </a:defRPr>
            </a:lvl5pPr>
            <a:lvl6pPr>
              <a:buNone/>
              <a:defRPr>
                <a:latin typeface="Noto Sans KR"/>
                <a:ea typeface="Noto Sans KR"/>
                <a:cs typeface="Noto Sans KR"/>
              </a:defRPr>
            </a:lvl6pPr>
            <a:lvl7pPr>
              <a:buNone/>
              <a:defRPr>
                <a:latin typeface="Noto Sans KR"/>
                <a:ea typeface="Noto Sans KR"/>
                <a:cs typeface="Noto Sans KR"/>
              </a:defRPr>
            </a:lvl7pPr>
            <a:lvl8pPr>
              <a:buNone/>
              <a:defRPr>
                <a:latin typeface="Noto Sans KR"/>
                <a:ea typeface="Noto Sans KR"/>
                <a:cs typeface="Noto Sans KR"/>
              </a:defRPr>
            </a:lvl8pPr>
            <a:lvl9pPr>
              <a:buNone/>
              <a:defRPr>
                <a:latin typeface="Noto Sans KR"/>
                <a:ea typeface="Noto Sans KR"/>
                <a:cs typeface="Noto Sans KR"/>
              </a:defRPr>
            </a:lvl9pPr>
          </a:lstStyle>
          <a:p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680">
                <a:solidFill>
                  <a:srgbClr val="939A8D"/>
                </a:solidFill>
                <a:latin typeface="Noto Sans KR"/>
                <a:ea typeface="Noto Sans KR"/>
                <a:cs typeface="Noto Sans KR"/>
              </a:rPr>
              <a:t>B5-5</a:t>
            </a:r>
            <a:endParaRPr sz="680"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495BF440-F31D-467B-AA1A-47DE4256F41C}"/>
              </a:ext>
            </a:extLst>
          </p:cNvPr>
          <p:cNvGraphicFramePr/>
          <p:nvPr/>
        </p:nvGraphicFramePr>
        <p:xfrm>
          <a:off x="502920" y="1143000"/>
          <a:ext cx="8138160" cy="3410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요소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바뀌는 데이터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보여 주는 위치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2E33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A-3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실제/전망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모드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A-3 선택·A-4 제목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setState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B-2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7/30/목표일 기간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 탭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B-2/B-3/B-6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탭 표시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전체/수입/지출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필터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B-3 목록·B-4 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setState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C-1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시나리오 표시 여부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비교/닫기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BottomSheet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응답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D-1/3/4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거래·계좌·분류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칩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 입력 폼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setState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A-10/B-7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 4상태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요청·응답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로딩/오류/빈/목록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FutureBuilder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A-11/B-9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8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화면 경로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하단 메뉴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NavigationBar 선택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2E33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Navigator</a:t>
                      </a:r>
                    </a:p>
                  </a:txBody>
                  <a:tcPr marL="50292" marR="50292" marT="41148" marB="22860">
                    <a:lnL w="9144">
                      <a:solidFill>
                        <a:srgbClr val="D4D9D1"/>
                      </a:solidFill>
                    </a:lnL>
                    <a:lnR w="9144">
                      <a:solidFill>
                        <a:srgbClr val="D4D9D1"/>
                      </a:solidFill>
                    </a:lnR>
                    <a:lnT w="9144">
                      <a:solidFill>
                        <a:srgbClr val="D4D9D1"/>
                      </a:solidFill>
                    </a:lnT>
                    <a:lnB w="9144">
                      <a:solidFill>
                        <a:srgbClr val="D4D9D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C5A6FE2E-702C-47DE-963B-27061C58A972}"/>
              </a:ext>
            </a:extLst>
          </p:cNvPr>
          <p:cNvSpPr>
            <a:spLocks noGrp="1"/>
          </p:cNvSpPr>
          <p:nvPr/>
        </p:nvSpPr>
        <p:spPr>
          <a:xfrm>
            <a:off x="502920" y="4581144"/>
            <a:ext cx="813816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606957"/>
                </a:solidFill>
                <a:latin typeface="Noto Sans KR"/>
                <a:ea typeface="Noto Sans KR"/>
                <a:cs typeface="Noto Sans KR"/>
              </a:rPr>
              <a:t>STATE는 주석으로 설계 지점을 표시한다. 화면 선택은 setState만 사용하며 Provider/Riverpod/Bloc·영구 저장·금융 계산은 없다.</a:t>
            </a:r>
          </a:p>
        </p:txBody>
      </p:sp>
    </p:spTree>
    <p:extLst>
      <p:ext uri="{BB962C8B-B14F-4D97-AF65-F5344CB8AC3E}">
        <p14:creationId xmlns:p14="http://schemas.microsoft.com/office/powerpoint/2010/main" val="51115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7318</Words>
  <Application>Microsoft Office PowerPoint</Application>
  <DocSecurity>0</DocSecurity>
  <PresentationFormat>Trình chiếu Trên màn hình (16:9)</PresentationFormat>
  <Paragraphs>1041</Paragraphs>
  <Slides>31</Slides>
  <Notes>31</Notes>
  <HiddenSlides>0</HiddenSlides>
  <MMClips>1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31</vt:i4>
      </vt:variant>
    </vt:vector>
  </HeadingPairs>
  <TitlesOfParts>
    <vt:vector size="35" baseType="lpstr">
      <vt:lpstr>Noto Sans KR</vt:lpstr>
      <vt:lpstr>Noto Serif KR</vt:lpstr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thanh dvu</cp:lastModifiedBy>
  <cp:revision>2</cp:revision>
  <dcterms:created xsi:type="dcterms:W3CDTF">2026-10-29T04:48:10Z</dcterms:created>
  <dcterms:modified xsi:type="dcterms:W3CDTF">2026-10-29T04:56:24Z</dcterms:modified>
</cp:coreProperties>
</file>